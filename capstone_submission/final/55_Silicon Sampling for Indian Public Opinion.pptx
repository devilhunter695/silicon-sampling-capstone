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71" r:id="rId2"/>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13"/>
  </p:sldIdLst>
  <p:sldSz cx="9144000" cy="6858000" type="screen4x3"/>
  <p:notesSz cx="6858000" cy="9144000"/>
  <p:embeddedFontLst>
    <p:embeddedFont>
      <p:font typeface="Book Antiqua" panose="02040602050305030304" pitchFamily="18"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gLcInLSkLHuHqSc+ZqvHXDxAk9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E6EBC1-FBDA-053C-4FEE-AC29C1F722D2}" v="42" dt="2025-02-25T10:52:12.0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280" y="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13" Type="http://schemas.openxmlformats.org/officeDocument/2006/relationships/slide" Target="slides/slide16.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customschemas.google.com/relationships/presentationmetadata" Target="meta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1: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r>
              <a:t>(30 s) Introduce the group, the mentor and the project. One sentence on what silicon sampling is: using a language model as a stand-in survey respondent.</a:t>
            </a:r>
          </a:p>
        </p:txBody>
      </p:sp>
      <p:sp>
        <p:nvSpPr>
          <p:cNvPr id="77" name="Google Shape;7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4319762"/>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 min) Silicon sampling gives an LLM a demographic profile and treats its answer as that person's survey answer. If it worked it would cut cost and time. The danger is that a good average can hide poor performance for specific groups, which matters in a country as diverse as India. Our question is what the profile actually contributes, not just the headline accuracy.</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 min) Argyle 2023 introduced algorithmic fidelity on US data. Santurkar 2023 found misalignment with many groups. Chen 2026 and Miranda 2025 show models match or trail baselines trained on the same demographics and inflate group gaps. Hu and Collier 2024 show persona variables explain under ten percent of variance. Suh 2025 and Cao 2025 fine-tune on survey data. Recent 2026 papers find weak individual-level recovery. The gap: India, what the profile contributes, and held-out-item transfer.</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(45 s) Four research questions. RQ1 asks how a prompted model uses the profile. RQ2 asks what fine-tuning changes compared with zero-shot and matched classifiers. RQ3 asks whether the adaptation transfers. RQ4 asks about scale and data. Scope: two public surveys, one open 7B model fine-tuned, free-tier API models as controls.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 min) Pew Religion in India: 29,999 face-to-face interviews, 2019 to 2020; 73 items passed screening and we use the first eight for fine-tuning and held out items 9 to 16 for transfer. WVS-7 India: 1,692 respondents, 373 candidate items screened to 144 by a codebook-driven pipeline. Five-fold respondent-level splits, fold 0 used here: 23,999 train and 6,000 test respondents. WVS microdata are not redistributed.</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(1.5 min) This is the complete system. Both surveys are verbalised into the same prompt from codebook labels, so no hand-typed text. The prompt goes to four kinds of predictors: the zero-shot model, the QLoRA fine-tuned model, larger zero-shot models, and matched classical baselines. The readout is the next-token distribution over the option digits, so we get probabilities, not just a label. Diagnostics and tests sit on top: accuracy, negative log-likelihood, calibration, variance share, directional validity, Jensen-Shannon divergence, subgroup gaps with Holm correction, held-out-item transfer, and compute.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(1.5 min) On the left, the exact prompt format: a profile built from codebook labels, the question, numbered options, and an instruction to answer with a single digit. That wording cut refusals from thirteen percent to zero. On the right, the stack: Python, pandas and scikit-learn for baselines, Hugging Face and PEFT with bitsandbytes for QLoRA, MLX on an Apple M1 for local runs, Kaggle T4 GPUs for full-fold scoring, and free-tier APIs for controls. Every call is cached, so runs are resumable.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(1.5 min, live or recorded) This is one randomly chosen test row, not a cherry-picked one: respondent 27684, question on politicians' influence in religious matters. The true answer is option 1, a large influence. The zero-shot model is confidently wrong: it puts 77 percent on option 3. The fine-tuned model spreads its probability and its top choice is option 2, also wrong, but its distribution is far more reasonable. Gradient boosting gets it right at 49 percent. The point: look at the probabilities, not only the label.</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(1.5 min) On a 200-respondent subset, zero-shot Qwen scores 17.5 percent, below the 30.2 percent majority class and at chance. Removing the profile raises accuracy to 21.1 percent, so the profile changes accuracy by minus 3.6 points. Yet the profile explains 29 percent of the model's prediction variance against 4 percent for real answers: the model reacts strongly but in the wrong directions. On the full fold of 6,000 respondents it scores 16.1 and 18.0 percent, so this is not a sampling artefact. A label-free prior correction recovers about two thirds of the distance to the majority class.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(1.5 min) QLoRA fine-tuning of Qwen2.5-7B on 184,853 examples took 6.6 GPU-hours. Scored on the full fold in the training format, it reaches 38.0 percent: 7.6 points above the majority class, half a point below logistic regression and 2.1 below gradient boosting, closing 79 percent of the gap. It is well calibrated, with expected calibration error 0.009. One earlier worry, an apparent collapse on one item, turned out to be a decoding artefact of the original run, not of the adapter.</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(1.5 min) Directional validity asks whether the model gets the direction and size of between-group differences right. Zero-shot has r of 0.22 and a slope of 0.18: nearly flat. Fine-tuned reaches 0.58 on the subset and 0.82 on the full fold, with GBM at 0.64 and 0.91. Subgroup gaps: religion 10 points, region 8.8, age 2.7, income 1.7, urban rural 1.3, all significant after Holm correction. On probability distributions, the fine-tuned model is about two to three times further from the truth than classifiers but more than ten times closer than zero-shot.</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(1.5 min) The transfer test applies the adapter to eight Pew items it never saw. With our approximate MLX port the adapter scores 28.9 percent against 28.5 percent for its base: no detectable gain. The in-domain gain is 13.7 points larger over respondents, but across items the difference has a standard error of 10.2 and a permutation p of 0.18, so we do not claim it is reliable. Scale: gpt-oss-120b scores 27.6 percent, at the majority class, not beyond. Data: logistic regression needs about 400 labelled respondents, GBM about 1,600, to clear the majority class.</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 min) We measured the cost. Scoring one condition on the full fold, 46,209 rows, took about 75 minutes on two T4 GPUs, roughly 0.2 seconds per row. The lab fine-tuning run took 396.7 minutes. Cost is linear in respondent-item rows: scoring all 29,999 respondents on all 73 items is about 2.2 million rows, roughly 116 T4-hours at our measured rate, an extrapolation. Fine-tuning on all items would take about 63 hours at the lab GPU's rate. A classifier trains in seconds and predicts in microseconds.</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 min) The first phase used free-tier APIs on WVS-7 India. Accuracy stays in a 22 to 26 percent band, below or at the majority class on the same rows, and group differences carry no directional signal. We also found and fixed real bugs: region labels in the prompt were wrong on every code until verified against the official annex, which moved subgroup gaps by several points. Caching had treated transient failures as final. A decoding artefact also explained an apparent collapse in the original fine-tuning run. Verification mattered more than speed.</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 min) We are honest about limits: one fold, one seed, one epoch; the transfer test uses an approximate port and only eight items; zero-shot controls on subsets; no frontier models; survey weights not applied. Future work: fine-tune on many items and test transfer on dozens of unseen items with an item-level bootstrap using the original adapter, repeat across folds and seeds, test richer personas and calibrated aggregate estimates, and measure the cost side including smaller and distilled models.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(1 min) Take-home: a prompted 7B model varies strongly with a profile but uses it weakly and slightly harmfully; fine-tuning on respondent-level data recovers most of the gap to classifiers on trained questions and shows no detectable gain on new ones; matched classifiers remain the benchmark and are far cheaper. The paper from this work was accepted at the Hinweis Fifth International Conference on AI and Data Science, AIDE-2026, paper ID 591, accepted with modification and revised for camera-ready. Invite questions.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685800" y="2130425"/>
            <a:ext cx="7772400" cy="14700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 name="Google Shape;17;p19"/>
          <p:cNvSpPr txBox="1">
            <a:spLocks noGrp="1"/>
          </p:cNvSpPr>
          <p:nvPr>
            <p:ph type="subTitle" idx="1"/>
          </p:nvPr>
        </p:nvSpPr>
        <p:spPr>
          <a:xfrm>
            <a:off x="1371600" y="3886200"/>
            <a:ext cx="6400800" cy="17526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480"/>
              </a:spcBef>
              <a:spcAft>
                <a:spcPts val="0"/>
              </a:spcAft>
              <a:buClr>
                <a:srgbClr val="888888"/>
              </a:buClr>
              <a:buSzPts val="2400"/>
              <a:buFont typeface="Noto Sans Symbols"/>
              <a:buNone/>
              <a:defRPr sz="2400" b="0" i="0" u="none" strike="noStrike" cap="none">
                <a:solidFill>
                  <a:srgbClr val="888888"/>
                </a:solidFill>
                <a:latin typeface="Calibri"/>
                <a:ea typeface="Calibri"/>
                <a:cs typeface="Calibri"/>
                <a:sym typeface="Calibri"/>
              </a:defRPr>
            </a:lvl1pPr>
            <a:lvl2pPr marR="0" lvl="1" algn="ctr">
              <a:lnSpc>
                <a:spcPct val="100000"/>
              </a:lnSpc>
              <a:spcBef>
                <a:spcPts val="400"/>
              </a:spcBef>
              <a:spcAft>
                <a:spcPts val="0"/>
              </a:spcAft>
              <a:buClr>
                <a:srgbClr val="888888"/>
              </a:buClr>
              <a:buSzPts val="2000"/>
              <a:buFont typeface="Noto Sans Symbols"/>
              <a:buNone/>
              <a:defRPr sz="2000" b="0" i="0" u="none" strike="noStrike" cap="none">
                <a:solidFill>
                  <a:srgbClr val="888888"/>
                </a:solidFill>
                <a:latin typeface="Calibri"/>
                <a:ea typeface="Calibri"/>
                <a:cs typeface="Calibri"/>
                <a:sym typeface="Calibri"/>
              </a:defRPr>
            </a:lvl2pPr>
            <a:lvl3pPr marR="0" lvl="2" algn="ctr">
              <a:lnSpc>
                <a:spcPct val="100000"/>
              </a:lnSpc>
              <a:spcBef>
                <a:spcPts val="360"/>
              </a:spcBef>
              <a:spcAft>
                <a:spcPts val="0"/>
              </a:spcAft>
              <a:buClr>
                <a:srgbClr val="888888"/>
              </a:buClr>
              <a:buSzPts val="1800"/>
              <a:buFont typeface="Noto Sans Symbols"/>
              <a:buNone/>
              <a:defRPr sz="1800" b="0" i="0" u="none" strike="noStrike" cap="none">
                <a:solidFill>
                  <a:srgbClr val="888888"/>
                </a:solidFill>
                <a:latin typeface="Calibri"/>
                <a:ea typeface="Calibri"/>
                <a:cs typeface="Calibri"/>
                <a:sym typeface="Calibri"/>
              </a:defRPr>
            </a:lvl3pPr>
            <a:lvl4pPr marR="0" lvl="3" algn="ctr">
              <a:lnSpc>
                <a:spcPct val="100000"/>
              </a:lnSpc>
              <a:spcBef>
                <a:spcPts val="320"/>
              </a:spcBef>
              <a:spcAft>
                <a:spcPts val="0"/>
              </a:spcAft>
              <a:buClr>
                <a:srgbClr val="888888"/>
              </a:buClr>
              <a:buSzPts val="1600"/>
              <a:buFont typeface="Noto Sans Symbols"/>
              <a:buNone/>
              <a:defRPr sz="1600" b="0" i="0" u="none" strike="noStrike" cap="none">
                <a:solidFill>
                  <a:srgbClr val="888888"/>
                </a:solidFill>
                <a:latin typeface="Calibri"/>
                <a:ea typeface="Calibri"/>
                <a:cs typeface="Calibri"/>
                <a:sym typeface="Calibri"/>
              </a:defRPr>
            </a:lvl4pPr>
            <a:lvl5pPr marR="0" lvl="4" algn="ctr">
              <a:lnSpc>
                <a:spcPct val="100000"/>
              </a:lnSpc>
              <a:spcBef>
                <a:spcPts val="320"/>
              </a:spcBef>
              <a:spcAft>
                <a:spcPts val="0"/>
              </a:spcAft>
              <a:buClr>
                <a:srgbClr val="888888"/>
              </a:buClr>
              <a:buSzPts val="1600"/>
              <a:buFont typeface="Noto Sans Symbols"/>
              <a:buNone/>
              <a:defRPr sz="1600" b="0" i="0" u="none" strike="noStrike" cap="none">
                <a:solidFill>
                  <a:srgbClr val="888888"/>
                </a:solidFill>
                <a:latin typeface="Calibri"/>
                <a:ea typeface="Calibri"/>
                <a:cs typeface="Calibri"/>
                <a:sym typeface="Calibri"/>
              </a:defRPr>
            </a:lvl5pPr>
            <a:lvl6pPr marR="0" lvl="5"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8" name="Google Shape;18;p19"/>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9"/>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19"/>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722313" y="4406900"/>
            <a:ext cx="7772400" cy="1362075"/>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 name="Google Shape;29;p21"/>
          <p:cNvSpPr txBox="1">
            <a:spLocks noGrp="1"/>
          </p:cNvSpPr>
          <p:nvPr>
            <p:ph type="body" idx="1"/>
          </p:nvPr>
        </p:nvSpPr>
        <p:spPr>
          <a:xfrm>
            <a:off x="722313" y="2906713"/>
            <a:ext cx="7772400" cy="1500187"/>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00"/>
              </a:spcBef>
              <a:spcAft>
                <a:spcPts val="0"/>
              </a:spcAft>
              <a:buClr>
                <a:srgbClr val="888888"/>
              </a:buClr>
              <a:buSzPts val="2000"/>
              <a:buFont typeface="Noto Sans Symbols"/>
              <a:buNone/>
              <a:defRPr sz="2000" b="0" i="0" u="none" strike="noStrike" cap="none">
                <a:solidFill>
                  <a:srgbClr val="888888"/>
                </a:solidFill>
                <a:latin typeface="Calibri"/>
                <a:ea typeface="Calibri"/>
                <a:cs typeface="Calibri"/>
                <a:sym typeface="Calibri"/>
              </a:defRPr>
            </a:lvl1pPr>
            <a:lvl2pPr marL="914400" marR="0" lvl="1" indent="-228600" algn="l">
              <a:lnSpc>
                <a:spcPct val="100000"/>
              </a:lnSpc>
              <a:spcBef>
                <a:spcPts val="360"/>
              </a:spcBef>
              <a:spcAft>
                <a:spcPts val="0"/>
              </a:spcAft>
              <a:buClr>
                <a:srgbClr val="888888"/>
              </a:buClr>
              <a:buSzPts val="1800"/>
              <a:buFont typeface="Noto Sans Symbols"/>
              <a:buNone/>
              <a:defRPr sz="1800" b="0" i="0" u="none" strike="noStrike" cap="none">
                <a:solidFill>
                  <a:srgbClr val="888888"/>
                </a:solidFill>
                <a:latin typeface="Calibri"/>
                <a:ea typeface="Calibri"/>
                <a:cs typeface="Calibri"/>
                <a:sym typeface="Calibri"/>
              </a:defRPr>
            </a:lvl2pPr>
            <a:lvl3pPr marL="1371600" marR="0" lvl="2" indent="-228600" algn="l">
              <a:lnSpc>
                <a:spcPct val="100000"/>
              </a:lnSpc>
              <a:spcBef>
                <a:spcPts val="320"/>
              </a:spcBef>
              <a:spcAft>
                <a:spcPts val="0"/>
              </a:spcAft>
              <a:buClr>
                <a:srgbClr val="888888"/>
              </a:buClr>
              <a:buSzPts val="1600"/>
              <a:buFont typeface="Noto Sans Symbols"/>
              <a:buNone/>
              <a:defRPr sz="1600" b="0" i="0" u="none" strike="noStrike" cap="none">
                <a:solidFill>
                  <a:srgbClr val="888888"/>
                </a:solidFill>
                <a:latin typeface="Calibri"/>
                <a:ea typeface="Calibri"/>
                <a:cs typeface="Calibri"/>
                <a:sym typeface="Calibri"/>
              </a:defRPr>
            </a:lvl3pPr>
            <a:lvl4pPr marL="1828800" marR="0" lvl="3" indent="-228600" algn="l">
              <a:lnSpc>
                <a:spcPct val="100000"/>
              </a:lnSpc>
              <a:spcBef>
                <a:spcPts val="280"/>
              </a:spcBef>
              <a:spcAft>
                <a:spcPts val="0"/>
              </a:spcAft>
              <a:buClr>
                <a:srgbClr val="888888"/>
              </a:buClr>
              <a:buSzPts val="1400"/>
              <a:buFont typeface="Noto Sans Symbols"/>
              <a:buNone/>
              <a:defRPr sz="1400" b="0" i="0" u="none" strike="noStrike" cap="none">
                <a:solidFill>
                  <a:srgbClr val="888888"/>
                </a:solidFill>
                <a:latin typeface="Calibri"/>
                <a:ea typeface="Calibri"/>
                <a:cs typeface="Calibri"/>
                <a:sym typeface="Calibri"/>
              </a:defRPr>
            </a:lvl4pPr>
            <a:lvl5pPr marL="2286000" marR="0" lvl="4" indent="-228600" algn="l">
              <a:lnSpc>
                <a:spcPct val="100000"/>
              </a:lnSpc>
              <a:spcBef>
                <a:spcPts val="280"/>
              </a:spcBef>
              <a:spcAft>
                <a:spcPts val="0"/>
              </a:spcAft>
              <a:buClr>
                <a:srgbClr val="888888"/>
              </a:buClr>
              <a:buSzPts val="1400"/>
              <a:buFont typeface="Noto Sans Symbols"/>
              <a:buNone/>
              <a:defRPr sz="1400" b="0" i="0" u="none" strike="noStrike" cap="none">
                <a:solidFill>
                  <a:srgbClr val="888888"/>
                </a:solidFill>
                <a:latin typeface="Calibri"/>
                <a:ea typeface="Calibri"/>
                <a:cs typeface="Calibri"/>
                <a:sym typeface="Calibri"/>
              </a:defRPr>
            </a:lvl5pPr>
            <a:lvl6pPr marL="2743200" marR="0" lvl="5"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0" name="Google Shape;30;p21"/>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21"/>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2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5" name="Google Shape;35;p22"/>
          <p:cNvSpPr txBox="1">
            <a:spLocks noGrp="1"/>
          </p:cNvSpPr>
          <p:nvPr>
            <p:ph type="body" idx="1"/>
          </p:nvPr>
        </p:nvSpPr>
        <p:spPr>
          <a:xfrm>
            <a:off x="457200" y="1600200"/>
            <a:ext cx="4038600" cy="4525963"/>
          </a:xfrm>
          <a:prstGeom prst="rect">
            <a:avLst/>
          </a:prstGeom>
          <a:noFill/>
          <a:ln>
            <a:noFill/>
          </a:ln>
        </p:spPr>
        <p:txBody>
          <a:bodyPr spcFirstLastPara="1" wrap="square" lIns="91425" tIns="91425" rIns="91425" bIns="91425" anchor="t" anchorCtr="0">
            <a:noAutofit/>
          </a:bodyPr>
          <a:lstStyle>
            <a:lvl1pPr marL="457200" marR="0" lvl="0" indent="-406400" algn="l">
              <a:lnSpc>
                <a:spcPct val="100000"/>
              </a:lnSpc>
              <a:spcBef>
                <a:spcPts val="560"/>
              </a:spcBef>
              <a:spcAft>
                <a:spcPts val="0"/>
              </a:spcAft>
              <a:buClr>
                <a:schemeClr val="dk1"/>
              </a:buClr>
              <a:buSzPts val="2800"/>
              <a:buFont typeface="Noto Sans Symbols"/>
              <a:buChar char="❑"/>
              <a:defRPr sz="2800" b="0" i="0" u="none" strike="noStrike" cap="none">
                <a:solidFill>
                  <a:schemeClr val="dk1"/>
                </a:solidFill>
                <a:latin typeface="Calibri"/>
                <a:ea typeface="Calibri"/>
                <a:cs typeface="Calibri"/>
                <a:sym typeface="Calibri"/>
              </a:defRPr>
            </a:lvl1pPr>
            <a:lvl2pPr marL="914400" marR="0" lvl="1"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2pPr>
            <a:lvl3pPr marL="1371600" marR="0" lvl="2"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4pPr>
            <a:lvl5pPr marL="2286000" marR="0" lvl="4"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22"/>
          <p:cNvSpPr txBox="1">
            <a:spLocks noGrp="1"/>
          </p:cNvSpPr>
          <p:nvPr>
            <p:ph type="body" idx="2"/>
          </p:nvPr>
        </p:nvSpPr>
        <p:spPr>
          <a:xfrm>
            <a:off x="4648200" y="1600200"/>
            <a:ext cx="4038600" cy="4525963"/>
          </a:xfrm>
          <a:prstGeom prst="rect">
            <a:avLst/>
          </a:prstGeom>
          <a:noFill/>
          <a:ln>
            <a:noFill/>
          </a:ln>
        </p:spPr>
        <p:txBody>
          <a:bodyPr spcFirstLastPara="1" wrap="square" lIns="91425" tIns="91425" rIns="91425" bIns="91425" anchor="t" anchorCtr="0">
            <a:noAutofit/>
          </a:bodyPr>
          <a:lstStyle>
            <a:lvl1pPr marL="457200" marR="0" lvl="0" indent="-406400" algn="l">
              <a:lnSpc>
                <a:spcPct val="100000"/>
              </a:lnSpc>
              <a:spcBef>
                <a:spcPts val="560"/>
              </a:spcBef>
              <a:spcAft>
                <a:spcPts val="0"/>
              </a:spcAft>
              <a:buClr>
                <a:schemeClr val="dk1"/>
              </a:buClr>
              <a:buSzPts val="2800"/>
              <a:buFont typeface="Noto Sans Symbols"/>
              <a:buChar char="❑"/>
              <a:defRPr sz="2800" b="0" i="0" u="none" strike="noStrike" cap="none">
                <a:solidFill>
                  <a:schemeClr val="dk1"/>
                </a:solidFill>
                <a:latin typeface="Calibri"/>
                <a:ea typeface="Calibri"/>
                <a:cs typeface="Calibri"/>
                <a:sym typeface="Calibri"/>
              </a:defRPr>
            </a:lvl1pPr>
            <a:lvl2pPr marL="914400" marR="0" lvl="1"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2pPr>
            <a:lvl3pPr marL="1371600" marR="0" lvl="2"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4pPr>
            <a:lvl5pPr marL="2286000" marR="0" lvl="4"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22"/>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22"/>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2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2" name="Google Shape;42;p23"/>
          <p:cNvSpPr txBox="1">
            <a:spLocks noGrp="1"/>
          </p:cNvSpPr>
          <p:nvPr>
            <p:ph type="body" idx="1"/>
          </p:nvPr>
        </p:nvSpPr>
        <p:spPr>
          <a:xfrm>
            <a:off x="457200" y="1535113"/>
            <a:ext cx="4040188" cy="639762"/>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80"/>
              </a:spcBef>
              <a:spcAft>
                <a:spcPts val="0"/>
              </a:spcAft>
              <a:buClr>
                <a:schemeClr val="dk1"/>
              </a:buClr>
              <a:buSzPts val="2400"/>
              <a:buFont typeface="Noto Sans Symbols"/>
              <a:buNone/>
              <a:defRPr sz="2400" b="1" i="0" u="none" strike="noStrike" cap="none">
                <a:solidFill>
                  <a:schemeClr val="dk1"/>
                </a:solidFill>
                <a:latin typeface="Calibri"/>
                <a:ea typeface="Calibri"/>
                <a:cs typeface="Calibri"/>
                <a:sym typeface="Calibri"/>
              </a:defRPr>
            </a:lvl1pPr>
            <a:lvl2pPr marL="914400" marR="0" lvl="1" indent="-228600" algn="l">
              <a:lnSpc>
                <a:spcPct val="100000"/>
              </a:lnSpc>
              <a:spcBef>
                <a:spcPts val="400"/>
              </a:spcBef>
              <a:spcAft>
                <a:spcPts val="0"/>
              </a:spcAft>
              <a:buClr>
                <a:schemeClr val="dk1"/>
              </a:buClr>
              <a:buSzPts val="2000"/>
              <a:buFont typeface="Noto Sans Symbols"/>
              <a:buNone/>
              <a:defRPr sz="2000" b="1" i="0" u="none" strike="noStrike" cap="none">
                <a:solidFill>
                  <a:schemeClr val="dk1"/>
                </a:solidFill>
                <a:latin typeface="Calibri"/>
                <a:ea typeface="Calibri"/>
                <a:cs typeface="Calibri"/>
                <a:sym typeface="Calibri"/>
              </a:defRPr>
            </a:lvl2pPr>
            <a:lvl3pPr marL="1371600" marR="0" lvl="2" indent="-228600" algn="l">
              <a:lnSpc>
                <a:spcPct val="100000"/>
              </a:lnSpc>
              <a:spcBef>
                <a:spcPts val="360"/>
              </a:spcBef>
              <a:spcAft>
                <a:spcPts val="0"/>
              </a:spcAft>
              <a:buClr>
                <a:schemeClr val="dk1"/>
              </a:buClr>
              <a:buSzPts val="1800"/>
              <a:buFont typeface="Noto Sans Symbols"/>
              <a:buNone/>
              <a:defRPr sz="1800" b="1" i="0" u="none" strike="noStrike" cap="none">
                <a:solidFill>
                  <a:schemeClr val="dk1"/>
                </a:solidFill>
                <a:latin typeface="Calibri"/>
                <a:ea typeface="Calibri"/>
                <a:cs typeface="Calibri"/>
                <a:sym typeface="Calibri"/>
              </a:defRPr>
            </a:lvl3pPr>
            <a:lvl4pPr marL="1828800" marR="0" lvl="3"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4pPr>
            <a:lvl5pPr marL="2286000" marR="0" lvl="4"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23"/>
          <p:cNvSpPr txBox="1">
            <a:spLocks noGrp="1"/>
          </p:cNvSpPr>
          <p:nvPr>
            <p:ph type="body" idx="2"/>
          </p:nvPr>
        </p:nvSpPr>
        <p:spPr>
          <a:xfrm>
            <a:off x="457200" y="2174875"/>
            <a:ext cx="4040188" cy="3951288"/>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4" name="Google Shape;44;p23"/>
          <p:cNvSpPr txBox="1">
            <a:spLocks noGrp="1"/>
          </p:cNvSpPr>
          <p:nvPr>
            <p:ph type="body" idx="3"/>
          </p:nvPr>
        </p:nvSpPr>
        <p:spPr>
          <a:xfrm>
            <a:off x="4645025" y="1535113"/>
            <a:ext cx="4041775" cy="639762"/>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80"/>
              </a:spcBef>
              <a:spcAft>
                <a:spcPts val="0"/>
              </a:spcAft>
              <a:buClr>
                <a:schemeClr val="dk1"/>
              </a:buClr>
              <a:buSzPts val="2400"/>
              <a:buFont typeface="Noto Sans Symbols"/>
              <a:buNone/>
              <a:defRPr sz="2400" b="1" i="0" u="none" strike="noStrike" cap="none">
                <a:solidFill>
                  <a:schemeClr val="dk1"/>
                </a:solidFill>
                <a:latin typeface="Calibri"/>
                <a:ea typeface="Calibri"/>
                <a:cs typeface="Calibri"/>
                <a:sym typeface="Calibri"/>
              </a:defRPr>
            </a:lvl1pPr>
            <a:lvl2pPr marL="914400" marR="0" lvl="1" indent="-228600" algn="l">
              <a:lnSpc>
                <a:spcPct val="100000"/>
              </a:lnSpc>
              <a:spcBef>
                <a:spcPts val="400"/>
              </a:spcBef>
              <a:spcAft>
                <a:spcPts val="0"/>
              </a:spcAft>
              <a:buClr>
                <a:schemeClr val="dk1"/>
              </a:buClr>
              <a:buSzPts val="2000"/>
              <a:buFont typeface="Noto Sans Symbols"/>
              <a:buNone/>
              <a:defRPr sz="2000" b="1" i="0" u="none" strike="noStrike" cap="none">
                <a:solidFill>
                  <a:schemeClr val="dk1"/>
                </a:solidFill>
                <a:latin typeface="Calibri"/>
                <a:ea typeface="Calibri"/>
                <a:cs typeface="Calibri"/>
                <a:sym typeface="Calibri"/>
              </a:defRPr>
            </a:lvl2pPr>
            <a:lvl3pPr marL="1371600" marR="0" lvl="2" indent="-228600" algn="l">
              <a:lnSpc>
                <a:spcPct val="100000"/>
              </a:lnSpc>
              <a:spcBef>
                <a:spcPts val="360"/>
              </a:spcBef>
              <a:spcAft>
                <a:spcPts val="0"/>
              </a:spcAft>
              <a:buClr>
                <a:schemeClr val="dk1"/>
              </a:buClr>
              <a:buSzPts val="1800"/>
              <a:buFont typeface="Noto Sans Symbols"/>
              <a:buNone/>
              <a:defRPr sz="1800" b="1" i="0" u="none" strike="noStrike" cap="none">
                <a:solidFill>
                  <a:schemeClr val="dk1"/>
                </a:solidFill>
                <a:latin typeface="Calibri"/>
                <a:ea typeface="Calibri"/>
                <a:cs typeface="Calibri"/>
                <a:sym typeface="Calibri"/>
              </a:defRPr>
            </a:lvl3pPr>
            <a:lvl4pPr marL="1828800" marR="0" lvl="3"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4pPr>
            <a:lvl5pPr marL="2286000" marR="0" lvl="4"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23"/>
          <p:cNvSpPr txBox="1">
            <a:spLocks noGrp="1"/>
          </p:cNvSpPr>
          <p:nvPr>
            <p:ph type="body" idx="4"/>
          </p:nvPr>
        </p:nvSpPr>
        <p:spPr>
          <a:xfrm>
            <a:off x="4645025" y="2174875"/>
            <a:ext cx="4041775" cy="3951288"/>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6" name="Google Shape;46;p23"/>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23"/>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2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457200" y="273050"/>
            <a:ext cx="3008313" cy="116205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1" name="Google Shape;51;p24"/>
          <p:cNvSpPr txBox="1">
            <a:spLocks noGrp="1"/>
          </p:cNvSpPr>
          <p:nvPr>
            <p:ph type="body" idx="1"/>
          </p:nvPr>
        </p:nvSpPr>
        <p:spPr>
          <a:xfrm>
            <a:off x="3575050" y="273050"/>
            <a:ext cx="5111750" cy="5853113"/>
          </a:xfrm>
          <a:prstGeom prst="rect">
            <a:avLst/>
          </a:prstGeom>
          <a:noFill/>
          <a:ln>
            <a:noFill/>
          </a:ln>
        </p:spPr>
        <p:txBody>
          <a:bodyPr spcFirstLastPara="1" wrap="square" lIns="91425" tIns="91425" rIns="91425" bIns="91425" anchor="t" anchorCtr="0">
            <a:noAutofit/>
          </a:bodyPr>
          <a:lstStyle>
            <a:lvl1pPr marL="457200" marR="0" lvl="0" indent="-431800" algn="l">
              <a:lnSpc>
                <a:spcPct val="100000"/>
              </a:lnSpc>
              <a:spcBef>
                <a:spcPts val="640"/>
              </a:spcBef>
              <a:spcAft>
                <a:spcPts val="0"/>
              </a:spcAft>
              <a:buClr>
                <a:schemeClr val="dk1"/>
              </a:buClr>
              <a:buSzPts val="3200"/>
              <a:buFont typeface="Noto Sans Symbols"/>
              <a:buChar char="❑"/>
              <a:defRPr sz="3200" b="0" i="0" u="none" strike="noStrike" cap="none">
                <a:solidFill>
                  <a:schemeClr val="dk1"/>
                </a:solidFill>
                <a:latin typeface="Calibri"/>
                <a:ea typeface="Calibri"/>
                <a:cs typeface="Calibri"/>
                <a:sym typeface="Calibri"/>
              </a:defRPr>
            </a:lvl1pPr>
            <a:lvl2pPr marL="914400" marR="0" lvl="1" indent="-406400" algn="l">
              <a:lnSpc>
                <a:spcPct val="100000"/>
              </a:lnSpc>
              <a:spcBef>
                <a:spcPts val="560"/>
              </a:spcBef>
              <a:spcAft>
                <a:spcPts val="0"/>
              </a:spcAft>
              <a:buClr>
                <a:schemeClr val="dk1"/>
              </a:buClr>
              <a:buSzPts val="2800"/>
              <a:buFont typeface="Noto Sans Symbols"/>
              <a:buChar char="▪"/>
              <a:defRPr sz="2800" b="0" i="0" u="none" strike="noStrike" cap="none">
                <a:solidFill>
                  <a:schemeClr val="dk1"/>
                </a:solidFill>
                <a:latin typeface="Calibri"/>
                <a:ea typeface="Calibri"/>
                <a:cs typeface="Calibri"/>
                <a:sym typeface="Calibri"/>
              </a:defRPr>
            </a:lvl2pPr>
            <a:lvl3pPr marL="1371600" marR="0" lvl="2"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3pPr>
            <a:lvl4pPr marL="1828800" marR="0" lvl="3"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4pPr>
            <a:lvl5pPr marL="2286000" marR="0" lvl="4"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2" name="Google Shape;52;p24"/>
          <p:cNvSpPr txBox="1">
            <a:spLocks noGrp="1"/>
          </p:cNvSpPr>
          <p:nvPr>
            <p:ph type="body" idx="2"/>
          </p:nvPr>
        </p:nvSpPr>
        <p:spPr>
          <a:xfrm>
            <a:off x="457200" y="1435100"/>
            <a:ext cx="3008313" cy="4691063"/>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280"/>
              </a:spcBef>
              <a:spcAft>
                <a:spcPts val="0"/>
              </a:spcAft>
              <a:buClr>
                <a:schemeClr val="dk1"/>
              </a:buClr>
              <a:buSzPts val="1400"/>
              <a:buFont typeface="Noto Sans Symbols"/>
              <a:buNone/>
              <a:defRPr sz="1400" b="0" i="0" u="none" strike="noStrike" cap="none">
                <a:solidFill>
                  <a:schemeClr val="dk1"/>
                </a:solidFill>
                <a:latin typeface="Calibri"/>
                <a:ea typeface="Calibri"/>
                <a:cs typeface="Calibri"/>
                <a:sym typeface="Calibri"/>
              </a:defRPr>
            </a:lvl1pPr>
            <a:lvl2pPr marL="914400" marR="0" lvl="1" indent="-228600" algn="l">
              <a:lnSpc>
                <a:spcPct val="100000"/>
              </a:lnSpc>
              <a:spcBef>
                <a:spcPts val="240"/>
              </a:spcBef>
              <a:spcAft>
                <a:spcPts val="0"/>
              </a:spcAft>
              <a:buClr>
                <a:schemeClr val="dk1"/>
              </a:buClr>
              <a:buSzPts val="1200"/>
              <a:buFont typeface="Noto Sans Symbols"/>
              <a:buNone/>
              <a:defRPr sz="1200" b="0" i="0" u="none" strike="noStrike" cap="none">
                <a:solidFill>
                  <a:schemeClr val="dk1"/>
                </a:solidFill>
                <a:latin typeface="Calibri"/>
                <a:ea typeface="Calibri"/>
                <a:cs typeface="Calibri"/>
                <a:sym typeface="Calibri"/>
              </a:defRPr>
            </a:lvl2pPr>
            <a:lvl3pPr marL="1371600" marR="0" lvl="2" indent="-228600" algn="l">
              <a:lnSpc>
                <a:spcPct val="100000"/>
              </a:lnSpc>
              <a:spcBef>
                <a:spcPts val="200"/>
              </a:spcBef>
              <a:spcAft>
                <a:spcPts val="0"/>
              </a:spcAft>
              <a:buClr>
                <a:schemeClr val="dk1"/>
              </a:buClr>
              <a:buSzPts val="1000"/>
              <a:buFont typeface="Noto Sans Symbols"/>
              <a:buNone/>
              <a:defRPr sz="1000" b="0" i="0" u="none" strike="noStrike" cap="none">
                <a:solidFill>
                  <a:schemeClr val="dk1"/>
                </a:solidFill>
                <a:latin typeface="Calibri"/>
                <a:ea typeface="Calibri"/>
                <a:cs typeface="Calibri"/>
                <a:sym typeface="Calibri"/>
              </a:defRPr>
            </a:lvl3pPr>
            <a:lvl4pPr marL="1828800" marR="0" lvl="3"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4pPr>
            <a:lvl5pPr marL="2286000" marR="0" lvl="4"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5pPr>
            <a:lvl6pPr marL="2743200" marR="0" lvl="5"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53" name="Google Shape;53;p24"/>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24"/>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2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6"/>
        <p:cNvGrpSpPr/>
        <p:nvPr/>
      </p:nvGrpSpPr>
      <p:grpSpPr>
        <a:xfrm>
          <a:off x="0" y="0"/>
          <a:ext cx="0" cy="0"/>
          <a:chOff x="0" y="0"/>
          <a:chExt cx="0" cy="0"/>
        </a:xfrm>
      </p:grpSpPr>
      <p:sp>
        <p:nvSpPr>
          <p:cNvPr id="57" name="Google Shape;57;p25"/>
          <p:cNvSpPr txBox="1">
            <a:spLocks noGrp="1"/>
          </p:cNvSpPr>
          <p:nvPr>
            <p:ph type="title"/>
          </p:nvPr>
        </p:nvSpPr>
        <p:spPr>
          <a:xfrm>
            <a:off x="1792288" y="4800600"/>
            <a:ext cx="5486400" cy="56673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8" name="Google Shape;58;p25"/>
          <p:cNvSpPr>
            <a:spLocks noGrp="1"/>
          </p:cNvSpPr>
          <p:nvPr>
            <p:ph type="pic" idx="2"/>
          </p:nvPr>
        </p:nvSpPr>
        <p:spPr>
          <a:xfrm>
            <a:off x="1792288" y="612775"/>
            <a:ext cx="5486400" cy="4114800"/>
          </a:xfrm>
          <a:prstGeom prst="rect">
            <a:avLst/>
          </a:prstGeom>
          <a:noFill/>
          <a:ln>
            <a:noFill/>
          </a:ln>
        </p:spPr>
      </p:sp>
      <p:sp>
        <p:nvSpPr>
          <p:cNvPr id="59" name="Google Shape;59;p25"/>
          <p:cNvSpPr txBox="1">
            <a:spLocks noGrp="1"/>
          </p:cNvSpPr>
          <p:nvPr>
            <p:ph type="body" idx="1"/>
          </p:nvPr>
        </p:nvSpPr>
        <p:spPr>
          <a:xfrm>
            <a:off x="1792288" y="5367338"/>
            <a:ext cx="5486400" cy="804862"/>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280"/>
              </a:spcBef>
              <a:spcAft>
                <a:spcPts val="0"/>
              </a:spcAft>
              <a:buClr>
                <a:schemeClr val="dk1"/>
              </a:buClr>
              <a:buSzPts val="1400"/>
              <a:buFont typeface="Noto Sans Symbols"/>
              <a:buNone/>
              <a:defRPr sz="1400" b="0" i="0" u="none" strike="noStrike" cap="none">
                <a:solidFill>
                  <a:schemeClr val="dk1"/>
                </a:solidFill>
                <a:latin typeface="Calibri"/>
                <a:ea typeface="Calibri"/>
                <a:cs typeface="Calibri"/>
                <a:sym typeface="Calibri"/>
              </a:defRPr>
            </a:lvl1pPr>
            <a:lvl2pPr marL="914400" marR="0" lvl="1" indent="-228600" algn="l">
              <a:lnSpc>
                <a:spcPct val="100000"/>
              </a:lnSpc>
              <a:spcBef>
                <a:spcPts val="240"/>
              </a:spcBef>
              <a:spcAft>
                <a:spcPts val="0"/>
              </a:spcAft>
              <a:buClr>
                <a:schemeClr val="dk1"/>
              </a:buClr>
              <a:buSzPts val="1200"/>
              <a:buFont typeface="Noto Sans Symbols"/>
              <a:buNone/>
              <a:defRPr sz="1200" b="0" i="0" u="none" strike="noStrike" cap="none">
                <a:solidFill>
                  <a:schemeClr val="dk1"/>
                </a:solidFill>
                <a:latin typeface="Calibri"/>
                <a:ea typeface="Calibri"/>
                <a:cs typeface="Calibri"/>
                <a:sym typeface="Calibri"/>
              </a:defRPr>
            </a:lvl2pPr>
            <a:lvl3pPr marL="1371600" marR="0" lvl="2" indent="-228600" algn="l">
              <a:lnSpc>
                <a:spcPct val="100000"/>
              </a:lnSpc>
              <a:spcBef>
                <a:spcPts val="200"/>
              </a:spcBef>
              <a:spcAft>
                <a:spcPts val="0"/>
              </a:spcAft>
              <a:buClr>
                <a:schemeClr val="dk1"/>
              </a:buClr>
              <a:buSzPts val="1000"/>
              <a:buFont typeface="Noto Sans Symbols"/>
              <a:buNone/>
              <a:defRPr sz="1000" b="0" i="0" u="none" strike="noStrike" cap="none">
                <a:solidFill>
                  <a:schemeClr val="dk1"/>
                </a:solidFill>
                <a:latin typeface="Calibri"/>
                <a:ea typeface="Calibri"/>
                <a:cs typeface="Calibri"/>
                <a:sym typeface="Calibri"/>
              </a:defRPr>
            </a:lvl3pPr>
            <a:lvl4pPr marL="1828800" marR="0" lvl="3"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4pPr>
            <a:lvl5pPr marL="2286000" marR="0" lvl="4"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5pPr>
            <a:lvl6pPr marL="2743200" marR="0" lvl="5"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0" name="Google Shape;60;p25"/>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25"/>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2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3"/>
        <p:cNvGrpSpPr/>
        <p:nvPr/>
      </p:nvGrpSpPr>
      <p:grpSpPr>
        <a:xfrm>
          <a:off x="0" y="0"/>
          <a:ext cx="0" cy="0"/>
          <a:chOff x="0" y="0"/>
          <a:chExt cx="0" cy="0"/>
        </a:xfrm>
      </p:grpSpPr>
      <p:sp>
        <p:nvSpPr>
          <p:cNvPr id="64" name="Google Shape;64;p26"/>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5" name="Google Shape;65;p26"/>
          <p:cNvSpPr txBox="1">
            <a:spLocks noGrp="1"/>
          </p:cNvSpPr>
          <p:nvPr>
            <p:ph type="body" idx="1"/>
          </p:nvPr>
        </p:nvSpPr>
        <p:spPr>
          <a:xfrm rot="5400000">
            <a:off x="2536824" y="206375"/>
            <a:ext cx="4070351" cy="8229600"/>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6" name="Google Shape;66;p26"/>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26"/>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2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9"/>
        <p:cNvGrpSpPr/>
        <p:nvPr/>
      </p:nvGrpSpPr>
      <p:grpSpPr>
        <a:xfrm>
          <a:off x="0" y="0"/>
          <a:ext cx="0" cy="0"/>
          <a:chOff x="0" y="0"/>
          <a:chExt cx="0" cy="0"/>
        </a:xfrm>
      </p:grpSpPr>
      <p:sp>
        <p:nvSpPr>
          <p:cNvPr id="70" name="Google Shape;70;p27"/>
          <p:cNvSpPr txBox="1">
            <a:spLocks noGrp="1"/>
          </p:cNvSpPr>
          <p:nvPr>
            <p:ph type="title"/>
          </p:nvPr>
        </p:nvSpPr>
        <p:spPr>
          <a:xfrm rot="5400000">
            <a:off x="4732337" y="2171700"/>
            <a:ext cx="5851525" cy="2057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1" name="Google Shape;71;p27"/>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2" name="Google Shape;72;p27"/>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3" name="Google Shape;73;p27"/>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4" name="Google Shape;74;p27"/>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457200" y="2286000"/>
            <a:ext cx="8229600" cy="4070351"/>
          </a:xfrm>
          <a:prstGeom prst="rect">
            <a:avLst/>
          </a:prstGeom>
          <a:noFill/>
          <a:ln>
            <a:noFill/>
          </a:ln>
        </p:spPr>
        <p:txBody>
          <a:bodyPr spcFirstLastPara="1" wrap="square" lIns="91425" tIns="91425" rIns="91425" bIns="91425" anchor="t" anchorCtr="0">
            <a:no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
          <p:cNvSpPr txBox="1">
            <a:spLocks noGrp="1"/>
          </p:cNvSpPr>
          <p:nvPr>
            <p:ph type="ctrTitle"/>
          </p:nvPr>
        </p:nvSpPr>
        <p:spPr>
          <a:xfrm>
            <a:off x="685800" y="1417320"/>
            <a:ext cx="7772400" cy="2240280"/>
          </a:xfrm>
          <a:prstGeom prst="rect">
            <a:avLst/>
          </a:prstGeom>
          <a:noFill/>
          <a:ln>
            <a:noFill/>
          </a:ln>
        </p:spPr>
        <p:txBody>
          <a:bodyPr spcFirstLastPara="1" wrap="square" lIns="91425" tIns="45700" rIns="91425" bIns="45700" anchor="ctr" anchorCtr="0">
            <a:noAutofit/>
          </a:bodyPr>
          <a:lstStyle/>
          <a:p>
            <a:pPr algn="ctr"/>
            <a:r>
              <a:rPr sz="3200" b="1">
                <a:solidFill>
                  <a:srgbClr val="1A1A1A"/>
                </a:solidFill>
                <a:latin typeface="Times New Roman"/>
              </a:rPr>
              <a:t>Capstone Project</a:t>
            </a:r>
            <a:endParaRPr sz="3600" b="1" i="0" u="none" strike="noStrike" cap="none" dirty="0">
              <a:latin typeface="Times New Roman" panose="02020603050405020304" pitchFamily="18" charset="0"/>
              <a:cs typeface="Times New Roman" panose="02020603050405020304" pitchFamily="18" charset="0"/>
              <a:sym typeface="Calibri"/>
            </a:endParaRPr>
          </a:p>
          <a:p>
            <a:pPr algn="ctr"/>
            <a:r>
              <a:rPr sz="3200" b="1">
                <a:solidFill>
                  <a:srgbClr val="1A1A1A"/>
                </a:solidFill>
                <a:latin typeface="Times New Roman"/>
              </a:rPr>
              <a:t>Final Presentation</a:t>
            </a:r>
          </a:p>
          <a:p>
            <a:pPr algn="ctr"/>
            <a:r>
              <a:rPr sz="2200" b="0">
                <a:solidFill>
                  <a:srgbClr val="1A1A1A"/>
                </a:solidFill>
                <a:latin typeface="Times New Roman"/>
              </a:rPr>
              <a:t>A.Y. 2026-2027</a:t>
            </a:r>
          </a:p>
          <a:p>
            <a:pPr algn="ctr"/>
            <a:r>
              <a:rPr sz="2200" b="1">
                <a:solidFill>
                  <a:srgbClr val="1A1A1A"/>
                </a:solidFill>
                <a:latin typeface="Times New Roman"/>
              </a:rPr>
              <a:t>Project Title: Silicon Sampling for Indian Public Opinion</a:t>
            </a:r>
          </a:p>
        </p:txBody>
      </p:sp>
      <p:sp>
        <p:nvSpPr>
          <p:cNvPr id="80" name="Google Shape;80;p1"/>
          <p:cNvSpPr txBox="1">
            <a:spLocks noGrp="1"/>
          </p:cNvSpPr>
          <p:nvPr>
            <p:ph type="subTitle" idx="1"/>
          </p:nvPr>
        </p:nvSpPr>
        <p:spPr>
          <a:xfrm>
            <a:off x="822960" y="3749039"/>
            <a:ext cx="7498079" cy="2468880"/>
          </a:xfrm>
          <a:prstGeom prst="rect">
            <a:avLst/>
          </a:prstGeom>
          <a:noFill/>
          <a:ln>
            <a:noFill/>
          </a:ln>
        </p:spPr>
        <p:txBody>
          <a:bodyPr spcFirstLastPara="1" wrap="square" lIns="91425" tIns="45700" rIns="91425" bIns="45700" anchor="t" anchorCtr="0">
            <a:noAutofit/>
          </a:bodyPr>
          <a:lstStyle/>
          <a:p>
            <a:pPr marL="342900" marR="0" lvl="0" indent="-342900" algn="ctr" rtl="0">
              <a:lnSpc>
                <a:spcPct val="100000"/>
              </a:lnSpc>
              <a:spcBef>
                <a:spcPts val="0"/>
              </a:spcBef>
              <a:spcAft>
                <a:spcPts val="0"/>
              </a:spcAft>
              <a:buClr>
                <a:srgbClr val="888888"/>
              </a:buClr>
              <a:buSzPts val="2400"/>
              <a:buNone/>
            </a:pPr>
            <a:r>
              <a:rPr sz="1800" b="1">
                <a:solidFill>
                  <a:srgbClr val="1A1A1A"/>
                </a:solidFill>
                <a:latin typeface="Times New Roman"/>
              </a:rPr>
              <a:t>Presented by: Group 55</a:t>
            </a:r>
            <a:endParaRPr sz="2000" b="0" i="0" u="none" strike="noStrike" cap="none" dirty="0">
              <a:solidFill>
                <a:srgbClr val="888888"/>
              </a:solidFill>
              <a:latin typeface="Book Antiqua" panose="02040602050305030304" pitchFamily="18" charset="0"/>
              <a:sym typeface="Calibri"/>
            </a:endParaRPr>
          </a:p>
          <a:p>
            <a:pPr algn="ctr"/>
            <a:r>
              <a:rPr sz="1500" b="0">
                <a:solidFill>
                  <a:srgbClr val="1A1A1A"/>
                </a:solidFill>
                <a:latin typeface="Times New Roman"/>
              </a:rPr>
              <a:t>Bhanuj Bhalla (SAP 70022300017)     Ishaan Bansal (SAP 70022300011)</a:t>
            </a:r>
          </a:p>
          <a:p>
            <a:pPr algn="ctr"/>
            <a:r>
              <a:rPr sz="1500" b="0">
                <a:solidFill>
                  <a:srgbClr val="1A1A1A"/>
                </a:solidFill>
                <a:latin typeface="Times New Roman"/>
              </a:rPr>
              <a:t>Yash Bhende (SAP 70022300137)     Krishank Ayyella (SAP 70022300136)</a:t>
            </a:r>
          </a:p>
          <a:p>
            <a:pPr algn="ctr"/>
            <a:r>
              <a:rPr sz="800" b="0">
                <a:solidFill>
                  <a:srgbClr val="1A1A1A"/>
                </a:solidFill>
                <a:latin typeface="Times New Roman"/>
              </a:rPr>
              <a:t/>
            </a:r>
          </a:p>
          <a:p>
            <a:pPr algn="ctr"/>
            <a:r>
              <a:rPr sz="1800" b="1">
                <a:solidFill>
                  <a:srgbClr val="1A1A1A"/>
                </a:solidFill>
                <a:latin typeface="Times New Roman"/>
              </a:rPr>
              <a:t>Under the guidance of: Ms. Khushbu Chauhan</a:t>
            </a:r>
          </a:p>
        </p:txBody>
      </p:sp>
      <p:sp>
        <p:nvSpPr>
          <p:cNvPr id="81" name="Google Shape;81;p1"/>
          <p:cNvSpPr txBox="1">
            <a:spLocks noGrp="1"/>
          </p:cNvSpPr>
          <p:nvPr>
            <p:ph type="ftr" idx="11"/>
          </p:nvPr>
        </p:nvSpPr>
        <p:spPr>
          <a:xfrm>
            <a:off x="2607587" y="6364703"/>
            <a:ext cx="3928825"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IN" sz="1050" b="0" i="0" u="none" strike="noStrike" cap="none" dirty="0">
                <a:solidFill>
                  <a:srgbClr val="888888"/>
                </a:solidFill>
                <a:latin typeface="Aptos" panose="020B0004020202020204" pitchFamily="34" charset="0"/>
                <a:sym typeface="Calibri"/>
              </a:rPr>
              <a:t>Computer Engineering Department, MPSTME, Mumbai Campus </a:t>
            </a:r>
            <a:endParaRPr sz="1050" b="0" i="0" u="none" strike="noStrike" cap="none" dirty="0">
              <a:solidFill>
                <a:srgbClr val="888888"/>
              </a:solidFill>
              <a:latin typeface="Aptos" panose="020B0004020202020204" pitchFamily="34" charset="0"/>
              <a:sym typeface="Calibri"/>
            </a:endParaRPr>
          </a:p>
        </p:txBody>
      </p:sp>
      <p:sp>
        <p:nvSpPr>
          <p:cNvPr id="82" name="Google Shape;82;p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n-IN" sz="1050" b="0" i="0" u="none" strike="noStrike" cap="none">
                <a:solidFill>
                  <a:srgbClr val="888888"/>
                </a:solidFill>
                <a:latin typeface="Calibri"/>
                <a:ea typeface="Calibri"/>
                <a:cs typeface="Calibri"/>
                <a:sym typeface="Calibri"/>
              </a:rPr>
              <a:t>1</a:t>
            </a:fld>
            <a:endParaRPr sz="105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382747676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371600"/>
            <a:ext cx="8229600" cy="548640"/>
          </a:xfrm>
        </p:spPr>
        <p:txBody>
          <a:bodyPr anchor="ctr"/>
          <a:lstStyle/>
          <a:p>
            <a:pPr algn="l"/>
            <a:r>
              <a:rPr sz="2100" b="1">
                <a:solidFill>
                  <a:srgbClr val="1A1A1A"/>
                </a:solidFill>
                <a:latin typeface="Times New Roman"/>
              </a:rPr>
              <a:t>Motivation: can a language model stand in for a survey respondent?</a:t>
            </a:r>
          </a:p>
        </p:txBody>
      </p:sp>
      <p:sp>
        <p:nvSpPr>
          <p:cNvPr id="3" name="Rectangle 2"/>
          <p:cNvSpPr/>
          <p:nvPr/>
        </p:nvSpPr>
        <p:spPr>
          <a:xfrm>
            <a:off x="457200" y="1938528"/>
            <a:ext cx="8229600" cy="3657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6373368"/>
            <a:ext cx="5120640" cy="292608"/>
          </a:xfrm>
          <a:prstGeom prst="rect">
            <a:avLst/>
          </a:prstGeom>
          <a:noFill/>
        </p:spPr>
        <p:txBody>
          <a:bodyPr wrap="square" anchor="ctr" lIns="73152" rIns="73152" tIns="27432" bIns="27432">
            <a:spAutoFit/>
          </a:bodyPr>
          <a:lstStyle/>
          <a:p>
            <a:pPr algn="ctr">
              <a:spcAft>
                <a:spcPts val="400"/>
              </a:spcAft>
            </a:pPr>
            <a:r>
              <a:rPr sz="1050" b="0">
                <a:solidFill>
                  <a:srgbClr val="1A1A1A"/>
                </a:solidFill>
                <a:latin typeface="Times New Roman"/>
              </a:rPr>
              <a:t>Computer Engineering Department, MPSTME, Mumbai Campus  |  Group 55</a:t>
            </a:r>
          </a:p>
        </p:txBody>
      </p:sp>
      <p:sp>
        <p:nvSpPr>
          <p:cNvPr id="5" name="TextBox 4"/>
          <p:cNvSpPr txBox="1"/>
          <p:nvPr/>
        </p:nvSpPr>
        <p:spPr>
          <a:xfrm>
            <a:off x="7589520" y="6373368"/>
            <a:ext cx="1097280" cy="292608"/>
          </a:xfrm>
          <a:prstGeom prst="rect">
            <a:avLst/>
          </a:prstGeom>
          <a:noFill/>
        </p:spPr>
        <p:txBody>
          <a:bodyPr wrap="square" anchor="ctr" lIns="73152" rIns="73152" tIns="27432" bIns="27432">
            <a:spAutoFit/>
          </a:bodyPr>
          <a:lstStyle/>
          <a:p>
            <a:pPr algn="r">
              <a:spcAft>
                <a:spcPts val="400"/>
              </a:spcAft>
            </a:pPr>
            <a:r>
              <a:rPr sz="1100" b="0">
                <a:solidFill>
                  <a:srgbClr val="1A1A1A"/>
                </a:solidFill>
                <a:latin typeface="Times New Roman"/>
              </a:rPr>
              <a:t>2</a:t>
            </a:r>
          </a:p>
        </p:txBody>
      </p:sp>
      <p:sp>
        <p:nvSpPr>
          <p:cNvPr id="6" name="Rectangle 5"/>
          <p:cNvSpPr/>
          <p:nvPr/>
        </p:nvSpPr>
        <p:spPr>
          <a:xfrm>
            <a:off x="457200" y="2103120"/>
            <a:ext cx="2697480" cy="411480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103120"/>
            <a:ext cx="269748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 y="2112263"/>
            <a:ext cx="258775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THE IDEA</a:t>
            </a:r>
          </a:p>
        </p:txBody>
      </p:sp>
      <p:sp>
        <p:nvSpPr>
          <p:cNvPr id="9" name="TextBox 8"/>
          <p:cNvSpPr txBox="1"/>
          <p:nvPr/>
        </p:nvSpPr>
        <p:spPr>
          <a:xfrm>
            <a:off x="530352" y="2468879"/>
            <a:ext cx="2551176" cy="3703320"/>
          </a:xfrm>
          <a:prstGeom prst="rect">
            <a:avLst/>
          </a:prstGeom>
          <a:noFill/>
        </p:spPr>
        <p:txBody>
          <a:bodyPr wrap="square" anchor="t" lIns="73152" rIns="73152" tIns="27432" bIns="27432">
            <a:spAutoFit/>
          </a:bodyPr>
          <a:lstStyle/>
          <a:p>
            <a:pPr algn="l">
              <a:spcAft>
                <a:spcPts val="300"/>
              </a:spcAft>
            </a:pPr>
            <a:r>
              <a:rPr sz="1400" b="0">
                <a:solidFill>
                  <a:srgbClr val="1A1A1A"/>
                </a:solidFill>
                <a:latin typeface="Times New Roman"/>
              </a:rPr>
              <a:t>•  </a:t>
            </a:r>
            <a:r>
              <a:rPr sz="1400" b="0">
                <a:solidFill>
                  <a:srgbClr val="1A1A1A"/>
                </a:solidFill>
                <a:latin typeface="Times New Roman"/>
              </a:rPr>
              <a:t>Give an LLM a demographic profile.</a:t>
            </a:r>
          </a:p>
          <a:p>
            <a:pPr algn="l">
              <a:spcAft>
                <a:spcPts val="300"/>
              </a:spcAft>
            </a:pPr>
            <a:r>
              <a:rPr sz="1400" b="0">
                <a:solidFill>
                  <a:srgbClr val="1A1A1A"/>
                </a:solidFill>
                <a:latin typeface="Times New Roman"/>
              </a:rPr>
              <a:t>•  </a:t>
            </a:r>
            <a:r>
              <a:rPr sz="1400" b="0">
                <a:solidFill>
                  <a:srgbClr val="1A1A1A"/>
                </a:solidFill>
                <a:latin typeface="Times New Roman"/>
              </a:rPr>
              <a:t>Ask the survey question.</a:t>
            </a:r>
          </a:p>
          <a:p>
            <a:pPr algn="l">
              <a:spcAft>
                <a:spcPts val="300"/>
              </a:spcAft>
            </a:pPr>
            <a:r>
              <a:rPr sz="1400" b="0">
                <a:solidFill>
                  <a:srgbClr val="1A1A1A"/>
                </a:solidFill>
                <a:latin typeface="Times New Roman"/>
              </a:rPr>
              <a:t>•  </a:t>
            </a:r>
            <a:r>
              <a:rPr sz="1400" b="0">
                <a:solidFill>
                  <a:srgbClr val="1A1A1A"/>
                </a:solidFill>
                <a:latin typeface="Times New Roman"/>
              </a:rPr>
              <a:t>Treat its answer as that person's answer.</a:t>
            </a:r>
          </a:p>
          <a:p>
            <a:pPr algn="l">
              <a:spcAft>
                <a:spcPts val="300"/>
              </a:spcAft>
            </a:pPr>
            <a:r>
              <a:rPr sz="1400" b="0">
                <a:solidFill>
                  <a:srgbClr val="1A1A1A"/>
                </a:solidFill>
                <a:latin typeface="Times New Roman"/>
              </a:rPr>
              <a:t>•  </a:t>
            </a:r>
            <a:r>
              <a:rPr sz="1400" b="0">
                <a:solidFill>
                  <a:srgbClr val="1A1A1A"/>
                </a:solidFill>
                <a:latin typeface="Times New Roman"/>
              </a:rPr>
              <a:t>Promise: far cheaper and faster than fielding a questionnaire.</a:t>
            </a:r>
          </a:p>
        </p:txBody>
      </p:sp>
      <p:sp>
        <p:nvSpPr>
          <p:cNvPr id="10" name="Rectangle 9"/>
          <p:cNvSpPr/>
          <p:nvPr/>
        </p:nvSpPr>
        <p:spPr>
          <a:xfrm>
            <a:off x="3273552" y="2103120"/>
            <a:ext cx="2697480" cy="411480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73552" y="2103120"/>
            <a:ext cx="269748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28416" y="2112263"/>
            <a:ext cx="258775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THE RISK</a:t>
            </a:r>
          </a:p>
        </p:txBody>
      </p:sp>
      <p:sp>
        <p:nvSpPr>
          <p:cNvPr id="13" name="TextBox 12"/>
          <p:cNvSpPr txBox="1"/>
          <p:nvPr/>
        </p:nvSpPr>
        <p:spPr>
          <a:xfrm>
            <a:off x="3346704" y="2468879"/>
            <a:ext cx="2551176" cy="3703320"/>
          </a:xfrm>
          <a:prstGeom prst="rect">
            <a:avLst/>
          </a:prstGeom>
          <a:noFill/>
        </p:spPr>
        <p:txBody>
          <a:bodyPr wrap="square" anchor="t" lIns="73152" rIns="73152" tIns="27432" bIns="27432">
            <a:spAutoFit/>
          </a:bodyPr>
          <a:lstStyle/>
          <a:p>
            <a:pPr algn="l">
              <a:spcAft>
                <a:spcPts val="300"/>
              </a:spcAft>
            </a:pPr>
            <a:r>
              <a:rPr sz="1400" b="0">
                <a:solidFill>
                  <a:srgbClr val="1A1A1A"/>
                </a:solidFill>
                <a:latin typeface="Times New Roman"/>
              </a:rPr>
              <a:t>•  </a:t>
            </a:r>
            <a:r>
              <a:rPr sz="1400" b="0">
                <a:solidFill>
                  <a:srgbClr val="1A1A1A"/>
                </a:solidFill>
                <a:latin typeface="Times New Roman"/>
              </a:rPr>
              <a:t>A good average can hide unequal performance across groups.</a:t>
            </a:r>
          </a:p>
          <a:p>
            <a:pPr algn="l">
              <a:spcAft>
                <a:spcPts val="300"/>
              </a:spcAft>
            </a:pPr>
            <a:r>
              <a:rPr sz="1400" b="0">
                <a:solidFill>
                  <a:srgbClr val="1A1A1A"/>
                </a:solidFill>
                <a:latin typeface="Times New Roman"/>
              </a:rPr>
              <a:t>•  </a:t>
            </a:r>
            <a:r>
              <a:rPr sz="1400" b="0">
                <a:solidFill>
                  <a:srgbClr val="1A1A1A"/>
                </a:solidFill>
                <a:latin typeface="Times New Roman"/>
              </a:rPr>
              <a:t>India is highly diverse: region, religion, caste, income, age.</a:t>
            </a:r>
          </a:p>
          <a:p>
            <a:pPr algn="l">
              <a:spcAft>
                <a:spcPts val="300"/>
              </a:spcAft>
            </a:pPr>
            <a:r>
              <a:rPr sz="1400" b="0">
                <a:solidFill>
                  <a:srgbClr val="1A1A1A"/>
                </a:solidFill>
                <a:latin typeface="Times New Roman"/>
              </a:rPr>
              <a:t>•  </a:t>
            </a:r>
            <a:r>
              <a:rPr sz="1400" b="0">
                <a:solidFill>
                  <a:srgbClr val="1A1A1A"/>
                </a:solidFill>
                <a:latin typeface="Times New Roman"/>
              </a:rPr>
              <a:t>Past work mostly reports aggregate fidelity, mostly for the US.</a:t>
            </a:r>
          </a:p>
        </p:txBody>
      </p:sp>
      <p:sp>
        <p:nvSpPr>
          <p:cNvPr id="14" name="Rectangle 13"/>
          <p:cNvSpPr/>
          <p:nvPr/>
        </p:nvSpPr>
        <p:spPr>
          <a:xfrm>
            <a:off x="6080760" y="2103120"/>
            <a:ext cx="2606040" cy="411480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80760" y="2103120"/>
            <a:ext cx="260604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2112263"/>
            <a:ext cx="249631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OUR QUESTION</a:t>
            </a:r>
          </a:p>
        </p:txBody>
      </p:sp>
      <p:sp>
        <p:nvSpPr>
          <p:cNvPr id="17" name="TextBox 16"/>
          <p:cNvSpPr txBox="1"/>
          <p:nvPr/>
        </p:nvSpPr>
        <p:spPr>
          <a:xfrm>
            <a:off x="6153912" y="2468879"/>
            <a:ext cx="2459736" cy="3703320"/>
          </a:xfrm>
          <a:prstGeom prst="rect">
            <a:avLst/>
          </a:prstGeom>
          <a:noFill/>
        </p:spPr>
        <p:txBody>
          <a:bodyPr wrap="square" anchor="t" lIns="73152" rIns="73152" tIns="27432" bIns="27432">
            <a:spAutoFit/>
          </a:bodyPr>
          <a:lstStyle/>
          <a:p>
            <a:pPr algn="l">
              <a:spcAft>
                <a:spcPts val="300"/>
              </a:spcAft>
            </a:pPr>
            <a:r>
              <a:rPr sz="1400" b="0">
                <a:solidFill>
                  <a:srgbClr val="1A1A1A"/>
                </a:solidFill>
                <a:latin typeface="Times New Roman"/>
              </a:rPr>
              <a:t>•  </a:t>
            </a:r>
            <a:r>
              <a:rPr sz="1400" b="0">
                <a:solidFill>
                  <a:srgbClr val="1A1A1A"/>
                </a:solidFill>
                <a:latin typeface="Times New Roman"/>
              </a:rPr>
              <a:t>What does the profile itself contribute?</a:t>
            </a:r>
          </a:p>
          <a:p>
            <a:pPr algn="l">
              <a:spcAft>
                <a:spcPts val="300"/>
              </a:spcAft>
            </a:pPr>
            <a:r>
              <a:rPr sz="1400" b="0">
                <a:solidFill>
                  <a:srgbClr val="1A1A1A"/>
                </a:solidFill>
                <a:latin typeface="Times New Roman"/>
              </a:rPr>
              <a:t>•  </a:t>
            </a:r>
            <a:r>
              <a:rPr sz="1400" b="0">
                <a:solidFill>
                  <a:srgbClr val="1A1A1A"/>
                </a:solidFill>
                <a:latin typeface="Times New Roman"/>
              </a:rPr>
              <a:t>Does fine-tuning on respondent-level data help?</a:t>
            </a:r>
          </a:p>
          <a:p>
            <a:pPr algn="l">
              <a:spcAft>
                <a:spcPts val="300"/>
              </a:spcAft>
            </a:pPr>
            <a:r>
              <a:rPr sz="1400" b="0">
                <a:solidFill>
                  <a:srgbClr val="1A1A1A"/>
                </a:solidFill>
                <a:latin typeface="Times New Roman"/>
              </a:rPr>
              <a:t>•  </a:t>
            </a:r>
            <a:r>
              <a:rPr sz="1400" b="0">
                <a:solidFill>
                  <a:srgbClr val="1A1A1A"/>
                </a:solidFill>
                <a:latin typeface="Times New Roman"/>
              </a:rPr>
              <a:t>Does the help carry over to unseen questions?</a:t>
            </a:r>
          </a:p>
          <a:p>
            <a:pPr algn="l">
              <a:spcAft>
                <a:spcPts val="300"/>
              </a:spcAft>
            </a:pPr>
            <a:r>
              <a:rPr sz="1400" b="0">
                <a:solidFill>
                  <a:srgbClr val="1A1A1A"/>
                </a:solidFill>
                <a:latin typeface="Times New Roman"/>
              </a:rPr>
              <a:t>•  </a:t>
            </a:r>
            <a:r>
              <a:rPr sz="1400" b="0">
                <a:solidFill>
                  <a:srgbClr val="1A1A1A"/>
                </a:solidFill>
                <a:latin typeface="Times New Roman"/>
              </a:rPr>
              <a:t>How does it compare with a simple classifier, and at what cost?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371600"/>
            <a:ext cx="8229600" cy="548640"/>
          </a:xfrm>
        </p:spPr>
        <p:txBody>
          <a:bodyPr anchor="ctr"/>
          <a:lstStyle/>
          <a:p>
            <a:pPr algn="l"/>
            <a:r>
              <a:rPr sz="2400" b="1">
                <a:solidFill>
                  <a:srgbClr val="1A1A1A"/>
                </a:solidFill>
                <a:latin typeface="Times New Roman"/>
              </a:rPr>
              <a:t>Literature review and the gap</a:t>
            </a:r>
          </a:p>
        </p:txBody>
      </p:sp>
      <p:sp>
        <p:nvSpPr>
          <p:cNvPr id="3" name="Rectangle 2"/>
          <p:cNvSpPr/>
          <p:nvPr/>
        </p:nvSpPr>
        <p:spPr>
          <a:xfrm>
            <a:off x="457200" y="1938528"/>
            <a:ext cx="8229600" cy="3657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6373368"/>
            <a:ext cx="5120640" cy="292608"/>
          </a:xfrm>
          <a:prstGeom prst="rect">
            <a:avLst/>
          </a:prstGeom>
          <a:noFill/>
        </p:spPr>
        <p:txBody>
          <a:bodyPr wrap="square" anchor="ctr" lIns="73152" rIns="73152" tIns="27432" bIns="27432">
            <a:spAutoFit/>
          </a:bodyPr>
          <a:lstStyle/>
          <a:p>
            <a:pPr algn="ctr">
              <a:spcAft>
                <a:spcPts val="400"/>
              </a:spcAft>
            </a:pPr>
            <a:r>
              <a:rPr sz="1050" b="0">
                <a:solidFill>
                  <a:srgbClr val="1A1A1A"/>
                </a:solidFill>
                <a:latin typeface="Times New Roman"/>
              </a:rPr>
              <a:t>Computer Engineering Department, MPSTME, Mumbai Campus  |  Group 55</a:t>
            </a:r>
          </a:p>
        </p:txBody>
      </p:sp>
      <p:sp>
        <p:nvSpPr>
          <p:cNvPr id="5" name="TextBox 4"/>
          <p:cNvSpPr txBox="1"/>
          <p:nvPr/>
        </p:nvSpPr>
        <p:spPr>
          <a:xfrm>
            <a:off x="7589520" y="6373368"/>
            <a:ext cx="1097280" cy="292608"/>
          </a:xfrm>
          <a:prstGeom prst="rect">
            <a:avLst/>
          </a:prstGeom>
          <a:noFill/>
        </p:spPr>
        <p:txBody>
          <a:bodyPr wrap="square" anchor="ctr" lIns="73152" rIns="73152" tIns="27432" bIns="27432">
            <a:spAutoFit/>
          </a:bodyPr>
          <a:lstStyle/>
          <a:p>
            <a:pPr algn="r">
              <a:spcAft>
                <a:spcPts val="400"/>
              </a:spcAft>
            </a:pPr>
            <a:r>
              <a:rPr sz="1100" b="0">
                <a:solidFill>
                  <a:srgbClr val="1A1A1A"/>
                </a:solidFill>
                <a:latin typeface="Times New Roman"/>
              </a:rPr>
              <a:t>3</a:t>
            </a:r>
          </a:p>
        </p:txBody>
      </p:sp>
      <p:graphicFrame>
        <p:nvGraphicFramePr>
          <p:cNvPr id="6" name="Table 5"/>
          <p:cNvGraphicFramePr>
            <a:graphicFrameLocks noGrp="1"/>
          </p:cNvGraphicFramePr>
          <p:nvPr/>
        </p:nvGraphicFramePr>
        <p:xfrm>
          <a:off x="457200" y="2103120"/>
          <a:ext cx="8229600" cy="2852928"/>
        </p:xfrm>
        <a:graphic>
          <a:graphicData uri="http://schemas.openxmlformats.org/drawingml/2006/table">
            <a:tbl>
              <a:tblPr firstRow="1" bandRow="1">
                <a:tableStyleId>{5C22544A-7EE6-4342-B048-85BDC9FD1C3A}</a:tableStyleId>
              </a:tblPr>
              <a:tblGrid>
                <a:gridCol w="2743200"/>
                <a:gridCol w="5486400"/>
              </a:tblGrid>
              <a:tr h="475488">
                <a:tc>
                  <a:txBody>
                    <a:bodyPr/>
                    <a:lstStyle/>
                    <a:p>
                      <a:pPr algn="l"/>
                      <a:r>
                        <a:rPr sz="1150" b="1">
                          <a:solidFill>
                            <a:srgbClr val="FFFFFF"/>
                          </a:solidFill>
                          <a:latin typeface="Times New Roman"/>
                        </a:rPr>
                        <a:t>Study</a:t>
                      </a:r>
                    </a:p>
                  </a:txBody>
                  <a:tcPr anchor="ctr" marL="45720" marR="45720" marT="18288" marB="18288">
                    <a:solidFill>
                      <a:srgbClr val="BC312C"/>
                    </a:solidFill>
                  </a:tcPr>
                </a:tc>
                <a:tc>
                  <a:txBody>
                    <a:bodyPr/>
                    <a:lstStyle/>
                    <a:p>
                      <a:pPr algn="ctr"/>
                      <a:r>
                        <a:rPr sz="1150" b="1">
                          <a:solidFill>
                            <a:srgbClr val="FFFFFF"/>
                          </a:solidFill>
                          <a:latin typeface="Times New Roman"/>
                        </a:rPr>
                        <a:t>Finding</a:t>
                      </a:r>
                    </a:p>
                  </a:txBody>
                  <a:tcPr anchor="ctr" marL="45720" marR="45720" marT="18288" marB="18288">
                    <a:solidFill>
                      <a:srgbClr val="BC312C"/>
                    </a:solidFill>
                  </a:tcPr>
                </a:tc>
              </a:tr>
              <a:tr h="475488">
                <a:tc>
                  <a:txBody>
                    <a:bodyPr/>
                    <a:lstStyle/>
                    <a:p>
                      <a:pPr algn="l"/>
                      <a:r>
                        <a:rPr sz="1150" b="0">
                          <a:solidFill>
                            <a:srgbClr val="1A1A1A"/>
                          </a:solidFill>
                          <a:latin typeface="Times New Roman"/>
                        </a:rPr>
                        <a:t>Argyle 2023; Santurkar 2023</a:t>
                      </a:r>
                    </a:p>
                  </a:txBody>
                  <a:tcPr anchor="ctr" marL="45720" marR="45720" marT="18288" marB="18288">
                    <a:solidFill>
                      <a:srgbClr val="F3F3F3"/>
                    </a:solidFill>
                  </a:tcPr>
                </a:tc>
                <a:tc>
                  <a:txBody>
                    <a:bodyPr/>
                    <a:lstStyle/>
                    <a:p>
                      <a:pPr algn="ctr"/>
                      <a:r>
                        <a:rPr sz="1150" b="0">
                          <a:solidFill>
                            <a:srgbClr val="1A1A1A"/>
                          </a:solidFill>
                          <a:latin typeface="Times New Roman"/>
                        </a:rPr>
                        <a:t>Reproduce some US correlations, but misrepresent many groups</a:t>
                      </a:r>
                    </a:p>
                  </a:txBody>
                  <a:tcPr anchor="ctr" marL="45720" marR="45720" marT="18288" marB="18288">
                    <a:solidFill>
                      <a:srgbClr val="F3F3F3"/>
                    </a:solidFill>
                  </a:tcPr>
                </a:tc>
              </a:tr>
              <a:tr h="475488">
                <a:tc>
                  <a:txBody>
                    <a:bodyPr/>
                    <a:lstStyle/>
                    <a:p>
                      <a:pPr algn="l"/>
                      <a:r>
                        <a:rPr sz="1150" b="0">
                          <a:solidFill>
                            <a:srgbClr val="1A1A1A"/>
                          </a:solidFill>
                          <a:latin typeface="Times New Roman"/>
                        </a:rPr>
                        <a:t>Chen 2026; Miranda &amp; Balbi 2025</a:t>
                      </a:r>
                    </a:p>
                  </a:txBody>
                  <a:tcPr anchor="ctr" marL="45720" marR="45720" marT="18288" marB="18288">
                    <a:solidFill>
                      <a:srgbClr val="FFFFFF"/>
                    </a:solidFill>
                  </a:tcPr>
                </a:tc>
                <a:tc>
                  <a:txBody>
                    <a:bodyPr/>
                    <a:lstStyle/>
                    <a:p>
                      <a:pPr algn="ctr"/>
                      <a:r>
                        <a:rPr sz="1150" b="0">
                          <a:solidFill>
                            <a:srgbClr val="1A1A1A"/>
                          </a:solidFill>
                          <a:latin typeface="Times New Roman"/>
                        </a:rPr>
                        <a:t>Match or trail baselines; over-attribute attitudes; inflate gaps 2-4x</a:t>
                      </a:r>
                    </a:p>
                  </a:txBody>
                  <a:tcPr anchor="ctr" marL="45720" marR="45720" marT="18288" marB="18288">
                    <a:solidFill>
                      <a:srgbClr val="FFFFFF"/>
                    </a:solidFill>
                  </a:tcPr>
                </a:tc>
              </a:tr>
              <a:tr h="475488">
                <a:tc>
                  <a:txBody>
                    <a:bodyPr/>
                    <a:lstStyle/>
                    <a:p>
                      <a:pPr algn="l"/>
                      <a:r>
                        <a:rPr sz="1150" b="0">
                          <a:solidFill>
                            <a:srgbClr val="1A1A1A"/>
                          </a:solidFill>
                          <a:latin typeface="Times New Roman"/>
                        </a:rPr>
                        <a:t>Hu &amp; Collier 2024</a:t>
                      </a:r>
                    </a:p>
                  </a:txBody>
                  <a:tcPr anchor="ctr" marL="45720" marR="45720" marT="18288" marB="18288">
                    <a:solidFill>
                      <a:srgbClr val="F3F3F3"/>
                    </a:solidFill>
                  </a:tcPr>
                </a:tc>
                <a:tc>
                  <a:txBody>
                    <a:bodyPr/>
                    <a:lstStyle/>
                    <a:p>
                      <a:pPr algn="ctr"/>
                      <a:r>
                        <a:rPr sz="1150" b="0">
                          <a:solidFill>
                            <a:srgbClr val="1A1A1A"/>
                          </a:solidFill>
                          <a:latin typeface="Times New Roman"/>
                        </a:rPr>
                        <a:t>Persona variables explain under 10% of variance</a:t>
                      </a:r>
                    </a:p>
                  </a:txBody>
                  <a:tcPr anchor="ctr" marL="45720" marR="45720" marT="18288" marB="18288">
                    <a:solidFill>
                      <a:srgbClr val="F3F3F3"/>
                    </a:solidFill>
                  </a:tcPr>
                </a:tc>
              </a:tr>
              <a:tr h="475488">
                <a:tc>
                  <a:txBody>
                    <a:bodyPr/>
                    <a:lstStyle/>
                    <a:p>
                      <a:pPr algn="l"/>
                      <a:r>
                        <a:rPr sz="1150" b="0">
                          <a:solidFill>
                            <a:srgbClr val="1A1A1A"/>
                          </a:solidFill>
                          <a:latin typeface="Times New Roman"/>
                        </a:rPr>
                        <a:t>Suh 2025; Cao 2025; Choi 2026</a:t>
                      </a:r>
                    </a:p>
                  </a:txBody>
                  <a:tcPr anchor="ctr" marL="45720" marR="45720" marT="18288" marB="18288">
                    <a:solidFill>
                      <a:srgbClr val="FFFFFF"/>
                    </a:solidFill>
                  </a:tcPr>
                </a:tc>
                <a:tc>
                  <a:txBody>
                    <a:bodyPr/>
                    <a:lstStyle/>
                    <a:p>
                      <a:pPr algn="ctr"/>
                      <a:r>
                        <a:rPr sz="1150" b="0">
                          <a:solidFill>
                            <a:srgbClr val="1A1A1A"/>
                          </a:solidFill>
                          <a:latin typeface="Times New Roman"/>
                        </a:rPr>
                        <a:t>Fine-tuning generalises to unseen subpopulations, less to unseen questions</a:t>
                      </a:r>
                    </a:p>
                  </a:txBody>
                  <a:tcPr anchor="ctr" marL="45720" marR="45720" marT="18288" marB="18288">
                    <a:solidFill>
                      <a:srgbClr val="FFFFFF"/>
                    </a:solidFill>
                  </a:tcPr>
                </a:tc>
              </a:tr>
              <a:tr h="475488">
                <a:tc>
                  <a:txBody>
                    <a:bodyPr/>
                    <a:lstStyle/>
                    <a:p>
                      <a:pPr algn="l"/>
                      <a:r>
                        <a:rPr sz="1150" b="0">
                          <a:solidFill>
                            <a:srgbClr val="1A1A1A"/>
                          </a:solidFill>
                          <a:latin typeface="Times New Roman"/>
                        </a:rPr>
                        <a:t>Wang 2026; Lam 2026; Robbani 2026</a:t>
                      </a:r>
                    </a:p>
                  </a:txBody>
                  <a:tcPr anchor="ctr" marL="45720" marR="45720" marT="18288" marB="18288">
                    <a:solidFill>
                      <a:srgbClr val="F3F3F3"/>
                    </a:solidFill>
                  </a:tcPr>
                </a:tc>
                <a:tc>
                  <a:txBody>
                    <a:bodyPr/>
                    <a:lstStyle/>
                    <a:p>
                      <a:pPr algn="ctr"/>
                      <a:r>
                        <a:rPr sz="1150" b="0">
                          <a:solidFill>
                            <a:srgbClr val="1A1A1A"/>
                          </a:solidFill>
                          <a:latin typeface="Times New Roman"/>
                        </a:rPr>
                        <a:t>Weak individual-level recovery; demographics readable but barely used</a:t>
                      </a:r>
                    </a:p>
                  </a:txBody>
                  <a:tcPr anchor="ctr" marL="45720" marR="45720" marT="18288" marB="18288">
                    <a:solidFill>
                      <a:srgbClr val="F3F3F3"/>
                    </a:solidFill>
                  </a:tcPr>
                </a:tc>
              </a:tr>
            </a:tbl>
          </a:graphicData>
        </a:graphic>
      </p:graphicFrame>
      <p:sp>
        <p:nvSpPr>
          <p:cNvPr id="7" name="Rectangle 6"/>
          <p:cNvSpPr/>
          <p:nvPr/>
        </p:nvSpPr>
        <p:spPr>
          <a:xfrm>
            <a:off x="457200" y="5120640"/>
            <a:ext cx="8229600" cy="1097280"/>
          </a:xfrm>
          <a:prstGeom prst="rect">
            <a:avLst/>
          </a:prstGeom>
          <a:solidFill>
            <a:srgbClr val="F3F3F3"/>
          </a:solidFill>
          <a:ln w="9525">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5166360"/>
            <a:ext cx="8046720" cy="1005840"/>
          </a:xfrm>
          <a:prstGeom prst="rect">
            <a:avLst/>
          </a:prstGeom>
          <a:noFill/>
        </p:spPr>
        <p:txBody>
          <a:bodyPr wrap="square" anchor="t" lIns="73152" rIns="73152" tIns="27432" bIns="27432">
            <a:spAutoFit/>
          </a:bodyPr>
          <a:lstStyle/>
          <a:p>
            <a:pPr algn="l">
              <a:spcAft>
                <a:spcPts val="400"/>
              </a:spcAft>
            </a:pPr>
            <a:r>
              <a:rPr sz="1400" b="1">
                <a:solidFill>
                  <a:srgbClr val="1A1A1A"/>
                </a:solidFill>
                <a:latin typeface="Times New Roman"/>
              </a:rPr>
              <a:t>Research gap:  </a:t>
            </a:r>
            <a:r>
              <a:rPr sz="1400" b="0">
                <a:solidFill>
                  <a:srgbClr val="1A1A1A"/>
                </a:solidFill>
                <a:latin typeface="Times New Roman"/>
              </a:rPr>
              <a:t>an India study that separates what the profile contributes from the model's prior, adds a same-model fine-tuned comparison, and tests transfer to unseen questions, all against matched classifiers on identical rows.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371600"/>
            <a:ext cx="8229600" cy="548640"/>
          </a:xfrm>
        </p:spPr>
        <p:txBody>
          <a:bodyPr anchor="ctr"/>
          <a:lstStyle/>
          <a:p>
            <a:pPr algn="l"/>
            <a:r>
              <a:rPr sz="2400" b="1">
                <a:solidFill>
                  <a:srgbClr val="1A1A1A"/>
                </a:solidFill>
                <a:latin typeface="Times New Roman"/>
              </a:rPr>
              <a:t>Objectives and research questions</a:t>
            </a:r>
          </a:p>
        </p:txBody>
      </p:sp>
      <p:sp>
        <p:nvSpPr>
          <p:cNvPr id="3" name="Rectangle 2"/>
          <p:cNvSpPr/>
          <p:nvPr/>
        </p:nvSpPr>
        <p:spPr>
          <a:xfrm>
            <a:off x="457200" y="1938528"/>
            <a:ext cx="8229600" cy="3657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6373368"/>
            <a:ext cx="5120640" cy="292608"/>
          </a:xfrm>
          <a:prstGeom prst="rect">
            <a:avLst/>
          </a:prstGeom>
          <a:noFill/>
        </p:spPr>
        <p:txBody>
          <a:bodyPr wrap="square" anchor="ctr" lIns="73152" rIns="73152" tIns="27432" bIns="27432">
            <a:spAutoFit/>
          </a:bodyPr>
          <a:lstStyle/>
          <a:p>
            <a:pPr algn="ctr">
              <a:spcAft>
                <a:spcPts val="400"/>
              </a:spcAft>
            </a:pPr>
            <a:r>
              <a:rPr sz="1050" b="0">
                <a:solidFill>
                  <a:srgbClr val="1A1A1A"/>
                </a:solidFill>
                <a:latin typeface="Times New Roman"/>
              </a:rPr>
              <a:t>Computer Engineering Department, MPSTME, Mumbai Campus  |  Group 55</a:t>
            </a:r>
          </a:p>
        </p:txBody>
      </p:sp>
      <p:sp>
        <p:nvSpPr>
          <p:cNvPr id="5" name="TextBox 4"/>
          <p:cNvSpPr txBox="1"/>
          <p:nvPr/>
        </p:nvSpPr>
        <p:spPr>
          <a:xfrm>
            <a:off x="7589520" y="6373368"/>
            <a:ext cx="1097280" cy="292608"/>
          </a:xfrm>
          <a:prstGeom prst="rect">
            <a:avLst/>
          </a:prstGeom>
          <a:noFill/>
        </p:spPr>
        <p:txBody>
          <a:bodyPr wrap="square" anchor="ctr" lIns="73152" rIns="73152" tIns="27432" bIns="27432">
            <a:spAutoFit/>
          </a:bodyPr>
          <a:lstStyle/>
          <a:p>
            <a:pPr algn="r">
              <a:spcAft>
                <a:spcPts val="400"/>
              </a:spcAft>
            </a:pPr>
            <a:r>
              <a:rPr sz="1100" b="0">
                <a:solidFill>
                  <a:srgbClr val="1A1A1A"/>
                </a:solidFill>
                <a:latin typeface="Times New Roman"/>
              </a:rPr>
              <a:t>4</a:t>
            </a:r>
          </a:p>
        </p:txBody>
      </p:sp>
      <p:sp>
        <p:nvSpPr>
          <p:cNvPr id="6" name="Rectangle 5"/>
          <p:cNvSpPr/>
          <p:nvPr/>
        </p:nvSpPr>
        <p:spPr>
          <a:xfrm>
            <a:off x="457200" y="2103120"/>
            <a:ext cx="4023360" cy="164592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103120"/>
            <a:ext cx="402336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 y="2112263"/>
            <a:ext cx="391363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RQ1  USE</a:t>
            </a:r>
          </a:p>
        </p:txBody>
      </p:sp>
      <p:sp>
        <p:nvSpPr>
          <p:cNvPr id="9" name="TextBox 8"/>
          <p:cNvSpPr txBox="1"/>
          <p:nvPr/>
        </p:nvSpPr>
        <p:spPr>
          <a:xfrm>
            <a:off x="530352" y="2468879"/>
            <a:ext cx="3877056" cy="1234440"/>
          </a:xfrm>
          <a:prstGeom prst="rect">
            <a:avLst/>
          </a:prstGeom>
          <a:noFill/>
        </p:spPr>
        <p:txBody>
          <a:bodyPr wrap="square" anchor="t" lIns="73152" rIns="73152" tIns="27432" bIns="27432">
            <a:spAutoFit/>
          </a:bodyPr>
          <a:lstStyle/>
          <a:p>
            <a:pPr algn="l">
              <a:spcAft>
                <a:spcPts val="300"/>
              </a:spcAft>
            </a:pPr>
            <a:r>
              <a:rPr sz="1400" b="0">
                <a:solidFill>
                  <a:srgbClr val="1A1A1A"/>
                </a:solidFill>
                <a:latin typeface="Times New Roman"/>
              </a:rPr>
              <a:t>How does a prompted LLM use the demographic profile: how much, and in which direction?</a:t>
            </a:r>
          </a:p>
        </p:txBody>
      </p:sp>
      <p:sp>
        <p:nvSpPr>
          <p:cNvPr id="10" name="Rectangle 9"/>
          <p:cNvSpPr/>
          <p:nvPr/>
        </p:nvSpPr>
        <p:spPr>
          <a:xfrm>
            <a:off x="4663440" y="2103120"/>
            <a:ext cx="4023360" cy="164592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63440" y="2103120"/>
            <a:ext cx="402336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8303" y="2112263"/>
            <a:ext cx="391363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RQ2  ADAPTATION</a:t>
            </a:r>
          </a:p>
        </p:txBody>
      </p:sp>
      <p:sp>
        <p:nvSpPr>
          <p:cNvPr id="13" name="TextBox 12"/>
          <p:cNvSpPr txBox="1"/>
          <p:nvPr/>
        </p:nvSpPr>
        <p:spPr>
          <a:xfrm>
            <a:off x="4736592" y="2468879"/>
            <a:ext cx="3877056" cy="1234440"/>
          </a:xfrm>
          <a:prstGeom prst="rect">
            <a:avLst/>
          </a:prstGeom>
          <a:noFill/>
        </p:spPr>
        <p:txBody>
          <a:bodyPr wrap="square" anchor="t" lIns="73152" rIns="73152" tIns="27432" bIns="27432">
            <a:spAutoFit/>
          </a:bodyPr>
          <a:lstStyle/>
          <a:p>
            <a:pPr algn="l">
              <a:spcAft>
                <a:spcPts val="300"/>
              </a:spcAft>
            </a:pPr>
            <a:r>
              <a:rPr sz="1400" b="0">
                <a:solidFill>
                  <a:srgbClr val="1A1A1A"/>
                </a:solidFill>
                <a:latin typeface="Times New Roman"/>
              </a:rPr>
              <a:t>What does respondent-level fine-tuning change, relative to zero-shot and to matched classifiers?</a:t>
            </a:r>
          </a:p>
        </p:txBody>
      </p:sp>
      <p:sp>
        <p:nvSpPr>
          <p:cNvPr id="14" name="Rectangle 13"/>
          <p:cNvSpPr/>
          <p:nvPr/>
        </p:nvSpPr>
        <p:spPr>
          <a:xfrm>
            <a:off x="457200" y="3886200"/>
            <a:ext cx="4023360" cy="164592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886200"/>
            <a:ext cx="402336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3895344"/>
            <a:ext cx="391363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RQ3  TRANSFER</a:t>
            </a:r>
          </a:p>
        </p:txBody>
      </p:sp>
      <p:sp>
        <p:nvSpPr>
          <p:cNvPr id="17" name="TextBox 16"/>
          <p:cNvSpPr txBox="1"/>
          <p:nvPr/>
        </p:nvSpPr>
        <p:spPr>
          <a:xfrm>
            <a:off x="530352" y="4251960"/>
            <a:ext cx="3877056" cy="1234440"/>
          </a:xfrm>
          <a:prstGeom prst="rect">
            <a:avLst/>
          </a:prstGeom>
          <a:noFill/>
        </p:spPr>
        <p:txBody>
          <a:bodyPr wrap="square" anchor="t" lIns="73152" rIns="73152" tIns="27432" bIns="27432">
            <a:spAutoFit/>
          </a:bodyPr>
          <a:lstStyle/>
          <a:p>
            <a:pPr algn="l">
              <a:spcAft>
                <a:spcPts val="300"/>
              </a:spcAft>
            </a:pPr>
            <a:r>
              <a:rPr sz="1400" b="0">
                <a:solidFill>
                  <a:srgbClr val="1A1A1A"/>
                </a:solidFill>
                <a:latin typeface="Times New Roman"/>
              </a:rPr>
              <a:t>Does the adaptation carry over to questions the model never saw?</a:t>
            </a:r>
          </a:p>
        </p:txBody>
      </p:sp>
      <p:sp>
        <p:nvSpPr>
          <p:cNvPr id="18" name="Rectangle 17"/>
          <p:cNvSpPr/>
          <p:nvPr/>
        </p:nvSpPr>
        <p:spPr>
          <a:xfrm>
            <a:off x="4663440" y="3886200"/>
            <a:ext cx="4023360" cy="164592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63440" y="3886200"/>
            <a:ext cx="402336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18303" y="3895344"/>
            <a:ext cx="391363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RQ4  SCALE &amp; DATA</a:t>
            </a:r>
          </a:p>
        </p:txBody>
      </p:sp>
      <p:sp>
        <p:nvSpPr>
          <p:cNvPr id="21" name="TextBox 20"/>
          <p:cNvSpPr txBox="1"/>
          <p:nvPr/>
        </p:nvSpPr>
        <p:spPr>
          <a:xfrm>
            <a:off x="4736592" y="4251960"/>
            <a:ext cx="3877056" cy="1234440"/>
          </a:xfrm>
          <a:prstGeom prst="rect">
            <a:avLst/>
          </a:prstGeom>
          <a:noFill/>
        </p:spPr>
        <p:txBody>
          <a:bodyPr wrap="square" anchor="t" lIns="73152" rIns="73152" tIns="27432" bIns="27432">
            <a:spAutoFit/>
          </a:bodyPr>
          <a:lstStyle/>
          <a:p>
            <a:pPr algn="l">
              <a:spcAft>
                <a:spcPts val="300"/>
              </a:spcAft>
            </a:pPr>
            <a:r>
              <a:rPr sz="1400" b="0">
                <a:solidFill>
                  <a:srgbClr val="1A1A1A"/>
                </a:solidFill>
                <a:latin typeface="Times New Roman"/>
              </a:rPr>
              <a:t>Do a larger zero-shot model or more labelled respondents change the picture?</a:t>
            </a:r>
          </a:p>
        </p:txBody>
      </p:sp>
      <p:sp>
        <p:nvSpPr>
          <p:cNvPr id="22" name="TextBox 21"/>
          <p:cNvSpPr txBox="1"/>
          <p:nvPr/>
        </p:nvSpPr>
        <p:spPr>
          <a:xfrm>
            <a:off x="457200" y="5669280"/>
            <a:ext cx="8229600" cy="640080"/>
          </a:xfrm>
          <a:prstGeom prst="rect">
            <a:avLst/>
          </a:prstGeom>
          <a:noFill/>
        </p:spPr>
        <p:txBody>
          <a:bodyPr wrap="square" anchor="t" lIns="73152" rIns="73152" tIns="27432" bIns="27432">
            <a:spAutoFit/>
          </a:bodyPr>
          <a:lstStyle/>
          <a:p>
            <a:pPr algn="l">
              <a:spcAft>
                <a:spcPts val="400"/>
              </a:spcAft>
            </a:pPr>
            <a:r>
              <a:rPr sz="1200" b="0">
                <a:solidFill>
                  <a:srgbClr val="555555"/>
                </a:solidFill>
                <a:latin typeface="Times New Roman"/>
              </a:rPr>
              <a:t>Scope: Pew Religion in India (N = 29,999) and WVS-7 India (N = 1,692); Qwen2.5-7B-Instruct zero-shot and QLoRA fine-tuned; gpt-oss-120b and Gemini as controls.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371600"/>
            <a:ext cx="8229600" cy="548640"/>
          </a:xfrm>
        </p:spPr>
        <p:txBody>
          <a:bodyPr anchor="ctr"/>
          <a:lstStyle/>
          <a:p>
            <a:pPr algn="l"/>
            <a:r>
              <a:rPr sz="2400" b="1">
                <a:solidFill>
                  <a:srgbClr val="1A1A1A"/>
                </a:solidFill>
                <a:latin typeface="Times New Roman"/>
              </a:rPr>
              <a:t>Data: two public surveys, codebook-driven item screening</a:t>
            </a:r>
          </a:p>
        </p:txBody>
      </p:sp>
      <p:sp>
        <p:nvSpPr>
          <p:cNvPr id="3" name="Rectangle 2"/>
          <p:cNvSpPr/>
          <p:nvPr/>
        </p:nvSpPr>
        <p:spPr>
          <a:xfrm>
            <a:off x="457200" y="1938528"/>
            <a:ext cx="8229600" cy="3657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6373368"/>
            <a:ext cx="5120640" cy="292608"/>
          </a:xfrm>
          <a:prstGeom prst="rect">
            <a:avLst/>
          </a:prstGeom>
          <a:noFill/>
        </p:spPr>
        <p:txBody>
          <a:bodyPr wrap="square" anchor="ctr" lIns="73152" rIns="73152" tIns="27432" bIns="27432">
            <a:spAutoFit/>
          </a:bodyPr>
          <a:lstStyle/>
          <a:p>
            <a:pPr algn="ctr">
              <a:spcAft>
                <a:spcPts val="400"/>
              </a:spcAft>
            </a:pPr>
            <a:r>
              <a:rPr sz="1050" b="0">
                <a:solidFill>
                  <a:srgbClr val="1A1A1A"/>
                </a:solidFill>
                <a:latin typeface="Times New Roman"/>
              </a:rPr>
              <a:t>Computer Engineering Department, MPSTME, Mumbai Campus  |  Group 55</a:t>
            </a:r>
          </a:p>
        </p:txBody>
      </p:sp>
      <p:sp>
        <p:nvSpPr>
          <p:cNvPr id="5" name="TextBox 4"/>
          <p:cNvSpPr txBox="1"/>
          <p:nvPr/>
        </p:nvSpPr>
        <p:spPr>
          <a:xfrm>
            <a:off x="7589520" y="6373368"/>
            <a:ext cx="1097280" cy="292608"/>
          </a:xfrm>
          <a:prstGeom prst="rect">
            <a:avLst/>
          </a:prstGeom>
          <a:noFill/>
        </p:spPr>
        <p:txBody>
          <a:bodyPr wrap="square" anchor="ctr" lIns="73152" rIns="73152" tIns="27432" bIns="27432">
            <a:spAutoFit/>
          </a:bodyPr>
          <a:lstStyle/>
          <a:p>
            <a:pPr algn="r">
              <a:spcAft>
                <a:spcPts val="400"/>
              </a:spcAft>
            </a:pPr>
            <a:r>
              <a:rPr sz="1100" b="0">
                <a:solidFill>
                  <a:srgbClr val="1A1A1A"/>
                </a:solidFill>
                <a:latin typeface="Times New Roman"/>
              </a:rPr>
              <a:t>5</a:t>
            </a:r>
          </a:p>
        </p:txBody>
      </p:sp>
      <p:sp>
        <p:nvSpPr>
          <p:cNvPr id="6" name="Rectangle 5"/>
          <p:cNvSpPr/>
          <p:nvPr/>
        </p:nvSpPr>
        <p:spPr>
          <a:xfrm>
            <a:off x="457200" y="2103120"/>
            <a:ext cx="4023360" cy="292608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103120"/>
            <a:ext cx="402336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 y="2112263"/>
            <a:ext cx="391363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PEW RELIGION IN INDIA</a:t>
            </a:r>
          </a:p>
        </p:txBody>
      </p:sp>
      <p:sp>
        <p:nvSpPr>
          <p:cNvPr id="9" name="TextBox 8"/>
          <p:cNvSpPr txBox="1"/>
          <p:nvPr/>
        </p:nvSpPr>
        <p:spPr>
          <a:xfrm>
            <a:off x="530352" y="2468879"/>
            <a:ext cx="3877056" cy="2514600"/>
          </a:xfrm>
          <a:prstGeom prst="rect">
            <a:avLst/>
          </a:prstGeom>
          <a:noFill/>
        </p:spPr>
        <p:txBody>
          <a:bodyPr wrap="square" anchor="t" lIns="73152" rIns="73152" tIns="27432" bIns="27432">
            <a:spAutoFit/>
          </a:bodyPr>
          <a:lstStyle/>
          <a:p>
            <a:pPr algn="l">
              <a:spcAft>
                <a:spcPts val="300"/>
              </a:spcAft>
            </a:pPr>
            <a:r>
              <a:rPr sz="1300" b="0">
                <a:solidFill>
                  <a:srgbClr val="1A1A1A"/>
                </a:solidFill>
                <a:latin typeface="Times New Roman"/>
              </a:rPr>
              <a:t>•  </a:t>
            </a:r>
            <a:r>
              <a:rPr sz="1300" b="0">
                <a:solidFill>
                  <a:srgbClr val="1A1A1A"/>
                </a:solidFill>
                <a:latin typeface="Times New Roman"/>
              </a:rPr>
              <a:t>N = 29,999 adults, face-to-face, 2019-20</a:t>
            </a:r>
          </a:p>
          <a:p>
            <a:pPr algn="l">
              <a:spcAft>
                <a:spcPts val="300"/>
              </a:spcAft>
            </a:pPr>
            <a:r>
              <a:rPr sz="1300" b="0">
                <a:solidFill>
                  <a:srgbClr val="1A1A1A"/>
                </a:solidFill>
                <a:latin typeface="Times New Roman"/>
              </a:rPr>
              <a:t>•  </a:t>
            </a:r>
            <a:r>
              <a:rPr sz="1300" b="0">
                <a:solidFill>
                  <a:srgbClr val="1A1A1A"/>
                </a:solidFill>
                <a:latin typeface="Times New Roman"/>
              </a:rPr>
              <a:t>73 items screened; 8 used for fine-tuning</a:t>
            </a:r>
          </a:p>
          <a:p>
            <a:pPr algn="l">
              <a:spcAft>
                <a:spcPts val="300"/>
              </a:spcAft>
            </a:pPr>
            <a:r>
              <a:rPr sz="1300" b="0">
                <a:solidFill>
                  <a:srgbClr val="1A1A1A"/>
                </a:solidFill>
                <a:latin typeface="Times New Roman"/>
              </a:rPr>
              <a:t>•  </a:t>
            </a:r>
            <a:r>
              <a:rPr sz="1300" b="0">
                <a:solidFill>
                  <a:srgbClr val="1A1A1A"/>
                </a:solidFill>
                <a:latin typeface="Times New Roman"/>
              </a:rPr>
              <a:t>Items 9-16 held out for transfer</a:t>
            </a:r>
          </a:p>
          <a:p>
            <a:pPr algn="l">
              <a:spcAft>
                <a:spcPts val="300"/>
              </a:spcAft>
            </a:pPr>
            <a:r>
              <a:rPr sz="1300" b="0">
                <a:solidFill>
                  <a:srgbClr val="1A1A1A"/>
                </a:solidFill>
                <a:latin typeface="Times New Roman"/>
              </a:rPr>
              <a:t>•  </a:t>
            </a:r>
            <a:r>
              <a:rPr sz="1300" b="0">
                <a:solidFill>
                  <a:srgbClr val="1A1A1A"/>
                </a:solidFill>
                <a:latin typeface="Times New Roman"/>
              </a:rPr>
              <a:t>Fold 0: 23,999 train / 6,000 test</a:t>
            </a:r>
          </a:p>
          <a:p>
            <a:pPr algn="l">
              <a:spcAft>
                <a:spcPts val="300"/>
              </a:spcAft>
            </a:pPr>
            <a:r>
              <a:rPr sz="1300" b="0">
                <a:solidFill>
                  <a:srgbClr val="1A1A1A"/>
                </a:solidFill>
                <a:latin typeface="Times New Roman"/>
              </a:rPr>
              <a:t>•  </a:t>
            </a:r>
            <a:r>
              <a:rPr sz="1300" b="0">
                <a:solidFill>
                  <a:srgbClr val="1A1A1A"/>
                </a:solidFill>
                <a:latin typeface="Times New Roman"/>
              </a:rPr>
              <a:t>46,209 test answers; 9 profile attributes</a:t>
            </a:r>
          </a:p>
        </p:txBody>
      </p:sp>
      <p:sp>
        <p:nvSpPr>
          <p:cNvPr id="10" name="Rectangle 9"/>
          <p:cNvSpPr/>
          <p:nvPr/>
        </p:nvSpPr>
        <p:spPr>
          <a:xfrm>
            <a:off x="4663440" y="2103120"/>
            <a:ext cx="4023360" cy="292608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63440" y="2103120"/>
            <a:ext cx="402336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8303" y="2112263"/>
            <a:ext cx="391363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WVS-7 INDIA (v6.0)</a:t>
            </a:r>
          </a:p>
        </p:txBody>
      </p:sp>
      <p:sp>
        <p:nvSpPr>
          <p:cNvPr id="13" name="TextBox 12"/>
          <p:cNvSpPr txBox="1"/>
          <p:nvPr/>
        </p:nvSpPr>
        <p:spPr>
          <a:xfrm>
            <a:off x="4736592" y="2468879"/>
            <a:ext cx="3877056" cy="2514600"/>
          </a:xfrm>
          <a:prstGeom prst="rect">
            <a:avLst/>
          </a:prstGeom>
          <a:noFill/>
        </p:spPr>
        <p:txBody>
          <a:bodyPr wrap="square" anchor="t" lIns="73152" rIns="73152" tIns="27432" bIns="27432">
            <a:spAutoFit/>
          </a:bodyPr>
          <a:lstStyle/>
          <a:p>
            <a:pPr algn="l">
              <a:spcAft>
                <a:spcPts val="300"/>
              </a:spcAft>
            </a:pPr>
            <a:r>
              <a:rPr sz="1300" b="0">
                <a:solidFill>
                  <a:srgbClr val="1A1A1A"/>
                </a:solidFill>
                <a:latin typeface="Times New Roman"/>
              </a:rPr>
              <a:t>•  </a:t>
            </a:r>
            <a:r>
              <a:rPr sz="1300" b="0">
                <a:solidFill>
                  <a:srgbClr val="1A1A1A"/>
                </a:solidFill>
                <a:latin typeface="Times New Roman"/>
              </a:rPr>
              <a:t>N = 1,692 respondents, fieldwork 2023</a:t>
            </a:r>
          </a:p>
          <a:p>
            <a:pPr algn="l">
              <a:spcAft>
                <a:spcPts val="300"/>
              </a:spcAft>
            </a:pPr>
            <a:r>
              <a:rPr sz="1300" b="0">
                <a:solidFill>
                  <a:srgbClr val="1A1A1A"/>
                </a:solidFill>
                <a:latin typeface="Times New Roman"/>
              </a:rPr>
              <a:t>•  </a:t>
            </a:r>
            <a:r>
              <a:rPr sz="1300" b="0">
                <a:solidFill>
                  <a:srgbClr val="1A1A1A"/>
                </a:solidFill>
                <a:latin typeface="Times New Roman"/>
              </a:rPr>
              <a:t>373 candidate items screened to 144</a:t>
            </a:r>
          </a:p>
          <a:p>
            <a:pPr algn="l">
              <a:spcAft>
                <a:spcPts val="300"/>
              </a:spcAft>
            </a:pPr>
            <a:r>
              <a:rPr sz="1300" b="0">
                <a:solidFill>
                  <a:srgbClr val="1A1A1A"/>
                </a:solidFill>
                <a:latin typeface="Times New Roman"/>
              </a:rPr>
              <a:t>•  </a:t>
            </a:r>
            <a:r>
              <a:rPr sz="1300" b="0">
                <a:solidFill>
                  <a:srgbClr val="1A1A1A"/>
                </a:solidFill>
                <a:latin typeface="Times New Roman"/>
              </a:rPr>
              <a:t>15 items used for zero-shot replication</a:t>
            </a:r>
          </a:p>
          <a:p>
            <a:pPr algn="l">
              <a:spcAft>
                <a:spcPts val="300"/>
              </a:spcAft>
            </a:pPr>
            <a:r>
              <a:rPr sz="1300" b="0">
                <a:solidFill>
                  <a:srgbClr val="1A1A1A"/>
                </a:solidFill>
                <a:latin typeface="Times New Roman"/>
              </a:rPr>
              <a:t>•  </a:t>
            </a:r>
            <a:r>
              <a:rPr sz="1300" b="0">
                <a:solidFill>
                  <a:srgbClr val="1A1A1A"/>
                </a:solidFill>
                <a:latin typeface="Times New Roman"/>
              </a:rPr>
              <a:t>14 profile attributes; language constant</a:t>
            </a:r>
          </a:p>
          <a:p>
            <a:pPr algn="l">
              <a:spcAft>
                <a:spcPts val="300"/>
              </a:spcAft>
            </a:pPr>
            <a:r>
              <a:rPr sz="1300" b="0">
                <a:solidFill>
                  <a:srgbClr val="1A1A1A"/>
                </a:solidFill>
                <a:latin typeface="Times New Roman"/>
              </a:rPr>
              <a:t>•  </a:t>
            </a:r>
            <a:r>
              <a:rPr sz="1300" b="0">
                <a:solidFill>
                  <a:srgbClr val="1A1A1A"/>
                </a:solidFill>
                <a:latin typeface="Times New Roman"/>
              </a:rPr>
              <a:t>Microdata not redistributed</a:t>
            </a:r>
          </a:p>
        </p:txBody>
      </p:sp>
      <p:graphicFrame>
        <p:nvGraphicFramePr>
          <p:cNvPr id="14" name="Table 13"/>
          <p:cNvGraphicFramePr>
            <a:graphicFrameLocks noGrp="1"/>
          </p:cNvGraphicFramePr>
          <p:nvPr/>
        </p:nvGraphicFramePr>
        <p:xfrm>
          <a:off x="457200" y="5166360"/>
          <a:ext cx="8229600" cy="1042416"/>
        </p:xfrm>
        <a:graphic>
          <a:graphicData uri="http://schemas.openxmlformats.org/drawingml/2006/table">
            <a:tbl>
              <a:tblPr firstRow="1" bandRow="1">
                <a:tableStyleId>{5C22544A-7EE6-4342-B048-85BDC9FD1C3A}</a:tableStyleId>
              </a:tblPr>
              <a:tblGrid>
                <a:gridCol w="4023360"/>
                <a:gridCol w="4206240"/>
              </a:tblGrid>
              <a:tr h="347472">
                <a:tc>
                  <a:txBody>
                    <a:bodyPr/>
                    <a:lstStyle/>
                    <a:p>
                      <a:pPr algn="l"/>
                      <a:r>
                        <a:rPr sz="1150" b="1">
                          <a:solidFill>
                            <a:srgbClr val="FFFFFF"/>
                          </a:solidFill>
                          <a:latin typeface="Times New Roman"/>
                        </a:rPr>
                        <a:t>Design choice</a:t>
                      </a:r>
                    </a:p>
                  </a:txBody>
                  <a:tcPr anchor="ctr" marL="45720" marR="45720" marT="18288" marB="18288">
                    <a:solidFill>
                      <a:srgbClr val="BC312C"/>
                    </a:solidFill>
                  </a:tcPr>
                </a:tc>
                <a:tc>
                  <a:txBody>
                    <a:bodyPr/>
                    <a:lstStyle/>
                    <a:p>
                      <a:pPr algn="ctr"/>
                      <a:r>
                        <a:rPr sz="1150" b="1">
                          <a:solidFill>
                            <a:srgbClr val="FFFFFF"/>
                          </a:solidFill>
                          <a:latin typeface="Times New Roman"/>
                        </a:rPr>
                        <a:t>Why</a:t>
                      </a:r>
                    </a:p>
                  </a:txBody>
                  <a:tcPr anchor="ctr" marL="45720" marR="45720" marT="18288" marB="18288">
                    <a:solidFill>
                      <a:srgbClr val="BC312C"/>
                    </a:solidFill>
                  </a:tcPr>
                </a:tc>
              </a:tr>
              <a:tr h="347472">
                <a:tc>
                  <a:txBody>
                    <a:bodyPr/>
                    <a:lstStyle/>
                    <a:p>
                      <a:pPr algn="l"/>
                      <a:r>
                        <a:rPr sz="1150" b="0">
                          <a:solidFill>
                            <a:srgbClr val="1A1A1A"/>
                          </a:solidFill>
                          <a:latin typeface="Times New Roman"/>
                        </a:rPr>
                        <a:t>Respondent-level 5-fold split, out-of-fold scoring</a:t>
                      </a:r>
                    </a:p>
                  </a:txBody>
                  <a:tcPr anchor="ctr" marL="45720" marR="45720" marT="18288" marB="18288">
                    <a:solidFill>
                      <a:srgbClr val="F3F3F3"/>
                    </a:solidFill>
                  </a:tcPr>
                </a:tc>
                <a:tc>
                  <a:txBody>
                    <a:bodyPr/>
                    <a:lstStyle/>
                    <a:p>
                      <a:pPr algn="ctr"/>
                      <a:r>
                        <a:rPr sz="1150" b="0">
                          <a:solidFill>
                            <a:srgbClr val="1A1A1A"/>
                          </a:solidFill>
                          <a:latin typeface="Times New Roman"/>
                        </a:rPr>
                        <a:t>No respondent is in both training and test</a:t>
                      </a:r>
                    </a:p>
                  </a:txBody>
                  <a:tcPr anchor="ctr" marL="45720" marR="45720" marT="18288" marB="18288">
                    <a:solidFill>
                      <a:srgbClr val="F3F3F3"/>
                    </a:solidFill>
                  </a:tcPr>
                </a:tc>
              </a:tr>
              <a:tr h="347472">
                <a:tc>
                  <a:txBody>
                    <a:bodyPr/>
                    <a:lstStyle/>
                    <a:p>
                      <a:pPr algn="l"/>
                      <a:r>
                        <a:rPr sz="1150" b="0">
                          <a:solidFill>
                            <a:srgbClr val="1A1A1A"/>
                          </a:solidFill>
                          <a:latin typeface="Times New Roman"/>
                        </a:rPr>
                        <a:t>Same rows for every method</a:t>
                      </a:r>
                    </a:p>
                  </a:txBody>
                  <a:tcPr anchor="ctr" marL="45720" marR="45720" marT="18288" marB="18288">
                    <a:solidFill>
                      <a:srgbClr val="FFFFFF"/>
                    </a:solidFill>
                  </a:tcPr>
                </a:tc>
                <a:tc>
                  <a:txBody>
                    <a:bodyPr/>
                    <a:lstStyle/>
                    <a:p>
                      <a:pPr algn="ctr"/>
                      <a:r>
                        <a:rPr sz="1150" b="0">
                          <a:solidFill>
                            <a:srgbClr val="1A1A1A"/>
                          </a:solidFill>
                          <a:latin typeface="Times New Roman"/>
                        </a:rPr>
                        <a:t>Differences cannot come from different data</a:t>
                      </a:r>
                    </a:p>
                  </a:txBody>
                  <a:tcPr anchor="ctr" marL="45720" marR="45720" marT="18288" marB="18288">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371600"/>
            <a:ext cx="8229600" cy="548640"/>
          </a:xfrm>
        </p:spPr>
        <p:txBody>
          <a:bodyPr anchor="ctr"/>
          <a:lstStyle/>
          <a:p>
            <a:pPr algn="l"/>
            <a:r>
              <a:rPr sz="2400" b="1">
                <a:solidFill>
                  <a:srgbClr val="1A1A1A"/>
                </a:solidFill>
                <a:latin typeface="Times New Roman"/>
              </a:rPr>
              <a:t>System design: one prompt, identical rows, many predictors</a:t>
            </a:r>
          </a:p>
        </p:txBody>
      </p:sp>
      <p:sp>
        <p:nvSpPr>
          <p:cNvPr id="3" name="Rectangle 2"/>
          <p:cNvSpPr/>
          <p:nvPr/>
        </p:nvSpPr>
        <p:spPr>
          <a:xfrm>
            <a:off x="457200" y="1938528"/>
            <a:ext cx="8229600" cy="3657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6373368"/>
            <a:ext cx="5120640" cy="292608"/>
          </a:xfrm>
          <a:prstGeom prst="rect">
            <a:avLst/>
          </a:prstGeom>
          <a:noFill/>
        </p:spPr>
        <p:txBody>
          <a:bodyPr wrap="square" anchor="ctr" lIns="73152" rIns="73152" tIns="27432" bIns="27432">
            <a:spAutoFit/>
          </a:bodyPr>
          <a:lstStyle/>
          <a:p>
            <a:pPr algn="ctr">
              <a:spcAft>
                <a:spcPts val="400"/>
              </a:spcAft>
            </a:pPr>
            <a:r>
              <a:rPr sz="1050" b="0">
                <a:solidFill>
                  <a:srgbClr val="1A1A1A"/>
                </a:solidFill>
                <a:latin typeface="Times New Roman"/>
              </a:rPr>
              <a:t>Computer Engineering Department, MPSTME, Mumbai Campus  |  Group 55</a:t>
            </a:r>
          </a:p>
        </p:txBody>
      </p:sp>
      <p:sp>
        <p:nvSpPr>
          <p:cNvPr id="5" name="TextBox 4"/>
          <p:cNvSpPr txBox="1"/>
          <p:nvPr/>
        </p:nvSpPr>
        <p:spPr>
          <a:xfrm>
            <a:off x="7589520" y="6373368"/>
            <a:ext cx="1097280" cy="292608"/>
          </a:xfrm>
          <a:prstGeom prst="rect">
            <a:avLst/>
          </a:prstGeom>
          <a:noFill/>
        </p:spPr>
        <p:txBody>
          <a:bodyPr wrap="square" anchor="ctr" lIns="73152" rIns="73152" tIns="27432" bIns="27432">
            <a:spAutoFit/>
          </a:bodyPr>
          <a:lstStyle/>
          <a:p>
            <a:pPr algn="r">
              <a:spcAft>
                <a:spcPts val="400"/>
              </a:spcAft>
            </a:pPr>
            <a:r>
              <a:rPr sz="1100" b="0">
                <a:solidFill>
                  <a:srgbClr val="1A1A1A"/>
                </a:solidFill>
                <a:latin typeface="Times New Roman"/>
              </a:rPr>
              <a:t>6</a:t>
            </a:r>
          </a:p>
        </p:txBody>
      </p:sp>
      <p:pic>
        <p:nvPicPr>
          <p:cNvPr id="6" name="Picture 5" descr="fig_framework.png"/>
          <p:cNvPicPr>
            <a:picLocks noChangeAspect="1"/>
          </p:cNvPicPr>
          <p:nvPr/>
        </p:nvPicPr>
        <p:blipFill>
          <a:blip r:embed="rId3"/>
          <a:stretch>
            <a:fillRect/>
          </a:stretch>
        </p:blipFill>
        <p:spPr>
          <a:xfrm>
            <a:off x="457200" y="2194560"/>
            <a:ext cx="8229600" cy="3109700"/>
          </a:xfrm>
          <a:prstGeom prst="rect">
            <a:avLst/>
          </a:prstGeom>
        </p:spPr>
      </p:pic>
      <p:sp>
        <p:nvSpPr>
          <p:cNvPr id="7" name="TextBox 6"/>
          <p:cNvSpPr txBox="1"/>
          <p:nvPr/>
        </p:nvSpPr>
        <p:spPr>
          <a:xfrm>
            <a:off x="457200" y="5623560"/>
            <a:ext cx="8229600" cy="640080"/>
          </a:xfrm>
          <a:prstGeom prst="rect">
            <a:avLst/>
          </a:prstGeom>
          <a:noFill/>
        </p:spPr>
        <p:txBody>
          <a:bodyPr wrap="square" anchor="t" lIns="73152" rIns="73152" tIns="27432" bIns="27432">
            <a:spAutoFit/>
          </a:bodyPr>
          <a:lstStyle/>
          <a:p>
            <a:pPr algn="ctr">
              <a:spcAft>
                <a:spcPts val="400"/>
              </a:spcAft>
            </a:pPr>
            <a:r>
              <a:rPr sz="1300" b="0">
                <a:solidFill>
                  <a:srgbClr val="555555"/>
                </a:solidFill>
                <a:latin typeface="Times New Roman"/>
              </a:rPr>
              <a:t>Every predictor sees the same prompt and is scored on the same respondent-item rows, so any difference between methods is a difference in the method.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371600"/>
            <a:ext cx="8229600" cy="548640"/>
          </a:xfrm>
        </p:spPr>
        <p:txBody>
          <a:bodyPr anchor="ctr"/>
          <a:lstStyle/>
          <a:p>
            <a:pPr algn="l"/>
            <a:r>
              <a:rPr sz="2400" b="1">
                <a:solidFill>
                  <a:srgbClr val="1A1A1A"/>
                </a:solidFill>
                <a:latin typeface="Times New Roman"/>
              </a:rPr>
              <a:t>Implementation: prompt, models and infrastructure</a:t>
            </a:r>
          </a:p>
        </p:txBody>
      </p:sp>
      <p:sp>
        <p:nvSpPr>
          <p:cNvPr id="3" name="Rectangle 2"/>
          <p:cNvSpPr/>
          <p:nvPr/>
        </p:nvSpPr>
        <p:spPr>
          <a:xfrm>
            <a:off x="457200" y="1938528"/>
            <a:ext cx="8229600" cy="3657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6373368"/>
            <a:ext cx="5120640" cy="292608"/>
          </a:xfrm>
          <a:prstGeom prst="rect">
            <a:avLst/>
          </a:prstGeom>
          <a:noFill/>
        </p:spPr>
        <p:txBody>
          <a:bodyPr wrap="square" anchor="ctr" lIns="73152" rIns="73152" tIns="27432" bIns="27432">
            <a:spAutoFit/>
          </a:bodyPr>
          <a:lstStyle/>
          <a:p>
            <a:pPr algn="ctr">
              <a:spcAft>
                <a:spcPts val="400"/>
              </a:spcAft>
            </a:pPr>
            <a:r>
              <a:rPr sz="1050" b="0">
                <a:solidFill>
                  <a:srgbClr val="1A1A1A"/>
                </a:solidFill>
                <a:latin typeface="Times New Roman"/>
              </a:rPr>
              <a:t>Computer Engineering Department, MPSTME, Mumbai Campus  |  Group 55</a:t>
            </a:r>
          </a:p>
        </p:txBody>
      </p:sp>
      <p:sp>
        <p:nvSpPr>
          <p:cNvPr id="5" name="TextBox 4"/>
          <p:cNvSpPr txBox="1"/>
          <p:nvPr/>
        </p:nvSpPr>
        <p:spPr>
          <a:xfrm>
            <a:off x="7589520" y="6373368"/>
            <a:ext cx="1097280" cy="292608"/>
          </a:xfrm>
          <a:prstGeom prst="rect">
            <a:avLst/>
          </a:prstGeom>
          <a:noFill/>
        </p:spPr>
        <p:txBody>
          <a:bodyPr wrap="square" anchor="ctr" lIns="73152" rIns="73152" tIns="27432" bIns="27432">
            <a:spAutoFit/>
          </a:bodyPr>
          <a:lstStyle/>
          <a:p>
            <a:pPr algn="r">
              <a:spcAft>
                <a:spcPts val="400"/>
              </a:spcAft>
            </a:pPr>
            <a:r>
              <a:rPr sz="1100" b="0">
                <a:solidFill>
                  <a:srgbClr val="1A1A1A"/>
                </a:solidFill>
                <a:latin typeface="Times New Roman"/>
              </a:rPr>
              <a:t>7</a:t>
            </a:r>
          </a:p>
        </p:txBody>
      </p:sp>
      <p:sp>
        <p:nvSpPr>
          <p:cNvPr id="6" name="Rectangle 5"/>
          <p:cNvSpPr/>
          <p:nvPr/>
        </p:nvSpPr>
        <p:spPr>
          <a:xfrm>
            <a:off x="457200" y="2103120"/>
            <a:ext cx="4206240" cy="411480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130551"/>
            <a:ext cx="4114800" cy="4069080"/>
          </a:xfrm>
          <a:prstGeom prst="rect">
            <a:avLst/>
          </a:prstGeom>
          <a:noFill/>
        </p:spPr>
        <p:txBody>
          <a:bodyPr wrap="square" anchor="t" lIns="73152" rIns="73152" tIns="27432" bIns="27432">
            <a:spAutoFit/>
          </a:bodyPr>
          <a:lstStyle/>
          <a:p>
            <a:pPr algn="l">
              <a:spcAft>
                <a:spcPts val="500"/>
              </a:spcAft>
            </a:pPr>
            <a:r>
              <a:rPr sz="1200" b="1">
                <a:solidFill>
                  <a:srgbClr val="1A1A1A"/>
                </a:solidFill>
                <a:latin typeface="Times New Roman"/>
              </a:rPr>
              <a:t>PROMPT (P2), ONE RESPONDENT-ITEM PAIR</a:t>
            </a:r>
          </a:p>
          <a:p>
            <a:pPr algn="l">
              <a:spcAft>
                <a:spcPts val="500"/>
              </a:spcAft>
            </a:pPr>
            <a:r>
              <a:rPr sz="1200" b="0">
                <a:solidFill>
                  <a:srgbClr val="1A1A1A"/>
                </a:solidFill>
                <a:latin typeface="Times New Roman"/>
              </a:rPr>
              <a:t>You are a survey respondent with the following demographic profile: Sex: Female. Age: 35-44. Married. Education: literate, no formal schooling. Income: Rs. 10,000 and below. Religion: Hindu. Rural. Region: East. Caste: OBC.</a:t>
            </a:r>
          </a:p>
          <a:p>
            <a:pPr algn="l">
              <a:spcAft>
                <a:spcPts val="500"/>
              </a:spcAft>
            </a:pPr>
            <a:r>
              <a:rPr sz="1200" b="0">
                <a:solidFill>
                  <a:srgbClr val="1A1A1A"/>
                </a:solidFill>
                <a:latin typeface="Times New Roman"/>
              </a:rPr>
              <a:t>As this person, answer the following survey question.</a:t>
            </a:r>
          </a:p>
          <a:p>
            <a:pPr algn="l">
              <a:spcAft>
                <a:spcPts val="500"/>
              </a:spcAft>
            </a:pPr>
            <a:r>
              <a:rPr sz="1200" b="0">
                <a:solidFill>
                  <a:srgbClr val="1A1A1A"/>
                </a:solidFill>
                <a:latin typeface="Times New Roman"/>
              </a:rPr>
              <a:t>Question: How much influence should politicians have in religious matters?</a:t>
            </a:r>
          </a:p>
          <a:p>
            <a:pPr algn="l">
              <a:spcAft>
                <a:spcPts val="500"/>
              </a:spcAft>
            </a:pPr>
            <a:r>
              <a:rPr sz="1200" b="0">
                <a:solidFill>
                  <a:srgbClr val="1A1A1A"/>
                </a:solidFill>
                <a:latin typeface="Times New Roman"/>
              </a:rPr>
              <a:t>Options: 1. A large influence  2. Some influence  3. Not too much influence  4. No influence at all</a:t>
            </a:r>
          </a:p>
          <a:p>
            <a:pPr algn="l">
              <a:spcAft>
                <a:spcPts val="500"/>
              </a:spcAft>
            </a:pPr>
            <a:r>
              <a:rPr sz="1200" b="0">
                <a:solidFill>
                  <a:srgbClr val="1A1A1A"/>
                </a:solidFill>
                <a:latin typeface="Times New Roman"/>
              </a:rPr>
              <a:t>Respond with exactly one character: 1/2/3/4. No words, no explanation, just that single digit.</a:t>
            </a:r>
          </a:p>
        </p:txBody>
      </p:sp>
      <p:sp>
        <p:nvSpPr>
          <p:cNvPr id="8" name="Rectangle 7"/>
          <p:cNvSpPr/>
          <p:nvPr/>
        </p:nvSpPr>
        <p:spPr>
          <a:xfrm>
            <a:off x="4846320" y="2103120"/>
            <a:ext cx="3840480" cy="411480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46320" y="2103120"/>
            <a:ext cx="384048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01183" y="2112263"/>
            <a:ext cx="373075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STACK AND INFRASTRUCTURE</a:t>
            </a:r>
          </a:p>
        </p:txBody>
      </p:sp>
      <p:sp>
        <p:nvSpPr>
          <p:cNvPr id="11" name="TextBox 10"/>
          <p:cNvSpPr txBox="1"/>
          <p:nvPr/>
        </p:nvSpPr>
        <p:spPr>
          <a:xfrm>
            <a:off x="4919472" y="2468879"/>
            <a:ext cx="3694176" cy="3703320"/>
          </a:xfrm>
          <a:prstGeom prst="rect">
            <a:avLst/>
          </a:prstGeom>
          <a:noFill/>
        </p:spPr>
        <p:txBody>
          <a:bodyPr wrap="square" anchor="t" lIns="73152" rIns="73152" tIns="27432" bIns="27432">
            <a:spAutoFit/>
          </a:bodyPr>
          <a:lstStyle/>
          <a:p>
            <a:pPr algn="l">
              <a:spcAft>
                <a:spcPts val="300"/>
              </a:spcAft>
            </a:pPr>
            <a:r>
              <a:rPr sz="1300" b="0">
                <a:solidFill>
                  <a:srgbClr val="1A1A1A"/>
                </a:solidFill>
                <a:latin typeface="Times New Roman"/>
              </a:rPr>
              <a:t>•  </a:t>
            </a:r>
            <a:r>
              <a:rPr sz="1300" b="0">
                <a:solidFill>
                  <a:srgbClr val="1A1A1A"/>
                </a:solidFill>
                <a:latin typeface="Times New Roman"/>
              </a:rPr>
              <a:t>Python: pandas, scikit-learn (baselines)</a:t>
            </a:r>
          </a:p>
          <a:p>
            <a:pPr algn="l">
              <a:spcAft>
                <a:spcPts val="300"/>
              </a:spcAft>
            </a:pPr>
            <a:r>
              <a:rPr sz="1300" b="0">
                <a:solidFill>
                  <a:srgbClr val="1A1A1A"/>
                </a:solidFill>
                <a:latin typeface="Times New Roman"/>
              </a:rPr>
              <a:t>•  </a:t>
            </a:r>
            <a:r>
              <a:rPr sz="1300" b="0">
                <a:solidFill>
                  <a:srgbClr val="1A1A1A"/>
                </a:solidFill>
                <a:latin typeface="Times New Roman"/>
              </a:rPr>
              <a:t>Hugging Face + PEFT + bitsandbytes: QLoRA</a:t>
            </a:r>
          </a:p>
          <a:p>
            <a:pPr algn="l">
              <a:spcAft>
                <a:spcPts val="300"/>
              </a:spcAft>
            </a:pPr>
            <a:r>
              <a:rPr sz="1300" b="0">
                <a:solidFill>
                  <a:srgbClr val="1A1A1A"/>
                </a:solidFill>
                <a:latin typeface="Times New Roman"/>
              </a:rPr>
              <a:t>•  </a:t>
            </a:r>
            <a:r>
              <a:rPr sz="1300" b="0">
                <a:solidFill>
                  <a:srgbClr val="1A1A1A"/>
                </a:solidFill>
                <a:latin typeface="Times New Roman"/>
              </a:rPr>
              <a:t>MLX on Apple M1 (16 GB): local 4-bit inference</a:t>
            </a:r>
          </a:p>
          <a:p>
            <a:pPr algn="l">
              <a:spcAft>
                <a:spcPts val="300"/>
              </a:spcAft>
            </a:pPr>
            <a:r>
              <a:rPr sz="1300" b="0">
                <a:solidFill>
                  <a:srgbClr val="1A1A1A"/>
                </a:solidFill>
                <a:latin typeface="Times New Roman"/>
              </a:rPr>
              <a:t>•  </a:t>
            </a:r>
            <a:r>
              <a:rPr sz="1300" b="0">
                <a:solidFill>
                  <a:srgbClr val="1A1A1A"/>
                </a:solidFill>
                <a:latin typeface="Times New Roman"/>
              </a:rPr>
              <a:t>Kaggle 2 x T4: full-fold scoring</a:t>
            </a:r>
          </a:p>
          <a:p>
            <a:pPr algn="l">
              <a:spcAft>
                <a:spcPts val="300"/>
              </a:spcAft>
            </a:pPr>
            <a:r>
              <a:rPr sz="1300" b="0">
                <a:solidFill>
                  <a:srgbClr val="1A1A1A"/>
                </a:solidFill>
                <a:latin typeface="Times New Roman"/>
              </a:rPr>
              <a:t>•  </a:t>
            </a:r>
            <a:r>
              <a:rPr sz="1300" b="0">
                <a:solidFill>
                  <a:srgbClr val="1A1A1A"/>
                </a:solidFill>
                <a:latin typeface="Times New Roman"/>
              </a:rPr>
              <a:t>Free APIs: gpt-oss-120b (Groq), Gemini</a:t>
            </a:r>
          </a:p>
          <a:p>
            <a:pPr algn="l">
              <a:spcAft>
                <a:spcPts val="300"/>
              </a:spcAft>
            </a:pPr>
            <a:r>
              <a:rPr sz="1300" b="0">
                <a:solidFill>
                  <a:srgbClr val="1A1A1A"/>
                </a:solidFill>
                <a:latin typeface="Times New Roman"/>
              </a:rPr>
              <a:t>•  </a:t>
            </a:r>
            <a:r>
              <a:rPr sz="1300" b="0">
                <a:solidFill>
                  <a:srgbClr val="1A1A1A"/>
                </a:solidFill>
                <a:latin typeface="Times New Roman"/>
              </a:rPr>
              <a:t>Caching and resume on every call</a:t>
            </a:r>
          </a:p>
          <a:p>
            <a:pPr algn="l">
              <a:spcAft>
                <a:spcPts val="300"/>
              </a:spcAft>
            </a:pPr>
            <a:r>
              <a:rPr sz="1300" b="0">
                <a:solidFill>
                  <a:srgbClr val="1A1A1A"/>
                </a:solidFill>
                <a:latin typeface="Times New Roman"/>
              </a:rPr>
              <a:t>•  </a:t>
            </a:r>
            <a:r>
              <a:rPr sz="1300" b="0">
                <a:solidFill>
                  <a:srgbClr val="1A1A1A"/>
                </a:solidFill>
                <a:latin typeface="Times New Roman"/>
              </a:rPr>
              <a:t>All code and prompts on GitHub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371600"/>
            <a:ext cx="8229600" cy="548640"/>
          </a:xfrm>
        </p:spPr>
        <p:txBody>
          <a:bodyPr anchor="ctr"/>
          <a:lstStyle/>
          <a:p>
            <a:pPr algn="l"/>
            <a:r>
              <a:rPr sz="2400" b="1">
                <a:solidFill>
                  <a:srgbClr val="1A1A1A"/>
                </a:solidFill>
                <a:latin typeface="Times New Roman"/>
              </a:rPr>
              <a:t>Demo: one respondent, one question, three predictors</a:t>
            </a:r>
          </a:p>
        </p:txBody>
      </p:sp>
      <p:sp>
        <p:nvSpPr>
          <p:cNvPr id="3" name="Rectangle 2"/>
          <p:cNvSpPr/>
          <p:nvPr/>
        </p:nvSpPr>
        <p:spPr>
          <a:xfrm>
            <a:off x="457200" y="1938528"/>
            <a:ext cx="8229600" cy="3657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6373368"/>
            <a:ext cx="5120640" cy="292608"/>
          </a:xfrm>
          <a:prstGeom prst="rect">
            <a:avLst/>
          </a:prstGeom>
          <a:noFill/>
        </p:spPr>
        <p:txBody>
          <a:bodyPr wrap="square" anchor="ctr" lIns="73152" rIns="73152" tIns="27432" bIns="27432">
            <a:spAutoFit/>
          </a:bodyPr>
          <a:lstStyle/>
          <a:p>
            <a:pPr algn="ctr">
              <a:spcAft>
                <a:spcPts val="400"/>
              </a:spcAft>
            </a:pPr>
            <a:r>
              <a:rPr sz="1050" b="0">
                <a:solidFill>
                  <a:srgbClr val="1A1A1A"/>
                </a:solidFill>
                <a:latin typeface="Times New Roman"/>
              </a:rPr>
              <a:t>Computer Engineering Department, MPSTME, Mumbai Campus  |  Group 55</a:t>
            </a:r>
          </a:p>
        </p:txBody>
      </p:sp>
      <p:sp>
        <p:nvSpPr>
          <p:cNvPr id="5" name="TextBox 4"/>
          <p:cNvSpPr txBox="1"/>
          <p:nvPr/>
        </p:nvSpPr>
        <p:spPr>
          <a:xfrm>
            <a:off x="7589520" y="6373368"/>
            <a:ext cx="1097280" cy="292608"/>
          </a:xfrm>
          <a:prstGeom prst="rect">
            <a:avLst/>
          </a:prstGeom>
          <a:noFill/>
        </p:spPr>
        <p:txBody>
          <a:bodyPr wrap="square" anchor="ctr" lIns="73152" rIns="73152" tIns="27432" bIns="27432">
            <a:spAutoFit/>
          </a:bodyPr>
          <a:lstStyle/>
          <a:p>
            <a:pPr algn="r">
              <a:spcAft>
                <a:spcPts val="400"/>
              </a:spcAft>
            </a:pPr>
            <a:r>
              <a:rPr sz="1100" b="0">
                <a:solidFill>
                  <a:srgbClr val="1A1A1A"/>
                </a:solidFill>
                <a:latin typeface="Times New Roman"/>
              </a:rPr>
              <a:t>8</a:t>
            </a:r>
          </a:p>
        </p:txBody>
      </p:sp>
      <p:pic>
        <p:nvPicPr>
          <p:cNvPr id="6" name="Picture 5" descr="c_demo.png"/>
          <p:cNvPicPr>
            <a:picLocks noChangeAspect="1"/>
          </p:cNvPicPr>
          <p:nvPr/>
        </p:nvPicPr>
        <p:blipFill>
          <a:blip r:embed="rId3"/>
          <a:stretch>
            <a:fillRect/>
          </a:stretch>
        </p:blipFill>
        <p:spPr>
          <a:xfrm>
            <a:off x="457200" y="2286000"/>
            <a:ext cx="5029200" cy="2743200"/>
          </a:xfrm>
          <a:prstGeom prst="rect">
            <a:avLst/>
          </a:prstGeom>
        </p:spPr>
      </p:pic>
      <p:sp>
        <p:nvSpPr>
          <p:cNvPr id="7" name="Rectangle 6"/>
          <p:cNvSpPr/>
          <p:nvPr/>
        </p:nvSpPr>
        <p:spPr>
          <a:xfrm>
            <a:off x="5623560" y="2103120"/>
            <a:ext cx="3063240" cy="411480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23560" y="2103120"/>
            <a:ext cx="306324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78424" y="2112263"/>
            <a:ext cx="295351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HOW TO READ THIS ROW</a:t>
            </a:r>
          </a:p>
        </p:txBody>
      </p:sp>
      <p:sp>
        <p:nvSpPr>
          <p:cNvPr id="10" name="TextBox 9"/>
          <p:cNvSpPr txBox="1"/>
          <p:nvPr/>
        </p:nvSpPr>
        <p:spPr>
          <a:xfrm>
            <a:off x="5696712" y="2468879"/>
            <a:ext cx="2916936" cy="3703320"/>
          </a:xfrm>
          <a:prstGeom prst="rect">
            <a:avLst/>
          </a:prstGeom>
          <a:noFill/>
        </p:spPr>
        <p:txBody>
          <a:bodyPr wrap="square" anchor="t" lIns="73152" rIns="73152" tIns="27432" bIns="27432">
            <a:spAutoFit/>
          </a:bodyPr>
          <a:lstStyle/>
          <a:p>
            <a:pPr algn="l">
              <a:spcAft>
                <a:spcPts val="300"/>
              </a:spcAft>
            </a:pPr>
            <a:r>
              <a:rPr sz="1200" b="0">
                <a:solidFill>
                  <a:srgbClr val="1A1A1A"/>
                </a:solidFill>
                <a:latin typeface="Times New Roman"/>
              </a:rPr>
              <a:t>•  </a:t>
            </a:r>
            <a:r>
              <a:rPr sz="1200" b="0">
                <a:solidFill>
                  <a:srgbClr val="1A1A1A"/>
                </a:solidFill>
                <a:latin typeface="Times New Roman"/>
              </a:rPr>
              <a:t>Respondent 27684: rural Hindu woman, 35-44, OBC, East.</a:t>
            </a:r>
          </a:p>
          <a:p>
            <a:pPr algn="l">
              <a:spcAft>
                <a:spcPts val="300"/>
              </a:spcAft>
            </a:pPr>
            <a:r>
              <a:rPr sz="1200" b="0">
                <a:solidFill>
                  <a:srgbClr val="1A1A1A"/>
                </a:solidFill>
                <a:latin typeface="Times New Roman"/>
              </a:rPr>
              <a:t>•  </a:t>
            </a:r>
            <a:r>
              <a:rPr sz="1200" b="0">
                <a:solidFill>
                  <a:srgbClr val="1A1A1A"/>
                </a:solidFill>
                <a:latin typeface="Times New Roman"/>
              </a:rPr>
              <a:t>True answer: 1, A large influence.</a:t>
            </a:r>
          </a:p>
          <a:p>
            <a:pPr algn="l">
              <a:spcAft>
                <a:spcPts val="300"/>
              </a:spcAft>
            </a:pPr>
            <a:r>
              <a:rPr sz="1200" b="0">
                <a:solidFill>
                  <a:srgbClr val="1A1A1A"/>
                </a:solidFill>
                <a:latin typeface="Times New Roman"/>
              </a:rPr>
              <a:t>•  </a:t>
            </a:r>
            <a:r>
              <a:rPr sz="1200" b="0">
                <a:solidFill>
                  <a:srgbClr val="1A1A1A"/>
                </a:solidFill>
                <a:latin typeface="Times New Roman"/>
              </a:rPr>
              <a:t>Zero-shot: 77% on option 3. Confident and wrong.</a:t>
            </a:r>
          </a:p>
          <a:p>
            <a:pPr algn="l">
              <a:spcAft>
                <a:spcPts val="300"/>
              </a:spcAft>
            </a:pPr>
            <a:r>
              <a:rPr sz="1200" b="0">
                <a:solidFill>
                  <a:srgbClr val="1A1A1A"/>
                </a:solidFill>
                <a:latin typeface="Times New Roman"/>
              </a:rPr>
              <a:t>•  </a:t>
            </a:r>
            <a:r>
              <a:rPr sz="1200" b="0">
                <a:solidFill>
                  <a:srgbClr val="1A1A1A"/>
                </a:solidFill>
                <a:latin typeface="Times New Roman"/>
              </a:rPr>
              <a:t>Fine-tuned: spread over 1-4, top choice 2 (wrong).</a:t>
            </a:r>
          </a:p>
          <a:p>
            <a:pPr algn="l">
              <a:spcAft>
                <a:spcPts val="300"/>
              </a:spcAft>
            </a:pPr>
            <a:r>
              <a:rPr sz="1200" b="0">
                <a:solidFill>
                  <a:srgbClr val="1A1A1A"/>
                </a:solidFill>
                <a:latin typeface="Times New Roman"/>
              </a:rPr>
              <a:t>•  </a:t>
            </a:r>
            <a:r>
              <a:rPr sz="1200" b="0">
                <a:solidFill>
                  <a:srgbClr val="1A1A1A"/>
                </a:solidFill>
                <a:latin typeface="Times New Roman"/>
              </a:rPr>
              <a:t>Gradient boosting: 49% on option 1 (right).</a:t>
            </a:r>
          </a:p>
          <a:p>
            <a:pPr algn="l">
              <a:spcAft>
                <a:spcPts val="300"/>
              </a:spcAft>
            </a:pPr>
            <a:r>
              <a:rPr sz="1200" b="0">
                <a:solidFill>
                  <a:srgbClr val="1A1A1A"/>
                </a:solidFill>
                <a:latin typeface="Times New Roman"/>
              </a:rPr>
              <a:t>•  </a:t>
            </a:r>
            <a:r>
              <a:rPr sz="1200" b="0">
                <a:solidFill>
                  <a:srgbClr val="1A1A1A"/>
                </a:solidFill>
                <a:latin typeface="Times New Roman"/>
              </a:rPr>
              <a:t>Randomly drawn row, shown as is.</a:t>
            </a:r>
          </a:p>
        </p:txBody>
      </p:sp>
      <p:sp>
        <p:nvSpPr>
          <p:cNvPr id="11" name="TextBox 10"/>
          <p:cNvSpPr txBox="1"/>
          <p:nvPr/>
        </p:nvSpPr>
        <p:spPr>
          <a:xfrm>
            <a:off x="457200" y="5212080"/>
            <a:ext cx="5029200" cy="1005840"/>
          </a:xfrm>
          <a:prstGeom prst="rect">
            <a:avLst/>
          </a:prstGeom>
          <a:noFill/>
        </p:spPr>
        <p:txBody>
          <a:bodyPr wrap="square" anchor="t" lIns="73152" rIns="73152" tIns="27432" bIns="27432">
            <a:spAutoFit/>
          </a:bodyPr>
          <a:lstStyle/>
          <a:p>
            <a:pPr algn="l">
              <a:spcAft>
                <a:spcPts val="400"/>
              </a:spcAft>
            </a:pPr>
            <a:r>
              <a:rPr sz="1200" b="0">
                <a:solidFill>
                  <a:srgbClr val="555555"/>
                </a:solidFill>
                <a:latin typeface="Times New Roman"/>
              </a:rPr>
              <a:t>Live demo: build the prompt for any respondent-item pair, run the model, and plot the probability bars.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371600"/>
            <a:ext cx="8229600" cy="548640"/>
          </a:xfrm>
        </p:spPr>
        <p:txBody>
          <a:bodyPr anchor="ctr"/>
          <a:lstStyle/>
          <a:p>
            <a:pPr algn="l"/>
            <a:r>
              <a:rPr sz="2400" b="1">
                <a:solidFill>
                  <a:srgbClr val="1A1A1A"/>
                </a:solidFill>
                <a:latin typeface="Times New Roman"/>
              </a:rPr>
              <a:t>Result 1: zero-shot uses the profile heavily, but not usefully</a:t>
            </a:r>
          </a:p>
        </p:txBody>
      </p:sp>
      <p:sp>
        <p:nvSpPr>
          <p:cNvPr id="3" name="Rectangle 2"/>
          <p:cNvSpPr/>
          <p:nvPr/>
        </p:nvSpPr>
        <p:spPr>
          <a:xfrm>
            <a:off x="457200" y="1938528"/>
            <a:ext cx="8229600" cy="3657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6373368"/>
            <a:ext cx="5120640" cy="292608"/>
          </a:xfrm>
          <a:prstGeom prst="rect">
            <a:avLst/>
          </a:prstGeom>
          <a:noFill/>
        </p:spPr>
        <p:txBody>
          <a:bodyPr wrap="square" anchor="ctr" lIns="73152" rIns="73152" tIns="27432" bIns="27432">
            <a:spAutoFit/>
          </a:bodyPr>
          <a:lstStyle/>
          <a:p>
            <a:pPr algn="ctr">
              <a:spcAft>
                <a:spcPts val="400"/>
              </a:spcAft>
            </a:pPr>
            <a:r>
              <a:rPr sz="1050" b="0">
                <a:solidFill>
                  <a:srgbClr val="1A1A1A"/>
                </a:solidFill>
                <a:latin typeface="Times New Roman"/>
              </a:rPr>
              <a:t>Computer Engineering Department, MPSTME, Mumbai Campus  |  Group 55</a:t>
            </a:r>
          </a:p>
        </p:txBody>
      </p:sp>
      <p:sp>
        <p:nvSpPr>
          <p:cNvPr id="5" name="TextBox 4"/>
          <p:cNvSpPr txBox="1"/>
          <p:nvPr/>
        </p:nvSpPr>
        <p:spPr>
          <a:xfrm>
            <a:off x="7589520" y="6373368"/>
            <a:ext cx="1097280" cy="292608"/>
          </a:xfrm>
          <a:prstGeom prst="rect">
            <a:avLst/>
          </a:prstGeom>
          <a:noFill/>
        </p:spPr>
        <p:txBody>
          <a:bodyPr wrap="square" anchor="ctr" lIns="73152" rIns="73152" tIns="27432" bIns="27432">
            <a:spAutoFit/>
          </a:bodyPr>
          <a:lstStyle/>
          <a:p>
            <a:pPr algn="r">
              <a:spcAft>
                <a:spcPts val="400"/>
              </a:spcAft>
            </a:pPr>
            <a:r>
              <a:rPr sz="1100" b="0">
                <a:solidFill>
                  <a:srgbClr val="1A1A1A"/>
                </a:solidFill>
                <a:latin typeface="Times New Roman"/>
              </a:rPr>
              <a:t>9</a:t>
            </a:r>
          </a:p>
        </p:txBody>
      </p:sp>
      <p:pic>
        <p:nvPicPr>
          <p:cNvPr id="6" name="Picture 5" descr="c_subset.png"/>
          <p:cNvPicPr>
            <a:picLocks noChangeAspect="1"/>
          </p:cNvPicPr>
          <p:nvPr/>
        </p:nvPicPr>
        <p:blipFill>
          <a:blip r:embed="rId3"/>
          <a:stretch>
            <a:fillRect/>
          </a:stretch>
        </p:blipFill>
        <p:spPr>
          <a:xfrm>
            <a:off x="457200" y="2194560"/>
            <a:ext cx="5029200" cy="2828925"/>
          </a:xfrm>
          <a:prstGeom prst="rect">
            <a:avLst/>
          </a:prstGeom>
        </p:spPr>
      </p:pic>
      <p:sp>
        <p:nvSpPr>
          <p:cNvPr id="7" name="Rectangle 6"/>
          <p:cNvSpPr/>
          <p:nvPr/>
        </p:nvSpPr>
        <p:spPr>
          <a:xfrm>
            <a:off x="5623560" y="2103120"/>
            <a:ext cx="3063240" cy="411480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23560" y="2103120"/>
            <a:ext cx="306324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78424" y="2112263"/>
            <a:ext cx="295351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KEY NUMBERS</a:t>
            </a:r>
          </a:p>
        </p:txBody>
      </p:sp>
      <p:sp>
        <p:nvSpPr>
          <p:cNvPr id="10" name="TextBox 9"/>
          <p:cNvSpPr txBox="1"/>
          <p:nvPr/>
        </p:nvSpPr>
        <p:spPr>
          <a:xfrm>
            <a:off x="5696712" y="2468879"/>
            <a:ext cx="2916936" cy="3703320"/>
          </a:xfrm>
          <a:prstGeom prst="rect">
            <a:avLst/>
          </a:prstGeom>
          <a:noFill/>
        </p:spPr>
        <p:txBody>
          <a:bodyPr wrap="square" anchor="t" lIns="73152" rIns="73152" tIns="27432" bIns="27432">
            <a:spAutoFit/>
          </a:bodyPr>
          <a:lstStyle/>
          <a:p>
            <a:pPr algn="l">
              <a:spcAft>
                <a:spcPts val="300"/>
              </a:spcAft>
            </a:pPr>
            <a:r>
              <a:rPr sz="1250" b="0">
                <a:solidFill>
                  <a:srgbClr val="1A1A1A"/>
                </a:solidFill>
                <a:latin typeface="Times New Roman"/>
              </a:rPr>
              <a:t>•  </a:t>
            </a:r>
            <a:r>
              <a:rPr sz="1250" b="0">
                <a:solidFill>
                  <a:srgbClr val="1A1A1A"/>
                </a:solidFill>
                <a:latin typeface="Times New Roman"/>
              </a:rPr>
              <a:t>Zero-shot 17.5% vs 30.2% majority (chance 19.4%)</a:t>
            </a:r>
          </a:p>
          <a:p>
            <a:pPr algn="l">
              <a:spcAft>
                <a:spcPts val="300"/>
              </a:spcAft>
            </a:pPr>
            <a:r>
              <a:rPr sz="1250" b="0">
                <a:solidFill>
                  <a:srgbClr val="1A1A1A"/>
                </a:solidFill>
                <a:latin typeface="Times New Roman"/>
              </a:rPr>
              <a:t>•  </a:t>
            </a:r>
            <a:r>
              <a:rPr sz="1250" b="0">
                <a:solidFill>
                  <a:srgbClr val="1A1A1A"/>
                </a:solidFill>
                <a:latin typeface="Times New Roman"/>
              </a:rPr>
              <a:t>No profile: 21.1%; the profile lowers accuracy by 3.6 points</a:t>
            </a:r>
          </a:p>
          <a:p>
            <a:pPr algn="l">
              <a:spcAft>
                <a:spcPts val="300"/>
              </a:spcAft>
            </a:pPr>
            <a:r>
              <a:rPr sz="1250" b="0">
                <a:solidFill>
                  <a:srgbClr val="1A1A1A"/>
                </a:solidFill>
                <a:latin typeface="Times New Roman"/>
              </a:rPr>
              <a:t>•  </a:t>
            </a:r>
            <a:r>
              <a:rPr sz="1250" b="0">
                <a:solidFill>
                  <a:srgbClr val="1A1A1A"/>
                </a:solidFill>
                <a:latin typeface="Times New Roman"/>
              </a:rPr>
              <a:t>Profile explains 29% of variance vs 4% in real answers</a:t>
            </a:r>
          </a:p>
          <a:p>
            <a:pPr algn="l">
              <a:spcAft>
                <a:spcPts val="300"/>
              </a:spcAft>
            </a:pPr>
            <a:r>
              <a:rPr sz="1250" b="0">
                <a:solidFill>
                  <a:srgbClr val="1A1A1A"/>
                </a:solidFill>
                <a:latin typeface="Times New Roman"/>
              </a:rPr>
              <a:t>•  </a:t>
            </a:r>
            <a:r>
              <a:rPr sz="1250" b="0">
                <a:solidFill>
                  <a:srgbClr val="1A1A1A"/>
                </a:solidFill>
                <a:latin typeface="Times New Roman"/>
              </a:rPr>
              <a:t>Direction r = 0.22, slope 0.18</a:t>
            </a:r>
          </a:p>
          <a:p>
            <a:pPr algn="l">
              <a:spcAft>
                <a:spcPts val="300"/>
              </a:spcAft>
            </a:pPr>
            <a:r>
              <a:rPr sz="1250" b="0">
                <a:solidFill>
                  <a:srgbClr val="1A1A1A"/>
                </a:solidFill>
                <a:latin typeface="Times New Roman"/>
              </a:rPr>
              <a:t>•  </a:t>
            </a:r>
            <a:r>
              <a:rPr sz="1250" b="0">
                <a:solidFill>
                  <a:srgbClr val="1A1A1A"/>
                </a:solidFill>
                <a:latin typeface="Times New Roman"/>
              </a:rPr>
              <a:t>Full fold: 16.1% (chat), 18.0% (raw)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371600"/>
            <a:ext cx="8229600" cy="548640"/>
          </a:xfrm>
        </p:spPr>
        <p:txBody>
          <a:bodyPr anchor="ctr"/>
          <a:lstStyle/>
          <a:p>
            <a:pPr algn="l"/>
            <a:r>
              <a:rPr sz="2300" b="1">
                <a:solidFill>
                  <a:srgbClr val="1A1A1A"/>
                </a:solidFill>
                <a:latin typeface="Times New Roman"/>
              </a:rPr>
              <a:t>Result 2: fine-tuning closes most of the gap to the best classifier</a:t>
            </a:r>
          </a:p>
        </p:txBody>
      </p:sp>
      <p:sp>
        <p:nvSpPr>
          <p:cNvPr id="3" name="Rectangle 2"/>
          <p:cNvSpPr/>
          <p:nvPr/>
        </p:nvSpPr>
        <p:spPr>
          <a:xfrm>
            <a:off x="457200" y="1938528"/>
            <a:ext cx="8229600" cy="3657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6373368"/>
            <a:ext cx="5120640" cy="292608"/>
          </a:xfrm>
          <a:prstGeom prst="rect">
            <a:avLst/>
          </a:prstGeom>
          <a:noFill/>
        </p:spPr>
        <p:txBody>
          <a:bodyPr wrap="square" anchor="ctr" lIns="73152" rIns="73152" tIns="27432" bIns="27432">
            <a:spAutoFit/>
          </a:bodyPr>
          <a:lstStyle/>
          <a:p>
            <a:pPr algn="ctr">
              <a:spcAft>
                <a:spcPts val="400"/>
              </a:spcAft>
            </a:pPr>
            <a:r>
              <a:rPr sz="1050" b="0">
                <a:solidFill>
                  <a:srgbClr val="1A1A1A"/>
                </a:solidFill>
                <a:latin typeface="Times New Roman"/>
              </a:rPr>
              <a:t>Computer Engineering Department, MPSTME, Mumbai Campus  |  Group 55</a:t>
            </a:r>
          </a:p>
        </p:txBody>
      </p:sp>
      <p:sp>
        <p:nvSpPr>
          <p:cNvPr id="5" name="TextBox 4"/>
          <p:cNvSpPr txBox="1"/>
          <p:nvPr/>
        </p:nvSpPr>
        <p:spPr>
          <a:xfrm>
            <a:off x="7589520" y="6373368"/>
            <a:ext cx="1097280" cy="292608"/>
          </a:xfrm>
          <a:prstGeom prst="rect">
            <a:avLst/>
          </a:prstGeom>
          <a:noFill/>
        </p:spPr>
        <p:txBody>
          <a:bodyPr wrap="square" anchor="ctr" lIns="73152" rIns="73152" tIns="27432" bIns="27432">
            <a:spAutoFit/>
          </a:bodyPr>
          <a:lstStyle/>
          <a:p>
            <a:pPr algn="r">
              <a:spcAft>
                <a:spcPts val="400"/>
              </a:spcAft>
            </a:pPr>
            <a:r>
              <a:rPr sz="1100" b="0">
                <a:solidFill>
                  <a:srgbClr val="1A1A1A"/>
                </a:solidFill>
                <a:latin typeface="Times New Roman"/>
              </a:rPr>
              <a:t>10</a:t>
            </a:r>
          </a:p>
        </p:txBody>
      </p:sp>
      <p:pic>
        <p:nvPicPr>
          <p:cNvPr id="6" name="Picture 5" descr="c_fold0.png"/>
          <p:cNvPicPr>
            <a:picLocks noChangeAspect="1"/>
          </p:cNvPicPr>
          <p:nvPr/>
        </p:nvPicPr>
        <p:blipFill>
          <a:blip r:embed="rId3"/>
          <a:stretch>
            <a:fillRect/>
          </a:stretch>
        </p:blipFill>
        <p:spPr>
          <a:xfrm>
            <a:off x="457200" y="2194560"/>
            <a:ext cx="4937760" cy="2777490"/>
          </a:xfrm>
          <a:prstGeom prst="rect">
            <a:avLst/>
          </a:prstGeom>
        </p:spPr>
      </p:pic>
      <p:graphicFrame>
        <p:nvGraphicFramePr>
          <p:cNvPr id="7" name="Table 6"/>
          <p:cNvGraphicFramePr>
            <a:graphicFrameLocks noGrp="1"/>
          </p:cNvGraphicFramePr>
          <p:nvPr/>
        </p:nvGraphicFramePr>
        <p:xfrm>
          <a:off x="5532120" y="2103120"/>
          <a:ext cx="3154680" cy="1975104"/>
        </p:xfrm>
        <a:graphic>
          <a:graphicData uri="http://schemas.openxmlformats.org/drawingml/2006/table">
            <a:tbl>
              <a:tblPr firstRow="1" bandRow="1">
                <a:tableStyleId>{5C22544A-7EE6-4342-B048-85BDC9FD1C3A}</a:tableStyleId>
              </a:tblPr>
              <a:tblGrid>
                <a:gridCol w="1097280"/>
                <a:gridCol w="640080"/>
                <a:gridCol w="640080"/>
                <a:gridCol w="777240"/>
              </a:tblGrid>
              <a:tr h="329184">
                <a:tc>
                  <a:txBody>
                    <a:bodyPr/>
                    <a:lstStyle/>
                    <a:p>
                      <a:pPr algn="l"/>
                      <a:r>
                        <a:rPr sz="1100" b="1">
                          <a:solidFill>
                            <a:srgbClr val="FFFFFF"/>
                          </a:solidFill>
                          <a:latin typeface="Times New Roman"/>
                        </a:rPr>
                        <a:t>Method</a:t>
                      </a:r>
                    </a:p>
                  </a:txBody>
                  <a:tcPr anchor="ctr" marL="45720" marR="45720" marT="18288" marB="18288">
                    <a:solidFill>
                      <a:srgbClr val="BC312C"/>
                    </a:solidFill>
                  </a:tcPr>
                </a:tc>
                <a:tc>
                  <a:txBody>
                    <a:bodyPr/>
                    <a:lstStyle/>
                    <a:p>
                      <a:pPr algn="ctr"/>
                      <a:r>
                        <a:rPr sz="1100" b="1">
                          <a:solidFill>
                            <a:srgbClr val="FFFFFF"/>
                          </a:solidFill>
                          <a:latin typeface="Times New Roman"/>
                        </a:rPr>
                        <a:t>Acc.</a:t>
                      </a:r>
                    </a:p>
                  </a:txBody>
                  <a:tcPr anchor="ctr" marL="45720" marR="45720" marT="18288" marB="18288">
                    <a:solidFill>
                      <a:srgbClr val="BC312C"/>
                    </a:solidFill>
                  </a:tcPr>
                </a:tc>
                <a:tc>
                  <a:txBody>
                    <a:bodyPr/>
                    <a:lstStyle/>
                    <a:p>
                      <a:pPr algn="ctr"/>
                      <a:r>
                        <a:rPr sz="1100" b="1">
                          <a:solidFill>
                            <a:srgbClr val="FFFFFF"/>
                          </a:solidFill>
                          <a:latin typeface="Times New Roman"/>
                        </a:rPr>
                        <a:t>NLL</a:t>
                      </a:r>
                    </a:p>
                  </a:txBody>
                  <a:tcPr anchor="ctr" marL="45720" marR="45720" marT="18288" marB="18288">
                    <a:solidFill>
                      <a:srgbClr val="BC312C"/>
                    </a:solidFill>
                  </a:tcPr>
                </a:tc>
                <a:tc>
                  <a:txBody>
                    <a:bodyPr/>
                    <a:lstStyle/>
                    <a:p>
                      <a:pPr algn="ctr"/>
                      <a:r>
                        <a:rPr sz="1100" b="1">
                          <a:solidFill>
                            <a:srgbClr val="FFFFFF"/>
                          </a:solidFill>
                          <a:latin typeface="Times New Roman"/>
                        </a:rPr>
                        <a:t>ECE</a:t>
                      </a:r>
                    </a:p>
                  </a:txBody>
                  <a:tcPr anchor="ctr" marL="45720" marR="45720" marT="18288" marB="18288">
                    <a:solidFill>
                      <a:srgbClr val="BC312C"/>
                    </a:solidFill>
                  </a:tcPr>
                </a:tc>
              </a:tr>
              <a:tr h="329184">
                <a:tc>
                  <a:txBody>
                    <a:bodyPr/>
                    <a:lstStyle/>
                    <a:p>
                      <a:pPr algn="l"/>
                      <a:r>
                        <a:rPr sz="1100" b="0">
                          <a:solidFill>
                            <a:srgbClr val="1A1A1A"/>
                          </a:solidFill>
                          <a:latin typeface="Times New Roman"/>
                        </a:rPr>
                        <a:t>Majority</a:t>
                      </a:r>
                    </a:p>
                  </a:txBody>
                  <a:tcPr anchor="ctr" marL="45720" marR="45720" marT="18288" marB="18288">
                    <a:solidFill>
                      <a:srgbClr val="F3F3F3"/>
                    </a:solidFill>
                  </a:tcPr>
                </a:tc>
                <a:tc>
                  <a:txBody>
                    <a:bodyPr/>
                    <a:lstStyle/>
                    <a:p>
                      <a:pPr algn="ctr"/>
                      <a:r>
                        <a:rPr sz="1100" b="0">
                          <a:solidFill>
                            <a:srgbClr val="1A1A1A"/>
                          </a:solidFill>
                          <a:latin typeface="Times New Roman"/>
                        </a:rPr>
                        <a:t>30.4</a:t>
                      </a:r>
                    </a:p>
                  </a:txBody>
                  <a:tcPr anchor="ctr" marL="45720" marR="45720" marT="18288" marB="18288">
                    <a:solidFill>
                      <a:srgbClr val="F3F3F3"/>
                    </a:solidFill>
                  </a:tcPr>
                </a:tc>
                <a:tc>
                  <a:txBody>
                    <a:bodyPr/>
                    <a:lstStyle/>
                    <a:p>
                      <a:pPr algn="ctr"/>
                      <a:r>
                        <a:rPr sz="1100" b="0">
                          <a:solidFill>
                            <a:srgbClr val="1A1A1A"/>
                          </a:solidFill>
                          <a:latin typeface="Times New Roman"/>
                        </a:rPr>
                        <a:t>1.59</a:t>
                      </a:r>
                    </a:p>
                  </a:txBody>
                  <a:tcPr anchor="ctr" marL="45720" marR="45720" marT="18288" marB="18288">
                    <a:solidFill>
                      <a:srgbClr val="F3F3F3"/>
                    </a:solidFill>
                  </a:tcPr>
                </a:tc>
                <a:tc>
                  <a:txBody>
                    <a:bodyPr/>
                    <a:lstStyle/>
                    <a:p>
                      <a:pPr algn="ctr"/>
                      <a:r>
                        <a:rPr sz="1100" b="0">
                          <a:solidFill>
                            <a:srgbClr val="1A1A1A"/>
                          </a:solidFill>
                          <a:latin typeface="Times New Roman"/>
                        </a:rPr>
                        <a:t>0.001</a:t>
                      </a:r>
                    </a:p>
                  </a:txBody>
                  <a:tcPr anchor="ctr" marL="45720" marR="45720" marT="18288" marB="18288">
                    <a:solidFill>
                      <a:srgbClr val="F3F3F3"/>
                    </a:solidFill>
                  </a:tcPr>
                </a:tc>
              </a:tr>
              <a:tr h="329184">
                <a:tc>
                  <a:txBody>
                    <a:bodyPr/>
                    <a:lstStyle/>
                    <a:p>
                      <a:pPr algn="l"/>
                      <a:r>
                        <a:rPr sz="1100" b="0">
                          <a:solidFill>
                            <a:srgbClr val="1A1A1A"/>
                          </a:solidFill>
                          <a:latin typeface="Times New Roman"/>
                        </a:rPr>
                        <a:t>Logistic</a:t>
                      </a:r>
                    </a:p>
                  </a:txBody>
                  <a:tcPr anchor="ctr" marL="45720" marR="45720" marT="18288" marB="18288">
                    <a:solidFill>
                      <a:srgbClr val="FFFFFF"/>
                    </a:solidFill>
                  </a:tcPr>
                </a:tc>
                <a:tc>
                  <a:txBody>
                    <a:bodyPr/>
                    <a:lstStyle/>
                    <a:p>
                      <a:pPr algn="ctr"/>
                      <a:r>
                        <a:rPr sz="1100" b="0">
                          <a:solidFill>
                            <a:srgbClr val="1A1A1A"/>
                          </a:solidFill>
                          <a:latin typeface="Times New Roman"/>
                        </a:rPr>
                        <a:t>38.5</a:t>
                      </a:r>
                    </a:p>
                  </a:txBody>
                  <a:tcPr anchor="ctr" marL="45720" marR="45720" marT="18288" marB="18288">
                    <a:solidFill>
                      <a:srgbClr val="FFFFFF"/>
                    </a:solidFill>
                  </a:tcPr>
                </a:tc>
                <a:tc>
                  <a:txBody>
                    <a:bodyPr/>
                    <a:lstStyle/>
                    <a:p>
                      <a:pPr algn="ctr"/>
                      <a:r>
                        <a:rPr sz="1100" b="0">
                          <a:solidFill>
                            <a:srgbClr val="1A1A1A"/>
                          </a:solidFill>
                          <a:latin typeface="Times New Roman"/>
                        </a:rPr>
                        <a:t>1.47</a:t>
                      </a:r>
                    </a:p>
                  </a:txBody>
                  <a:tcPr anchor="ctr" marL="45720" marR="45720" marT="18288" marB="18288">
                    <a:solidFill>
                      <a:srgbClr val="FFFFFF"/>
                    </a:solidFill>
                  </a:tcPr>
                </a:tc>
                <a:tc>
                  <a:txBody>
                    <a:bodyPr/>
                    <a:lstStyle/>
                    <a:p>
                      <a:pPr algn="ctr"/>
                      <a:r>
                        <a:rPr sz="1100" b="0">
                          <a:solidFill>
                            <a:srgbClr val="1A1A1A"/>
                          </a:solidFill>
                          <a:latin typeface="Times New Roman"/>
                        </a:rPr>
                        <a:t>0.004</a:t>
                      </a:r>
                    </a:p>
                  </a:txBody>
                  <a:tcPr anchor="ctr" marL="45720" marR="45720" marT="18288" marB="18288">
                    <a:solidFill>
                      <a:srgbClr val="FFFFFF"/>
                    </a:solidFill>
                  </a:tcPr>
                </a:tc>
              </a:tr>
              <a:tr h="329184">
                <a:tc>
                  <a:txBody>
                    <a:bodyPr/>
                    <a:lstStyle/>
                    <a:p>
                      <a:pPr algn="l"/>
                      <a:r>
                        <a:rPr sz="1100" b="0">
                          <a:solidFill>
                            <a:srgbClr val="1A1A1A"/>
                          </a:solidFill>
                          <a:latin typeface="Times New Roman"/>
                        </a:rPr>
                        <a:t>GBM</a:t>
                      </a:r>
                    </a:p>
                  </a:txBody>
                  <a:tcPr anchor="ctr" marL="45720" marR="45720" marT="18288" marB="18288">
                    <a:solidFill>
                      <a:srgbClr val="F3F3F3"/>
                    </a:solidFill>
                  </a:tcPr>
                </a:tc>
                <a:tc>
                  <a:txBody>
                    <a:bodyPr/>
                    <a:lstStyle/>
                    <a:p>
                      <a:pPr algn="ctr"/>
                      <a:r>
                        <a:rPr sz="1100" b="0">
                          <a:solidFill>
                            <a:srgbClr val="1A1A1A"/>
                          </a:solidFill>
                          <a:latin typeface="Times New Roman"/>
                        </a:rPr>
                        <a:t>40.0</a:t>
                      </a:r>
                    </a:p>
                  </a:txBody>
                  <a:tcPr anchor="ctr" marL="45720" marR="45720" marT="18288" marB="18288">
                    <a:solidFill>
                      <a:srgbClr val="F3F3F3"/>
                    </a:solidFill>
                  </a:tcPr>
                </a:tc>
                <a:tc>
                  <a:txBody>
                    <a:bodyPr/>
                    <a:lstStyle/>
                    <a:p>
                      <a:pPr algn="ctr"/>
                      <a:r>
                        <a:rPr sz="1100" b="0">
                          <a:solidFill>
                            <a:srgbClr val="1A1A1A"/>
                          </a:solidFill>
                          <a:latin typeface="Times New Roman"/>
                        </a:rPr>
                        <a:t>1.44</a:t>
                      </a:r>
                    </a:p>
                  </a:txBody>
                  <a:tcPr anchor="ctr" marL="45720" marR="45720" marT="18288" marB="18288">
                    <a:solidFill>
                      <a:srgbClr val="F3F3F3"/>
                    </a:solidFill>
                  </a:tcPr>
                </a:tc>
                <a:tc>
                  <a:txBody>
                    <a:bodyPr/>
                    <a:lstStyle/>
                    <a:p>
                      <a:pPr algn="ctr"/>
                      <a:r>
                        <a:rPr sz="1100" b="0">
                          <a:solidFill>
                            <a:srgbClr val="1A1A1A"/>
                          </a:solidFill>
                          <a:latin typeface="Times New Roman"/>
                        </a:rPr>
                        <a:t>0.005</a:t>
                      </a:r>
                    </a:p>
                  </a:txBody>
                  <a:tcPr anchor="ctr" marL="45720" marR="45720" marT="18288" marB="18288">
                    <a:solidFill>
                      <a:srgbClr val="F3F3F3"/>
                    </a:solidFill>
                  </a:tcPr>
                </a:tc>
              </a:tr>
              <a:tr h="329184">
                <a:tc>
                  <a:txBody>
                    <a:bodyPr/>
                    <a:lstStyle/>
                    <a:p>
                      <a:pPr algn="l"/>
                      <a:r>
                        <a:rPr sz="1100" b="0">
                          <a:solidFill>
                            <a:srgbClr val="1A1A1A"/>
                          </a:solidFill>
                          <a:latin typeface="Times New Roman"/>
                        </a:rPr>
                        <a:t>Fine-tuned</a:t>
                      </a:r>
                    </a:p>
                  </a:txBody>
                  <a:tcPr anchor="ctr" marL="45720" marR="45720" marT="18288" marB="18288">
                    <a:solidFill>
                      <a:srgbClr val="FFFFFF"/>
                    </a:solidFill>
                  </a:tcPr>
                </a:tc>
                <a:tc>
                  <a:txBody>
                    <a:bodyPr/>
                    <a:lstStyle/>
                    <a:p>
                      <a:pPr algn="ctr"/>
                      <a:r>
                        <a:rPr sz="1100" b="0">
                          <a:solidFill>
                            <a:srgbClr val="1A1A1A"/>
                          </a:solidFill>
                          <a:latin typeface="Times New Roman"/>
                        </a:rPr>
                        <a:t>38.0</a:t>
                      </a:r>
                    </a:p>
                  </a:txBody>
                  <a:tcPr anchor="ctr" marL="45720" marR="45720" marT="18288" marB="18288">
                    <a:solidFill>
                      <a:srgbClr val="FFFFFF"/>
                    </a:solidFill>
                  </a:tcPr>
                </a:tc>
                <a:tc>
                  <a:txBody>
                    <a:bodyPr/>
                    <a:lstStyle/>
                    <a:p>
                      <a:pPr algn="ctr"/>
                      <a:r>
                        <a:rPr sz="1100" b="0">
                          <a:solidFill>
                            <a:srgbClr val="1A1A1A"/>
                          </a:solidFill>
                          <a:latin typeface="Times New Roman"/>
                        </a:rPr>
                        <a:t>1.48</a:t>
                      </a:r>
                    </a:p>
                  </a:txBody>
                  <a:tcPr anchor="ctr" marL="45720" marR="45720" marT="18288" marB="18288">
                    <a:solidFill>
                      <a:srgbClr val="FFFFFF"/>
                    </a:solidFill>
                  </a:tcPr>
                </a:tc>
                <a:tc>
                  <a:txBody>
                    <a:bodyPr/>
                    <a:lstStyle/>
                    <a:p>
                      <a:pPr algn="ctr"/>
                      <a:r>
                        <a:rPr sz="1100" b="0">
                          <a:solidFill>
                            <a:srgbClr val="1A1A1A"/>
                          </a:solidFill>
                          <a:latin typeface="Times New Roman"/>
                        </a:rPr>
                        <a:t>0.009</a:t>
                      </a:r>
                    </a:p>
                  </a:txBody>
                  <a:tcPr anchor="ctr" marL="45720" marR="45720" marT="18288" marB="18288">
                    <a:solidFill>
                      <a:srgbClr val="FFFFFF"/>
                    </a:solidFill>
                  </a:tcPr>
                </a:tc>
              </a:tr>
              <a:tr h="329184">
                <a:tc>
                  <a:txBody>
                    <a:bodyPr/>
                    <a:lstStyle/>
                    <a:p>
                      <a:pPr algn="l"/>
                      <a:r>
                        <a:rPr sz="1100" b="0">
                          <a:solidFill>
                            <a:srgbClr val="1A1A1A"/>
                          </a:solidFill>
                          <a:latin typeface="Times New Roman"/>
                        </a:rPr>
                        <a:t>Zero-shot</a:t>
                      </a:r>
                    </a:p>
                  </a:txBody>
                  <a:tcPr anchor="ctr" marL="45720" marR="45720" marT="18288" marB="18288">
                    <a:solidFill>
                      <a:srgbClr val="F3F3F3"/>
                    </a:solidFill>
                  </a:tcPr>
                </a:tc>
                <a:tc>
                  <a:txBody>
                    <a:bodyPr/>
                    <a:lstStyle/>
                    <a:p>
                      <a:pPr algn="ctr"/>
                      <a:r>
                        <a:rPr sz="1100" b="0">
                          <a:solidFill>
                            <a:srgbClr val="1A1A1A"/>
                          </a:solidFill>
                          <a:latin typeface="Times New Roman"/>
                        </a:rPr>
                        <a:t>16.1</a:t>
                      </a:r>
                    </a:p>
                  </a:txBody>
                  <a:tcPr anchor="ctr" marL="45720" marR="45720" marT="18288" marB="18288">
                    <a:solidFill>
                      <a:srgbClr val="F3F3F3"/>
                    </a:solidFill>
                  </a:tcPr>
                </a:tc>
                <a:tc>
                  <a:txBody>
                    <a:bodyPr/>
                    <a:lstStyle/>
                    <a:p>
                      <a:pPr algn="ctr"/>
                      <a:r>
                        <a:rPr sz="1100" b="0">
                          <a:solidFill>
                            <a:srgbClr val="1A1A1A"/>
                          </a:solidFill>
                          <a:latin typeface="Times New Roman"/>
                        </a:rPr>
                        <a:t>4.26</a:t>
                      </a:r>
                    </a:p>
                  </a:txBody>
                  <a:tcPr anchor="ctr" marL="45720" marR="45720" marT="18288" marB="18288">
                    <a:solidFill>
                      <a:srgbClr val="F3F3F3"/>
                    </a:solidFill>
                  </a:tcPr>
                </a:tc>
                <a:tc>
                  <a:txBody>
                    <a:bodyPr/>
                    <a:lstStyle/>
                    <a:p>
                      <a:pPr algn="ctr"/>
                      <a:r>
                        <a:rPr sz="1100" b="0">
                          <a:solidFill>
                            <a:srgbClr val="1A1A1A"/>
                          </a:solidFill>
                          <a:latin typeface="Times New Roman"/>
                        </a:rPr>
                        <a:t>0.519</a:t>
                      </a:r>
                    </a:p>
                  </a:txBody>
                  <a:tcPr anchor="ctr" marL="45720" marR="45720" marT="18288" marB="18288">
                    <a:solidFill>
                      <a:srgbClr val="F3F3F3"/>
                    </a:solidFill>
                  </a:tcPr>
                </a:tc>
              </a:tr>
            </a:tbl>
          </a:graphicData>
        </a:graphic>
      </p:graphicFrame>
      <p:sp>
        <p:nvSpPr>
          <p:cNvPr id="8" name="TextBox 7"/>
          <p:cNvSpPr txBox="1"/>
          <p:nvPr/>
        </p:nvSpPr>
        <p:spPr>
          <a:xfrm>
            <a:off x="5532120" y="4206240"/>
            <a:ext cx="3154680" cy="2011680"/>
          </a:xfrm>
          <a:prstGeom prst="rect">
            <a:avLst/>
          </a:prstGeom>
          <a:noFill/>
        </p:spPr>
        <p:txBody>
          <a:bodyPr wrap="square" anchor="t" lIns="73152" rIns="73152" tIns="27432" bIns="27432">
            <a:spAutoFit/>
          </a:bodyPr>
          <a:lstStyle/>
          <a:p>
            <a:pPr algn="l">
              <a:spcAft>
                <a:spcPts val="300"/>
              </a:spcAft>
            </a:pPr>
            <a:r>
              <a:rPr sz="1200" b="0">
                <a:solidFill>
                  <a:srgbClr val="1A1A1A"/>
                </a:solidFill>
                <a:latin typeface="Times New Roman"/>
              </a:rPr>
              <a:t>•  </a:t>
            </a:r>
            <a:r>
              <a:rPr sz="1200" b="0">
                <a:solidFill>
                  <a:srgbClr val="1A1A1A"/>
                </a:solidFill>
                <a:latin typeface="Times New Roman"/>
              </a:rPr>
              <a:t>+7.6 points over majority</a:t>
            </a:r>
          </a:p>
          <a:p>
            <a:pPr algn="l">
              <a:spcAft>
                <a:spcPts val="300"/>
              </a:spcAft>
            </a:pPr>
            <a:r>
              <a:rPr sz="1200" b="0">
                <a:solidFill>
                  <a:srgbClr val="1A1A1A"/>
                </a:solidFill>
                <a:latin typeface="Times New Roman"/>
              </a:rPr>
              <a:t>•  </a:t>
            </a:r>
            <a:r>
              <a:rPr sz="1200" b="0">
                <a:solidFill>
                  <a:srgbClr val="1A1A1A"/>
                </a:solidFill>
                <a:latin typeface="Times New Roman"/>
              </a:rPr>
              <a:t>-0.5 vs logistic, -2.1 vs GBM</a:t>
            </a:r>
          </a:p>
          <a:p>
            <a:pPr algn="l">
              <a:spcAft>
                <a:spcPts val="300"/>
              </a:spcAft>
            </a:pPr>
            <a:r>
              <a:rPr sz="1200" b="0">
                <a:solidFill>
                  <a:srgbClr val="1A1A1A"/>
                </a:solidFill>
                <a:latin typeface="Times New Roman"/>
              </a:rPr>
              <a:t>•  </a:t>
            </a:r>
            <a:r>
              <a:rPr sz="1200" b="0">
                <a:solidFill>
                  <a:srgbClr val="1A1A1A"/>
                </a:solidFill>
                <a:latin typeface="Times New Roman"/>
              </a:rPr>
              <a:t>Closes 79% of the gap to GBM</a:t>
            </a:r>
          </a:p>
          <a:p>
            <a:pPr algn="l">
              <a:spcAft>
                <a:spcPts val="300"/>
              </a:spcAft>
            </a:pPr>
            <a:r>
              <a:rPr sz="1200" b="0">
                <a:solidFill>
                  <a:srgbClr val="1A1A1A"/>
                </a:solidFill>
                <a:latin typeface="Times New Roman"/>
              </a:rPr>
              <a:t>•  </a:t>
            </a:r>
            <a:r>
              <a:rPr sz="1200" b="0">
                <a:solidFill>
                  <a:srgbClr val="1A1A1A"/>
                </a:solidFill>
                <a:latin typeface="Times New Roman"/>
              </a:rPr>
              <a:t>Trails GBM on every item (1.2 to 2.7 points)</a:t>
            </a:r>
          </a:p>
          <a:p>
            <a:pPr algn="l">
              <a:spcAft>
                <a:spcPts val="300"/>
              </a:spcAft>
            </a:pPr>
            <a:r>
              <a:rPr sz="1200" b="0">
                <a:solidFill>
                  <a:srgbClr val="1A1A1A"/>
                </a:solidFill>
                <a:latin typeface="Times New Roman"/>
              </a:rPr>
              <a:t>•  </a:t>
            </a:r>
            <a:r>
              <a:rPr sz="1200" b="0">
                <a:solidFill>
                  <a:srgbClr val="1A1A1A"/>
                </a:solidFill>
                <a:latin typeface="Times New Roman"/>
              </a:rPr>
              <a:t>ECE 0.009: well calibrated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371600"/>
            <a:ext cx="8229600" cy="548640"/>
          </a:xfrm>
        </p:spPr>
        <p:txBody>
          <a:bodyPr anchor="ctr"/>
          <a:lstStyle/>
          <a:p>
            <a:pPr algn="l"/>
            <a:r>
              <a:rPr sz="2400" b="1">
                <a:solidFill>
                  <a:srgbClr val="1A1A1A"/>
                </a:solidFill>
                <a:latin typeface="Times New Roman"/>
              </a:rPr>
              <a:t>Result 3: direction of group differences and subgroup gaps</a:t>
            </a:r>
          </a:p>
        </p:txBody>
      </p:sp>
      <p:sp>
        <p:nvSpPr>
          <p:cNvPr id="3" name="Rectangle 2"/>
          <p:cNvSpPr/>
          <p:nvPr/>
        </p:nvSpPr>
        <p:spPr>
          <a:xfrm>
            <a:off x="457200" y="1938528"/>
            <a:ext cx="8229600" cy="3657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6373368"/>
            <a:ext cx="5120640" cy="292608"/>
          </a:xfrm>
          <a:prstGeom prst="rect">
            <a:avLst/>
          </a:prstGeom>
          <a:noFill/>
        </p:spPr>
        <p:txBody>
          <a:bodyPr wrap="square" anchor="ctr" lIns="73152" rIns="73152" tIns="27432" bIns="27432">
            <a:spAutoFit/>
          </a:bodyPr>
          <a:lstStyle/>
          <a:p>
            <a:pPr algn="ctr">
              <a:spcAft>
                <a:spcPts val="400"/>
              </a:spcAft>
            </a:pPr>
            <a:r>
              <a:rPr sz="1050" b="0">
                <a:solidFill>
                  <a:srgbClr val="1A1A1A"/>
                </a:solidFill>
                <a:latin typeface="Times New Roman"/>
              </a:rPr>
              <a:t>Computer Engineering Department, MPSTME, Mumbai Campus  |  Group 55</a:t>
            </a:r>
          </a:p>
        </p:txBody>
      </p:sp>
      <p:sp>
        <p:nvSpPr>
          <p:cNvPr id="5" name="TextBox 4"/>
          <p:cNvSpPr txBox="1"/>
          <p:nvPr/>
        </p:nvSpPr>
        <p:spPr>
          <a:xfrm>
            <a:off x="7589520" y="6373368"/>
            <a:ext cx="1097280" cy="292608"/>
          </a:xfrm>
          <a:prstGeom prst="rect">
            <a:avLst/>
          </a:prstGeom>
          <a:noFill/>
        </p:spPr>
        <p:txBody>
          <a:bodyPr wrap="square" anchor="ctr" lIns="73152" rIns="73152" tIns="27432" bIns="27432">
            <a:spAutoFit/>
          </a:bodyPr>
          <a:lstStyle/>
          <a:p>
            <a:pPr algn="r">
              <a:spcAft>
                <a:spcPts val="400"/>
              </a:spcAft>
            </a:pPr>
            <a:r>
              <a:rPr sz="1100" b="0">
                <a:solidFill>
                  <a:srgbClr val="1A1A1A"/>
                </a:solidFill>
                <a:latin typeface="Times New Roman"/>
              </a:rPr>
              <a:t>11</a:t>
            </a:r>
          </a:p>
        </p:txBody>
      </p:sp>
      <p:pic>
        <p:nvPicPr>
          <p:cNvPr id="6" name="Picture 5" descr="fig_direction.png"/>
          <p:cNvPicPr>
            <a:picLocks noChangeAspect="1"/>
          </p:cNvPicPr>
          <p:nvPr/>
        </p:nvPicPr>
        <p:blipFill>
          <a:blip r:embed="rId3"/>
          <a:stretch>
            <a:fillRect/>
          </a:stretch>
        </p:blipFill>
        <p:spPr>
          <a:xfrm>
            <a:off x="457200" y="2148839"/>
            <a:ext cx="8229600" cy="2723882"/>
          </a:xfrm>
          <a:prstGeom prst="rect">
            <a:avLst/>
          </a:prstGeom>
        </p:spPr>
      </p:pic>
      <p:sp>
        <p:nvSpPr>
          <p:cNvPr id="7" name="Rectangle 6"/>
          <p:cNvSpPr/>
          <p:nvPr/>
        </p:nvSpPr>
        <p:spPr>
          <a:xfrm>
            <a:off x="457200" y="4937760"/>
            <a:ext cx="4023360" cy="132588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4937760"/>
            <a:ext cx="402336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4946904"/>
            <a:ext cx="391363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SUBGROUP GAPS (FINE-TUNED)</a:t>
            </a:r>
          </a:p>
        </p:txBody>
      </p:sp>
      <p:sp>
        <p:nvSpPr>
          <p:cNvPr id="10" name="TextBox 9"/>
          <p:cNvSpPr txBox="1"/>
          <p:nvPr/>
        </p:nvSpPr>
        <p:spPr>
          <a:xfrm>
            <a:off x="530352" y="5303520"/>
            <a:ext cx="3877056" cy="914400"/>
          </a:xfrm>
          <a:prstGeom prst="rect">
            <a:avLst/>
          </a:prstGeom>
          <a:noFill/>
        </p:spPr>
        <p:txBody>
          <a:bodyPr wrap="square" anchor="t" lIns="73152" rIns="73152" tIns="27432" bIns="27432">
            <a:spAutoFit/>
          </a:bodyPr>
          <a:lstStyle/>
          <a:p>
            <a:pPr algn="l">
              <a:spcAft>
                <a:spcPts val="300"/>
              </a:spcAft>
            </a:pPr>
            <a:r>
              <a:rPr sz="1150" b="0">
                <a:solidFill>
                  <a:srgbClr val="1A1A1A"/>
                </a:solidFill>
                <a:latin typeface="Times New Roman"/>
              </a:rPr>
              <a:t>•  </a:t>
            </a:r>
            <a:r>
              <a:rPr sz="1150" b="0">
                <a:solidFill>
                  <a:srgbClr val="1A1A1A"/>
                </a:solidFill>
                <a:latin typeface="Times New Roman"/>
              </a:rPr>
              <a:t>Religion 10.0, region 8.8, age 2.7, income 1.7, urban/rural 1.3 points</a:t>
            </a:r>
          </a:p>
          <a:p>
            <a:pPr algn="l">
              <a:spcAft>
                <a:spcPts val="300"/>
              </a:spcAft>
            </a:pPr>
            <a:r>
              <a:rPr sz="1150" b="0">
                <a:solidFill>
                  <a:srgbClr val="1A1A1A"/>
                </a:solidFill>
                <a:latin typeface="Times New Roman"/>
              </a:rPr>
              <a:t>•  </a:t>
            </a:r>
            <a:r>
              <a:rPr sz="1150" b="0">
                <a:solidFill>
                  <a:srgbClr val="1A1A1A"/>
                </a:solidFill>
                <a:latin typeface="Times New Roman"/>
              </a:rPr>
              <a:t>Five of eight axes significant (Holm)</a:t>
            </a:r>
          </a:p>
        </p:txBody>
      </p:sp>
      <p:sp>
        <p:nvSpPr>
          <p:cNvPr id="11" name="Rectangle 10"/>
          <p:cNvSpPr/>
          <p:nvPr/>
        </p:nvSpPr>
        <p:spPr>
          <a:xfrm>
            <a:off x="4663440" y="4937760"/>
            <a:ext cx="4023360" cy="132588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63440" y="4937760"/>
            <a:ext cx="402336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18303" y="4946904"/>
            <a:ext cx="391363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DISTRIBUTION FIDELITY (JSD)</a:t>
            </a:r>
          </a:p>
        </p:txBody>
      </p:sp>
      <p:sp>
        <p:nvSpPr>
          <p:cNvPr id="14" name="TextBox 13"/>
          <p:cNvSpPr txBox="1"/>
          <p:nvPr/>
        </p:nvSpPr>
        <p:spPr>
          <a:xfrm>
            <a:off x="4736592" y="5303520"/>
            <a:ext cx="3877056" cy="914400"/>
          </a:xfrm>
          <a:prstGeom prst="rect">
            <a:avLst/>
          </a:prstGeom>
          <a:noFill/>
        </p:spPr>
        <p:txBody>
          <a:bodyPr wrap="square" anchor="t" lIns="73152" rIns="73152" tIns="27432" bIns="27432">
            <a:spAutoFit/>
          </a:bodyPr>
          <a:lstStyle/>
          <a:p>
            <a:pPr algn="l">
              <a:spcAft>
                <a:spcPts val="300"/>
              </a:spcAft>
            </a:pPr>
            <a:r>
              <a:rPr sz="1150" b="0">
                <a:solidFill>
                  <a:srgbClr val="1A1A1A"/>
                </a:solidFill>
                <a:latin typeface="Times New Roman"/>
              </a:rPr>
              <a:t>•  </a:t>
            </a:r>
            <a:r>
              <a:rPr sz="1150" b="0">
                <a:solidFill>
                  <a:srgbClr val="1A1A1A"/>
                </a:solidFill>
                <a:latin typeface="Times New Roman"/>
              </a:rPr>
              <a:t>Fine-tuned 0.009, logistic 0.004, marginal 0.029</a:t>
            </a:r>
          </a:p>
          <a:p>
            <a:pPr algn="l">
              <a:spcAft>
                <a:spcPts val="300"/>
              </a:spcAft>
            </a:pPr>
            <a:r>
              <a:rPr sz="1150" b="0">
                <a:solidFill>
                  <a:srgbClr val="1A1A1A"/>
                </a:solidFill>
                <a:latin typeface="Times New Roman"/>
              </a:rPr>
              <a:t>•  </a:t>
            </a:r>
            <a:r>
              <a:rPr sz="1150" b="0">
                <a:solidFill>
                  <a:srgbClr val="1A1A1A"/>
                </a:solidFill>
                <a:latin typeface="Times New Roman"/>
              </a:rPr>
              <a:t>Zero-shot 0.271: over 10x worse than fine-tuned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371600"/>
            <a:ext cx="8229600" cy="548640"/>
          </a:xfrm>
        </p:spPr>
        <p:txBody>
          <a:bodyPr anchor="ctr"/>
          <a:lstStyle/>
          <a:p>
            <a:pPr algn="l"/>
            <a:r>
              <a:rPr sz="2400" b="1">
                <a:solidFill>
                  <a:srgbClr val="1A1A1A"/>
                </a:solidFill>
                <a:latin typeface="Times New Roman"/>
              </a:rPr>
              <a:t>Result 4: transfer to unseen questions, scale and data</a:t>
            </a:r>
          </a:p>
        </p:txBody>
      </p:sp>
      <p:sp>
        <p:nvSpPr>
          <p:cNvPr id="3" name="Rectangle 2"/>
          <p:cNvSpPr/>
          <p:nvPr/>
        </p:nvSpPr>
        <p:spPr>
          <a:xfrm>
            <a:off x="457200" y="1938528"/>
            <a:ext cx="8229600" cy="3657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6373368"/>
            <a:ext cx="5120640" cy="292608"/>
          </a:xfrm>
          <a:prstGeom prst="rect">
            <a:avLst/>
          </a:prstGeom>
          <a:noFill/>
        </p:spPr>
        <p:txBody>
          <a:bodyPr wrap="square" anchor="ctr" lIns="73152" rIns="73152" tIns="27432" bIns="27432">
            <a:spAutoFit/>
          </a:bodyPr>
          <a:lstStyle/>
          <a:p>
            <a:pPr algn="ctr">
              <a:spcAft>
                <a:spcPts val="400"/>
              </a:spcAft>
            </a:pPr>
            <a:r>
              <a:rPr sz="1050" b="0">
                <a:solidFill>
                  <a:srgbClr val="1A1A1A"/>
                </a:solidFill>
                <a:latin typeface="Times New Roman"/>
              </a:rPr>
              <a:t>Computer Engineering Department, MPSTME, Mumbai Campus  |  Group 55</a:t>
            </a:r>
          </a:p>
        </p:txBody>
      </p:sp>
      <p:sp>
        <p:nvSpPr>
          <p:cNvPr id="5" name="TextBox 4"/>
          <p:cNvSpPr txBox="1"/>
          <p:nvPr/>
        </p:nvSpPr>
        <p:spPr>
          <a:xfrm>
            <a:off x="7589520" y="6373368"/>
            <a:ext cx="1097280" cy="292608"/>
          </a:xfrm>
          <a:prstGeom prst="rect">
            <a:avLst/>
          </a:prstGeom>
          <a:noFill/>
        </p:spPr>
        <p:txBody>
          <a:bodyPr wrap="square" anchor="ctr" lIns="73152" rIns="73152" tIns="27432" bIns="27432">
            <a:spAutoFit/>
          </a:bodyPr>
          <a:lstStyle/>
          <a:p>
            <a:pPr algn="r">
              <a:spcAft>
                <a:spcPts val="400"/>
              </a:spcAft>
            </a:pPr>
            <a:r>
              <a:rPr sz="1100" b="0">
                <a:solidFill>
                  <a:srgbClr val="1A1A1A"/>
                </a:solidFill>
                <a:latin typeface="Times New Roman"/>
              </a:rPr>
              <a:t>12</a:t>
            </a:r>
          </a:p>
        </p:txBody>
      </p:sp>
      <p:pic>
        <p:nvPicPr>
          <p:cNvPr id="6" name="Picture 5" descr="fig_transfer.png"/>
          <p:cNvPicPr>
            <a:picLocks noChangeAspect="1"/>
          </p:cNvPicPr>
          <p:nvPr/>
        </p:nvPicPr>
        <p:blipFill>
          <a:blip r:embed="rId3"/>
          <a:stretch>
            <a:fillRect/>
          </a:stretch>
        </p:blipFill>
        <p:spPr>
          <a:xfrm>
            <a:off x="457200" y="2148839"/>
            <a:ext cx="5212080" cy="1688420"/>
          </a:xfrm>
          <a:prstGeom prst="rect">
            <a:avLst/>
          </a:prstGeom>
        </p:spPr>
      </p:pic>
      <p:pic>
        <p:nvPicPr>
          <p:cNvPr id="7" name="Picture 6" descr="fig_lc.png"/>
          <p:cNvPicPr>
            <a:picLocks noChangeAspect="1"/>
          </p:cNvPicPr>
          <p:nvPr/>
        </p:nvPicPr>
        <p:blipFill>
          <a:blip r:embed="rId4"/>
          <a:stretch>
            <a:fillRect/>
          </a:stretch>
        </p:blipFill>
        <p:spPr>
          <a:xfrm>
            <a:off x="5852160" y="2103120"/>
            <a:ext cx="2834640" cy="1808645"/>
          </a:xfrm>
          <a:prstGeom prst="rect">
            <a:avLst/>
          </a:prstGeom>
        </p:spPr>
      </p:pic>
      <p:sp>
        <p:nvSpPr>
          <p:cNvPr id="8" name="Rectangle 7"/>
          <p:cNvSpPr/>
          <p:nvPr/>
        </p:nvSpPr>
        <p:spPr>
          <a:xfrm>
            <a:off x="457200" y="4114800"/>
            <a:ext cx="5212080" cy="214884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4114800"/>
            <a:ext cx="521208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 y="4123944"/>
            <a:ext cx="510235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TRANSFER (8 UNSEEN ITEMS, 120 RESPONDENTS)</a:t>
            </a:r>
          </a:p>
        </p:txBody>
      </p:sp>
      <p:sp>
        <p:nvSpPr>
          <p:cNvPr id="11" name="TextBox 10"/>
          <p:cNvSpPr txBox="1"/>
          <p:nvPr/>
        </p:nvSpPr>
        <p:spPr>
          <a:xfrm>
            <a:off x="530352" y="4480560"/>
            <a:ext cx="5065776" cy="1737360"/>
          </a:xfrm>
          <a:prstGeom prst="rect">
            <a:avLst/>
          </a:prstGeom>
          <a:noFill/>
        </p:spPr>
        <p:txBody>
          <a:bodyPr wrap="square" anchor="t" lIns="73152" rIns="73152" tIns="27432" bIns="27432">
            <a:spAutoFit/>
          </a:bodyPr>
          <a:lstStyle/>
          <a:p>
            <a:pPr algn="l">
              <a:spcAft>
                <a:spcPts val="300"/>
              </a:spcAft>
            </a:pPr>
            <a:r>
              <a:rPr sz="1150" b="0">
                <a:solidFill>
                  <a:srgbClr val="1A1A1A"/>
                </a:solidFill>
                <a:latin typeface="Times New Roman"/>
              </a:rPr>
              <a:t>•  </a:t>
            </a:r>
            <a:r>
              <a:rPr sz="1150" b="0">
                <a:solidFill>
                  <a:srgbClr val="1A1A1A"/>
                </a:solidFill>
                <a:latin typeface="Times New Roman"/>
              </a:rPr>
              <a:t>Adapter 28.9% vs base 28.5%: +0.4 points (-5.1 to +5.9)</a:t>
            </a:r>
          </a:p>
          <a:p>
            <a:pPr algn="l">
              <a:spcAft>
                <a:spcPts val="300"/>
              </a:spcAft>
            </a:pPr>
            <a:r>
              <a:rPr sz="1150" b="0">
                <a:solidFill>
                  <a:srgbClr val="1A1A1A"/>
                </a:solidFill>
                <a:latin typeface="Times New Roman"/>
              </a:rPr>
              <a:t>•  </a:t>
            </a:r>
            <a:r>
              <a:rPr sz="1150" b="0">
                <a:solidFill>
                  <a:srgbClr val="1A1A1A"/>
                </a:solidFill>
                <a:latin typeface="Times New Roman"/>
              </a:rPr>
              <a:t>In-domain gain +14.1; item-level difference not significant (p = 0.18)</a:t>
            </a:r>
          </a:p>
          <a:p>
            <a:pPr algn="l">
              <a:spcAft>
                <a:spcPts val="300"/>
              </a:spcAft>
            </a:pPr>
            <a:r>
              <a:rPr sz="1150" b="0">
                <a:solidFill>
                  <a:srgbClr val="1A1A1A"/>
                </a:solidFill>
                <a:latin typeface="Times New Roman"/>
              </a:rPr>
              <a:t>•  </a:t>
            </a:r>
            <a:r>
              <a:rPr sz="1150" b="0">
                <a:solidFill>
                  <a:srgbClr val="1A1A1A"/>
                </a:solidFill>
                <a:latin typeface="Times New Roman"/>
              </a:rPr>
              <a:t>Approximate port, 8 items: not proof transfer is impossible</a:t>
            </a:r>
          </a:p>
        </p:txBody>
      </p:sp>
      <p:sp>
        <p:nvSpPr>
          <p:cNvPr id="12" name="Rectangle 11"/>
          <p:cNvSpPr/>
          <p:nvPr/>
        </p:nvSpPr>
        <p:spPr>
          <a:xfrm>
            <a:off x="5852160" y="3840480"/>
            <a:ext cx="2834640" cy="242316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52160" y="3840480"/>
            <a:ext cx="283464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07024" y="3849624"/>
            <a:ext cx="272491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SCALE AND DATA</a:t>
            </a:r>
          </a:p>
        </p:txBody>
      </p:sp>
      <p:sp>
        <p:nvSpPr>
          <p:cNvPr id="15" name="TextBox 14"/>
          <p:cNvSpPr txBox="1"/>
          <p:nvPr/>
        </p:nvSpPr>
        <p:spPr>
          <a:xfrm>
            <a:off x="5925312" y="4206240"/>
            <a:ext cx="2688336" cy="2011679"/>
          </a:xfrm>
          <a:prstGeom prst="rect">
            <a:avLst/>
          </a:prstGeom>
          <a:noFill/>
        </p:spPr>
        <p:txBody>
          <a:bodyPr wrap="square" anchor="t" lIns="73152" rIns="73152" tIns="27432" bIns="27432">
            <a:spAutoFit/>
          </a:bodyPr>
          <a:lstStyle/>
          <a:p>
            <a:pPr algn="l">
              <a:spcAft>
                <a:spcPts val="300"/>
              </a:spcAft>
            </a:pPr>
            <a:r>
              <a:rPr sz="1150" b="0">
                <a:solidFill>
                  <a:srgbClr val="1A1A1A"/>
                </a:solidFill>
                <a:latin typeface="Times New Roman"/>
              </a:rPr>
              <a:t>•  </a:t>
            </a:r>
            <a:r>
              <a:rPr sz="1150" b="0">
                <a:solidFill>
                  <a:srgbClr val="1A1A1A"/>
                </a:solidFill>
                <a:latin typeface="Times New Roman"/>
              </a:rPr>
              <a:t>gpt-oss-120b: 27.6% (majority 30.0%)</a:t>
            </a:r>
          </a:p>
          <a:p>
            <a:pPr algn="l">
              <a:spcAft>
                <a:spcPts val="300"/>
              </a:spcAft>
            </a:pPr>
            <a:r>
              <a:rPr sz="1150" b="0">
                <a:solidFill>
                  <a:srgbClr val="1A1A1A"/>
                </a:solidFill>
                <a:latin typeface="Times New Roman"/>
              </a:rPr>
              <a:t>•  </a:t>
            </a:r>
            <a:r>
              <a:rPr sz="1150" b="0">
                <a:solidFill>
                  <a:srgbClr val="1A1A1A"/>
                </a:solidFill>
                <a:latin typeface="Times New Roman"/>
              </a:rPr>
              <a:t>Logistic needs ~400 respondents, GBM ~1,600, to beat majority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371600"/>
            <a:ext cx="8229600" cy="548640"/>
          </a:xfrm>
        </p:spPr>
        <p:txBody>
          <a:bodyPr anchor="ctr"/>
          <a:lstStyle/>
          <a:p>
            <a:pPr algn="l"/>
            <a:r>
              <a:rPr sz="2400" b="1">
                <a:solidFill>
                  <a:srgbClr val="1A1A1A"/>
                </a:solidFill>
                <a:latin typeface="Times New Roman"/>
              </a:rPr>
              <a:t>Computational requirements and scalability</a:t>
            </a:r>
          </a:p>
        </p:txBody>
      </p:sp>
      <p:sp>
        <p:nvSpPr>
          <p:cNvPr id="3" name="Rectangle 2"/>
          <p:cNvSpPr/>
          <p:nvPr/>
        </p:nvSpPr>
        <p:spPr>
          <a:xfrm>
            <a:off x="457200" y="1938528"/>
            <a:ext cx="8229600" cy="3657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6373368"/>
            <a:ext cx="5120640" cy="292608"/>
          </a:xfrm>
          <a:prstGeom prst="rect">
            <a:avLst/>
          </a:prstGeom>
          <a:noFill/>
        </p:spPr>
        <p:txBody>
          <a:bodyPr wrap="square" anchor="ctr" lIns="73152" rIns="73152" tIns="27432" bIns="27432">
            <a:spAutoFit/>
          </a:bodyPr>
          <a:lstStyle/>
          <a:p>
            <a:pPr algn="ctr">
              <a:spcAft>
                <a:spcPts val="400"/>
              </a:spcAft>
            </a:pPr>
            <a:r>
              <a:rPr sz="1050" b="0">
                <a:solidFill>
                  <a:srgbClr val="1A1A1A"/>
                </a:solidFill>
                <a:latin typeface="Times New Roman"/>
              </a:rPr>
              <a:t>Computer Engineering Department, MPSTME, Mumbai Campus  |  Group 55</a:t>
            </a:r>
          </a:p>
        </p:txBody>
      </p:sp>
      <p:sp>
        <p:nvSpPr>
          <p:cNvPr id="5" name="TextBox 4"/>
          <p:cNvSpPr txBox="1"/>
          <p:nvPr/>
        </p:nvSpPr>
        <p:spPr>
          <a:xfrm>
            <a:off x="7589520" y="6373368"/>
            <a:ext cx="1097280" cy="292608"/>
          </a:xfrm>
          <a:prstGeom prst="rect">
            <a:avLst/>
          </a:prstGeom>
          <a:noFill/>
        </p:spPr>
        <p:txBody>
          <a:bodyPr wrap="square" anchor="ctr" lIns="73152" rIns="73152" tIns="27432" bIns="27432">
            <a:spAutoFit/>
          </a:bodyPr>
          <a:lstStyle/>
          <a:p>
            <a:pPr algn="r">
              <a:spcAft>
                <a:spcPts val="400"/>
              </a:spcAft>
            </a:pPr>
            <a:r>
              <a:rPr sz="1100" b="0">
                <a:solidFill>
                  <a:srgbClr val="1A1A1A"/>
                </a:solidFill>
                <a:latin typeface="Times New Roman"/>
              </a:rPr>
              <a:t>13</a:t>
            </a:r>
          </a:p>
        </p:txBody>
      </p:sp>
      <p:graphicFrame>
        <p:nvGraphicFramePr>
          <p:cNvPr id="6" name="Table 5"/>
          <p:cNvGraphicFramePr>
            <a:graphicFrameLocks noGrp="1"/>
          </p:cNvGraphicFramePr>
          <p:nvPr/>
        </p:nvGraphicFramePr>
        <p:xfrm>
          <a:off x="457200" y="2103120"/>
          <a:ext cx="8229600" cy="2743200"/>
        </p:xfrm>
        <a:graphic>
          <a:graphicData uri="http://schemas.openxmlformats.org/drawingml/2006/table">
            <a:tbl>
              <a:tblPr firstRow="1" bandRow="1">
                <a:tableStyleId>{5C22544A-7EE6-4342-B048-85BDC9FD1C3A}</a:tableStyleId>
              </a:tblPr>
              <a:tblGrid>
                <a:gridCol w="3017520"/>
                <a:gridCol w="1920240"/>
                <a:gridCol w="3291840"/>
              </a:tblGrid>
              <a:tr h="457200">
                <a:tc>
                  <a:txBody>
                    <a:bodyPr/>
                    <a:lstStyle/>
                    <a:p>
                      <a:pPr algn="l"/>
                      <a:r>
                        <a:rPr sz="1100" b="1">
                          <a:solidFill>
                            <a:srgbClr val="FFFFFF"/>
                          </a:solidFill>
                          <a:latin typeface="Times New Roman"/>
                        </a:rPr>
                        <a:t>Task</a:t>
                      </a:r>
                    </a:p>
                  </a:txBody>
                  <a:tcPr anchor="ctr" marL="45720" marR="45720" marT="18288" marB="18288">
                    <a:solidFill>
                      <a:srgbClr val="BC312C"/>
                    </a:solidFill>
                  </a:tcPr>
                </a:tc>
                <a:tc>
                  <a:txBody>
                    <a:bodyPr/>
                    <a:lstStyle/>
                    <a:p>
                      <a:pPr algn="ctr"/>
                      <a:r>
                        <a:rPr sz="1100" b="1">
                          <a:solidFill>
                            <a:srgbClr val="FFFFFF"/>
                          </a:solidFill>
                          <a:latin typeface="Times New Roman"/>
                        </a:rPr>
                        <a:t>Hardware</a:t>
                      </a:r>
                    </a:p>
                  </a:txBody>
                  <a:tcPr anchor="ctr" marL="45720" marR="45720" marT="18288" marB="18288">
                    <a:solidFill>
                      <a:srgbClr val="BC312C"/>
                    </a:solidFill>
                  </a:tcPr>
                </a:tc>
                <a:tc>
                  <a:txBody>
                    <a:bodyPr/>
                    <a:lstStyle/>
                    <a:p>
                      <a:pPr algn="ctr"/>
                      <a:r>
                        <a:rPr sz="1100" b="1">
                          <a:solidFill>
                            <a:srgbClr val="FFFFFF"/>
                          </a:solidFill>
                          <a:latin typeface="Times New Roman"/>
                        </a:rPr>
                        <a:t>Measured cost</a:t>
                      </a:r>
                    </a:p>
                  </a:txBody>
                  <a:tcPr anchor="ctr" marL="45720" marR="45720" marT="18288" marB="18288">
                    <a:solidFill>
                      <a:srgbClr val="BC312C"/>
                    </a:solidFill>
                  </a:tcPr>
                </a:tc>
              </a:tr>
              <a:tr h="457200">
                <a:tc>
                  <a:txBody>
                    <a:bodyPr/>
                    <a:lstStyle/>
                    <a:p>
                      <a:pPr algn="l"/>
                      <a:r>
                        <a:rPr sz="1100" b="0">
                          <a:solidFill>
                            <a:srgbClr val="1A1A1A"/>
                          </a:solidFill>
                          <a:latin typeface="Times New Roman"/>
                        </a:rPr>
                        <a:t>QLoRA fine-tuning, 184,853 examples</a:t>
                      </a:r>
                    </a:p>
                  </a:txBody>
                  <a:tcPr anchor="ctr" marL="45720" marR="45720" marT="18288" marB="18288">
                    <a:solidFill>
                      <a:srgbClr val="F3F3F3"/>
                    </a:solidFill>
                  </a:tcPr>
                </a:tc>
                <a:tc>
                  <a:txBody>
                    <a:bodyPr/>
                    <a:lstStyle/>
                    <a:p>
                      <a:pPr algn="ctr"/>
                      <a:r>
                        <a:rPr sz="1100" b="0">
                          <a:solidFill>
                            <a:srgbClr val="1A1A1A"/>
                          </a:solidFill>
                          <a:latin typeface="Times New Roman"/>
                        </a:rPr>
                        <a:t>One lab GPU</a:t>
                      </a:r>
                    </a:p>
                  </a:txBody>
                  <a:tcPr anchor="ctr" marL="45720" marR="45720" marT="18288" marB="18288">
                    <a:solidFill>
                      <a:srgbClr val="F3F3F3"/>
                    </a:solidFill>
                  </a:tcPr>
                </a:tc>
                <a:tc>
                  <a:txBody>
                    <a:bodyPr/>
                    <a:lstStyle/>
                    <a:p>
                      <a:pPr algn="ctr"/>
                      <a:r>
                        <a:rPr sz="1100" b="0">
                          <a:solidFill>
                            <a:srgbClr val="1A1A1A"/>
                          </a:solidFill>
                          <a:latin typeface="Times New Roman"/>
                        </a:rPr>
                        <a:t>5,777 steps, 6.6 h (396.7 min)</a:t>
                      </a:r>
                    </a:p>
                  </a:txBody>
                  <a:tcPr anchor="ctr" marL="45720" marR="45720" marT="18288" marB="18288">
                    <a:solidFill>
                      <a:srgbClr val="F3F3F3"/>
                    </a:solidFill>
                  </a:tcPr>
                </a:tc>
              </a:tr>
              <a:tr h="457200">
                <a:tc>
                  <a:txBody>
                    <a:bodyPr/>
                    <a:lstStyle/>
                    <a:p>
                      <a:pPr algn="l"/>
                      <a:r>
                        <a:rPr sz="1100" b="0">
                          <a:solidFill>
                            <a:srgbClr val="1A1A1A"/>
                          </a:solidFill>
                          <a:latin typeface="Times New Roman"/>
                        </a:rPr>
                        <a:t>Scoring one condition, 46,209 rows</a:t>
                      </a:r>
                    </a:p>
                  </a:txBody>
                  <a:tcPr anchor="ctr" marL="45720" marR="45720" marT="18288" marB="18288">
                    <a:solidFill>
                      <a:srgbClr val="FFFFFF"/>
                    </a:solidFill>
                  </a:tcPr>
                </a:tc>
                <a:tc>
                  <a:txBody>
                    <a:bodyPr/>
                    <a:lstStyle/>
                    <a:p>
                      <a:pPr algn="ctr"/>
                      <a:r>
                        <a:rPr sz="1100" b="0">
                          <a:solidFill>
                            <a:srgbClr val="1A1A1A"/>
                          </a:solidFill>
                          <a:latin typeface="Times New Roman"/>
                        </a:rPr>
                        <a:t>Two Kaggle T4, fp16</a:t>
                      </a:r>
                    </a:p>
                  </a:txBody>
                  <a:tcPr anchor="ctr" marL="45720" marR="45720" marT="18288" marB="18288">
                    <a:solidFill>
                      <a:srgbClr val="FFFFFF"/>
                    </a:solidFill>
                  </a:tcPr>
                </a:tc>
                <a:tc>
                  <a:txBody>
                    <a:bodyPr/>
                    <a:lstStyle/>
                    <a:p>
                      <a:pPr algn="ctr"/>
                      <a:r>
                        <a:rPr sz="1100" b="0">
                          <a:solidFill>
                            <a:srgbClr val="1A1A1A"/>
                          </a:solidFill>
                          <a:latin typeface="Times New Roman"/>
                        </a:rPr>
                        <a:t>About 75 min; 0.19-0.21 s per row per GPU</a:t>
                      </a:r>
                    </a:p>
                  </a:txBody>
                  <a:tcPr anchor="ctr" marL="45720" marR="45720" marT="18288" marB="18288">
                    <a:solidFill>
                      <a:srgbClr val="FFFFFF"/>
                    </a:solidFill>
                  </a:tcPr>
                </a:tc>
              </a:tr>
              <a:tr h="457200">
                <a:tc>
                  <a:txBody>
                    <a:bodyPr/>
                    <a:lstStyle/>
                    <a:p>
                      <a:pPr algn="l"/>
                      <a:r>
                        <a:rPr sz="1100" b="0">
                          <a:solidFill>
                            <a:srgbClr val="1A1A1A"/>
                          </a:solidFill>
                          <a:latin typeface="Times New Roman"/>
                        </a:rPr>
                        <a:t>Local zero-shot scoring</a:t>
                      </a:r>
                    </a:p>
                  </a:txBody>
                  <a:tcPr anchor="ctr" marL="45720" marR="45720" marT="18288" marB="18288">
                    <a:solidFill>
                      <a:srgbClr val="F3F3F3"/>
                    </a:solidFill>
                  </a:tcPr>
                </a:tc>
                <a:tc>
                  <a:txBody>
                    <a:bodyPr/>
                    <a:lstStyle/>
                    <a:p>
                      <a:pPr algn="ctr"/>
                      <a:r>
                        <a:rPr sz="1100" b="0">
                          <a:solidFill>
                            <a:srgbClr val="1A1A1A"/>
                          </a:solidFill>
                          <a:latin typeface="Times New Roman"/>
                        </a:rPr>
                        <a:t>Apple M1, 16 GB, 4-bit</a:t>
                      </a:r>
                    </a:p>
                  </a:txBody>
                  <a:tcPr anchor="ctr" marL="45720" marR="45720" marT="18288" marB="18288">
                    <a:solidFill>
                      <a:srgbClr val="F3F3F3"/>
                    </a:solidFill>
                  </a:tcPr>
                </a:tc>
                <a:tc>
                  <a:txBody>
                    <a:bodyPr/>
                    <a:lstStyle/>
                    <a:p>
                      <a:pPr algn="ctr"/>
                      <a:r>
                        <a:rPr sz="1100" b="0">
                          <a:solidFill>
                            <a:srgbClr val="1A1A1A"/>
                          </a:solidFill>
                          <a:latin typeface="Times New Roman"/>
                        </a:rPr>
                        <a:t>2.3 s per prompt; about 5 h per 1,000 respondents</a:t>
                      </a:r>
                    </a:p>
                  </a:txBody>
                  <a:tcPr anchor="ctr" marL="45720" marR="45720" marT="18288" marB="18288">
                    <a:solidFill>
                      <a:srgbClr val="F3F3F3"/>
                    </a:solidFill>
                  </a:tcPr>
                </a:tc>
              </a:tr>
              <a:tr h="457200">
                <a:tc>
                  <a:txBody>
                    <a:bodyPr/>
                    <a:lstStyle/>
                    <a:p>
                      <a:pPr algn="l"/>
                      <a:r>
                        <a:rPr sz="1100" b="0">
                          <a:solidFill>
                            <a:srgbClr val="1A1A1A"/>
                          </a:solidFill>
                          <a:latin typeface="Times New Roman"/>
                        </a:rPr>
                        <a:t>Classical baselines, 8 items</a:t>
                      </a:r>
                    </a:p>
                  </a:txBody>
                  <a:tcPr anchor="ctr" marL="45720" marR="45720" marT="18288" marB="18288">
                    <a:solidFill>
                      <a:srgbClr val="FFFFFF"/>
                    </a:solidFill>
                  </a:tcPr>
                </a:tc>
                <a:tc>
                  <a:txBody>
                    <a:bodyPr/>
                    <a:lstStyle/>
                    <a:p>
                      <a:pPr algn="ctr"/>
                      <a:r>
                        <a:rPr sz="1100" b="0">
                          <a:solidFill>
                            <a:srgbClr val="1A1A1A"/>
                          </a:solidFill>
                          <a:latin typeface="Times New Roman"/>
                        </a:rPr>
                        <a:t>Laptop CPU</a:t>
                      </a:r>
                    </a:p>
                  </a:txBody>
                  <a:tcPr anchor="ctr" marL="45720" marR="45720" marT="18288" marB="18288">
                    <a:solidFill>
                      <a:srgbClr val="FFFFFF"/>
                    </a:solidFill>
                  </a:tcPr>
                </a:tc>
                <a:tc>
                  <a:txBody>
                    <a:bodyPr/>
                    <a:lstStyle/>
                    <a:p>
                      <a:pPr algn="ctr"/>
                      <a:r>
                        <a:rPr sz="1100" b="0">
                          <a:solidFill>
                            <a:srgbClr val="1A1A1A"/>
                          </a:solidFill>
                          <a:latin typeface="Times New Roman"/>
                        </a:rPr>
                        <a:t>Under 1 minute for the whole fold</a:t>
                      </a:r>
                    </a:p>
                  </a:txBody>
                  <a:tcPr anchor="ctr" marL="45720" marR="45720" marT="18288" marB="18288">
                    <a:solidFill>
                      <a:srgbClr val="FFFFFF"/>
                    </a:solidFill>
                  </a:tcPr>
                </a:tc>
              </a:tr>
              <a:tr h="457200">
                <a:tc>
                  <a:txBody>
                    <a:bodyPr/>
                    <a:lstStyle/>
                    <a:p>
                      <a:pPr algn="l"/>
                      <a:r>
                        <a:rPr sz="1100" b="0">
                          <a:solidFill>
                            <a:srgbClr val="1A1A1A"/>
                          </a:solidFill>
                          <a:latin typeface="Times New Roman"/>
                        </a:rPr>
                        <a:t>gpt-oss-120b, 774 rows</a:t>
                      </a:r>
                    </a:p>
                  </a:txBody>
                  <a:tcPr anchor="ctr" marL="45720" marR="45720" marT="18288" marB="18288">
                    <a:solidFill>
                      <a:srgbClr val="F3F3F3"/>
                    </a:solidFill>
                  </a:tcPr>
                </a:tc>
                <a:tc>
                  <a:txBody>
                    <a:bodyPr/>
                    <a:lstStyle/>
                    <a:p>
                      <a:pPr algn="ctr"/>
                      <a:r>
                        <a:rPr sz="1100" b="0">
                          <a:solidFill>
                            <a:srgbClr val="1A1A1A"/>
                          </a:solidFill>
                          <a:latin typeface="Times New Roman"/>
                        </a:rPr>
                        <a:t>Free API tier</a:t>
                      </a:r>
                    </a:p>
                  </a:txBody>
                  <a:tcPr anchor="ctr" marL="45720" marR="45720" marT="18288" marB="18288">
                    <a:solidFill>
                      <a:srgbClr val="F3F3F3"/>
                    </a:solidFill>
                  </a:tcPr>
                </a:tc>
                <a:tc>
                  <a:txBody>
                    <a:bodyPr/>
                    <a:lstStyle/>
                    <a:p>
                      <a:pPr algn="ctr"/>
                      <a:r>
                        <a:rPr sz="1100" b="0">
                          <a:solidFill>
                            <a:srgbClr val="1A1A1A"/>
                          </a:solidFill>
                          <a:latin typeface="Times New Roman"/>
                        </a:rPr>
                        <a:t>Rate-limited; several hours</a:t>
                      </a:r>
                    </a:p>
                  </a:txBody>
                  <a:tcPr anchor="ctr" marL="45720" marR="45720" marT="18288" marB="18288">
                    <a:solidFill>
                      <a:srgbClr val="F3F3F3"/>
                    </a:solidFill>
                  </a:tcPr>
                </a:tc>
              </a:tr>
            </a:tbl>
          </a:graphicData>
        </a:graphic>
      </p:graphicFrame>
      <p:sp>
        <p:nvSpPr>
          <p:cNvPr id="7" name="Rectangle 6"/>
          <p:cNvSpPr/>
          <p:nvPr/>
        </p:nvSpPr>
        <p:spPr>
          <a:xfrm>
            <a:off x="457200" y="4983480"/>
            <a:ext cx="8229600" cy="128016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4983480"/>
            <a:ext cx="822960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4992624"/>
            <a:ext cx="811987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SCALING (LINEAR EXTRAPOLATIONS, NOT MEASUREMENTS)</a:t>
            </a:r>
          </a:p>
        </p:txBody>
      </p:sp>
      <p:sp>
        <p:nvSpPr>
          <p:cNvPr id="10" name="TextBox 9"/>
          <p:cNvSpPr txBox="1"/>
          <p:nvPr/>
        </p:nvSpPr>
        <p:spPr>
          <a:xfrm>
            <a:off x="530352" y="5349240"/>
            <a:ext cx="8083296" cy="868680"/>
          </a:xfrm>
          <a:prstGeom prst="rect">
            <a:avLst/>
          </a:prstGeom>
          <a:noFill/>
        </p:spPr>
        <p:txBody>
          <a:bodyPr wrap="square" anchor="t" lIns="73152" rIns="73152" tIns="27432" bIns="27432">
            <a:spAutoFit/>
          </a:bodyPr>
          <a:lstStyle/>
          <a:p>
            <a:pPr algn="l">
              <a:spcAft>
                <a:spcPts val="300"/>
              </a:spcAft>
            </a:pPr>
            <a:r>
              <a:rPr sz="1150" b="0">
                <a:solidFill>
                  <a:srgbClr val="1A1A1A"/>
                </a:solidFill>
                <a:latin typeface="Times New Roman"/>
              </a:rPr>
              <a:t>•  </a:t>
            </a:r>
            <a:r>
              <a:rPr sz="1150" b="0">
                <a:solidFill>
                  <a:srgbClr val="1A1A1A"/>
                </a:solidFill>
                <a:latin typeface="Times New Roman"/>
              </a:rPr>
              <a:t>All 29,999 respondents x 73 items = 2.2 million rows: about 116 T4-hours to score (about 58 h on two)</a:t>
            </a:r>
          </a:p>
          <a:p>
            <a:pPr algn="l">
              <a:spcAft>
                <a:spcPts val="300"/>
              </a:spcAft>
            </a:pPr>
            <a:r>
              <a:rPr sz="1150" b="0">
                <a:solidFill>
                  <a:srgbClr val="1A1A1A"/>
                </a:solidFill>
                <a:latin typeface="Times New Roman"/>
              </a:rPr>
              <a:t>•  </a:t>
            </a:r>
            <a:r>
              <a:rPr sz="1150" b="0">
                <a:solidFill>
                  <a:srgbClr val="1A1A1A"/>
                </a:solidFill>
                <a:latin typeface="Times New Roman"/>
              </a:rPr>
              <a:t>Fine-tuning on all 73 items (1.75 million examples): about 63 h at the lab GPU rate, about 290 h on a T4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371600"/>
            <a:ext cx="8229600" cy="548640"/>
          </a:xfrm>
        </p:spPr>
        <p:txBody>
          <a:bodyPr anchor="ctr"/>
          <a:lstStyle/>
          <a:p>
            <a:pPr algn="l"/>
            <a:r>
              <a:rPr sz="2400" b="1">
                <a:solidFill>
                  <a:srgbClr val="1A1A1A"/>
                </a:solidFill>
                <a:latin typeface="Times New Roman"/>
              </a:rPr>
              <a:t>WVS-7 replication and engineering lessons</a:t>
            </a:r>
          </a:p>
        </p:txBody>
      </p:sp>
      <p:sp>
        <p:nvSpPr>
          <p:cNvPr id="3" name="Rectangle 2"/>
          <p:cNvSpPr/>
          <p:nvPr/>
        </p:nvSpPr>
        <p:spPr>
          <a:xfrm>
            <a:off x="457200" y="1938528"/>
            <a:ext cx="8229600" cy="3657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6373368"/>
            <a:ext cx="5120640" cy="292608"/>
          </a:xfrm>
          <a:prstGeom prst="rect">
            <a:avLst/>
          </a:prstGeom>
          <a:noFill/>
        </p:spPr>
        <p:txBody>
          <a:bodyPr wrap="square" anchor="ctr" lIns="73152" rIns="73152" tIns="27432" bIns="27432">
            <a:spAutoFit/>
          </a:bodyPr>
          <a:lstStyle/>
          <a:p>
            <a:pPr algn="ctr">
              <a:spcAft>
                <a:spcPts val="400"/>
              </a:spcAft>
            </a:pPr>
            <a:r>
              <a:rPr sz="1050" b="0">
                <a:solidFill>
                  <a:srgbClr val="1A1A1A"/>
                </a:solidFill>
                <a:latin typeface="Times New Roman"/>
              </a:rPr>
              <a:t>Computer Engineering Department, MPSTME, Mumbai Campus  |  Group 55</a:t>
            </a:r>
          </a:p>
        </p:txBody>
      </p:sp>
      <p:sp>
        <p:nvSpPr>
          <p:cNvPr id="5" name="TextBox 4"/>
          <p:cNvSpPr txBox="1"/>
          <p:nvPr/>
        </p:nvSpPr>
        <p:spPr>
          <a:xfrm>
            <a:off x="7589520" y="6373368"/>
            <a:ext cx="1097280" cy="292608"/>
          </a:xfrm>
          <a:prstGeom prst="rect">
            <a:avLst/>
          </a:prstGeom>
          <a:noFill/>
        </p:spPr>
        <p:txBody>
          <a:bodyPr wrap="square" anchor="ctr" lIns="73152" rIns="73152" tIns="27432" bIns="27432">
            <a:spAutoFit/>
          </a:bodyPr>
          <a:lstStyle/>
          <a:p>
            <a:pPr algn="r">
              <a:spcAft>
                <a:spcPts val="400"/>
              </a:spcAft>
            </a:pPr>
            <a:r>
              <a:rPr sz="1100" b="0">
                <a:solidFill>
                  <a:srgbClr val="1A1A1A"/>
                </a:solidFill>
                <a:latin typeface="Times New Roman"/>
              </a:rPr>
              <a:t>14</a:t>
            </a:r>
          </a:p>
        </p:txBody>
      </p:sp>
      <p:graphicFrame>
        <p:nvGraphicFramePr>
          <p:cNvPr id="6" name="Table 5"/>
          <p:cNvGraphicFramePr>
            <a:graphicFrameLocks noGrp="1"/>
          </p:cNvGraphicFramePr>
          <p:nvPr/>
        </p:nvGraphicFramePr>
        <p:xfrm>
          <a:off x="457200" y="2103120"/>
          <a:ext cx="4023360" cy="1920240"/>
        </p:xfrm>
        <a:graphic>
          <a:graphicData uri="http://schemas.openxmlformats.org/drawingml/2006/table">
            <a:tbl>
              <a:tblPr firstRow="1" bandRow="1">
                <a:tableStyleId>{5C22544A-7EE6-4342-B048-85BDC9FD1C3A}</a:tableStyleId>
              </a:tblPr>
              <a:tblGrid>
                <a:gridCol w="2194560"/>
                <a:gridCol w="914400"/>
                <a:gridCol w="914400"/>
              </a:tblGrid>
              <a:tr h="384048">
                <a:tc>
                  <a:txBody>
                    <a:bodyPr/>
                    <a:lstStyle/>
                    <a:p>
                      <a:pPr algn="l"/>
                      <a:r>
                        <a:rPr sz="1100" b="1">
                          <a:solidFill>
                            <a:srgbClr val="FFFFFF"/>
                          </a:solidFill>
                          <a:latin typeface="Times New Roman"/>
                        </a:rPr>
                        <a:t>WVS-7, 15 items</a:t>
                      </a:r>
                    </a:p>
                  </a:txBody>
                  <a:tcPr anchor="ctr" marL="45720" marR="45720" marT="18288" marB="18288">
                    <a:solidFill>
                      <a:srgbClr val="BC312C"/>
                    </a:solidFill>
                  </a:tcPr>
                </a:tc>
                <a:tc>
                  <a:txBody>
                    <a:bodyPr/>
                    <a:lstStyle/>
                    <a:p>
                      <a:pPr algn="ctr"/>
                      <a:r>
                        <a:rPr sz="1100" b="1">
                          <a:solidFill>
                            <a:srgbClr val="FFFFFF"/>
                          </a:solidFill>
                          <a:latin typeface="Times New Roman"/>
                        </a:rPr>
                        <a:t>LLM</a:t>
                      </a:r>
                    </a:p>
                  </a:txBody>
                  <a:tcPr anchor="ctr" marL="45720" marR="45720" marT="18288" marB="18288">
                    <a:solidFill>
                      <a:srgbClr val="BC312C"/>
                    </a:solidFill>
                  </a:tcPr>
                </a:tc>
                <a:tc>
                  <a:txBody>
                    <a:bodyPr/>
                    <a:lstStyle/>
                    <a:p>
                      <a:pPr algn="ctr"/>
                      <a:r>
                        <a:rPr sz="1100" b="1">
                          <a:solidFill>
                            <a:srgbClr val="FFFFFF"/>
                          </a:solidFill>
                          <a:latin typeface="Times New Roman"/>
                        </a:rPr>
                        <a:t>Majority</a:t>
                      </a:r>
                    </a:p>
                  </a:txBody>
                  <a:tcPr anchor="ctr" marL="45720" marR="45720" marT="18288" marB="18288">
                    <a:solidFill>
                      <a:srgbClr val="BC312C"/>
                    </a:solidFill>
                  </a:tcPr>
                </a:tc>
              </a:tr>
              <a:tr h="384048">
                <a:tc>
                  <a:txBody>
                    <a:bodyPr/>
                    <a:lstStyle/>
                    <a:p>
                      <a:pPr algn="l"/>
                      <a:r>
                        <a:rPr sz="1100" b="0">
                          <a:solidFill>
                            <a:srgbClr val="1A1A1A"/>
                          </a:solidFill>
                          <a:latin typeface="Times New Roman"/>
                        </a:rPr>
                        <a:t>Gemini 3.1 Flash Lite (30)</a:t>
                      </a:r>
                    </a:p>
                  </a:txBody>
                  <a:tcPr anchor="ctr" marL="45720" marR="45720" marT="18288" marB="18288">
                    <a:solidFill>
                      <a:srgbClr val="F3F3F3"/>
                    </a:solidFill>
                  </a:tcPr>
                </a:tc>
                <a:tc>
                  <a:txBody>
                    <a:bodyPr/>
                    <a:lstStyle/>
                    <a:p>
                      <a:pPr algn="ctr"/>
                      <a:r>
                        <a:rPr sz="1100" b="0">
                          <a:solidFill>
                            <a:srgbClr val="1A1A1A"/>
                          </a:solidFill>
                          <a:latin typeface="Times New Roman"/>
                        </a:rPr>
                        <a:t>25.7%</a:t>
                      </a:r>
                    </a:p>
                  </a:txBody>
                  <a:tcPr anchor="ctr" marL="45720" marR="45720" marT="18288" marB="18288">
                    <a:solidFill>
                      <a:srgbClr val="F3F3F3"/>
                    </a:solidFill>
                  </a:tcPr>
                </a:tc>
                <a:tc>
                  <a:txBody>
                    <a:bodyPr/>
                    <a:lstStyle/>
                    <a:p>
                      <a:pPr algn="ctr"/>
                      <a:r>
                        <a:rPr sz="1100" b="0">
                          <a:solidFill>
                            <a:srgbClr val="1A1A1A"/>
                          </a:solidFill>
                          <a:latin typeface="Times New Roman"/>
                        </a:rPr>
                        <a:t>20.9%</a:t>
                      </a:r>
                    </a:p>
                  </a:txBody>
                  <a:tcPr anchor="ctr" marL="45720" marR="45720" marT="18288" marB="18288">
                    <a:solidFill>
                      <a:srgbClr val="F3F3F3"/>
                    </a:solidFill>
                  </a:tcPr>
                </a:tc>
              </a:tr>
              <a:tr h="384048">
                <a:tc>
                  <a:txBody>
                    <a:bodyPr/>
                    <a:lstStyle/>
                    <a:p>
                      <a:pPr algn="l"/>
                      <a:r>
                        <a:rPr sz="1100" b="0">
                          <a:solidFill>
                            <a:srgbClr val="1A1A1A"/>
                          </a:solidFill>
                          <a:latin typeface="Times New Roman"/>
                        </a:rPr>
                        <a:t>gpt-oss-120b (40)</a:t>
                      </a:r>
                    </a:p>
                  </a:txBody>
                  <a:tcPr anchor="ctr" marL="45720" marR="45720" marT="18288" marB="18288">
                    <a:solidFill>
                      <a:srgbClr val="FFFFFF"/>
                    </a:solidFill>
                  </a:tcPr>
                </a:tc>
                <a:tc>
                  <a:txBody>
                    <a:bodyPr/>
                    <a:lstStyle/>
                    <a:p>
                      <a:pPr algn="ctr"/>
                      <a:r>
                        <a:rPr sz="1100" b="0">
                          <a:solidFill>
                            <a:srgbClr val="1A1A1A"/>
                          </a:solidFill>
                          <a:latin typeface="Times New Roman"/>
                        </a:rPr>
                        <a:t>23.0%</a:t>
                      </a:r>
                    </a:p>
                  </a:txBody>
                  <a:tcPr anchor="ctr" marL="45720" marR="45720" marT="18288" marB="18288">
                    <a:solidFill>
                      <a:srgbClr val="FFFFFF"/>
                    </a:solidFill>
                  </a:tcPr>
                </a:tc>
                <a:tc>
                  <a:txBody>
                    <a:bodyPr/>
                    <a:lstStyle/>
                    <a:p>
                      <a:pPr algn="ctr"/>
                      <a:r>
                        <a:rPr sz="1100" b="0">
                          <a:solidFill>
                            <a:srgbClr val="1A1A1A"/>
                          </a:solidFill>
                          <a:latin typeface="Times New Roman"/>
                        </a:rPr>
                        <a:t>22.3%</a:t>
                      </a:r>
                    </a:p>
                  </a:txBody>
                  <a:tcPr anchor="ctr" marL="45720" marR="45720" marT="18288" marB="18288">
                    <a:solidFill>
                      <a:srgbClr val="FFFFFF"/>
                    </a:solidFill>
                  </a:tcPr>
                </a:tc>
              </a:tr>
              <a:tr h="384048">
                <a:tc>
                  <a:txBody>
                    <a:bodyPr/>
                    <a:lstStyle/>
                    <a:p>
                      <a:pPr algn="l"/>
                      <a:r>
                        <a:rPr sz="1100" b="0">
                          <a:solidFill>
                            <a:srgbClr val="1A1A1A"/>
                          </a:solidFill>
                          <a:latin typeface="Times New Roman"/>
                        </a:rPr>
                        <a:t>Qwen2.5-7B (120)</a:t>
                      </a:r>
                    </a:p>
                  </a:txBody>
                  <a:tcPr anchor="ctr" marL="45720" marR="45720" marT="18288" marB="18288">
                    <a:solidFill>
                      <a:srgbClr val="F3F3F3"/>
                    </a:solidFill>
                  </a:tcPr>
                </a:tc>
                <a:tc>
                  <a:txBody>
                    <a:bodyPr/>
                    <a:lstStyle/>
                    <a:p>
                      <a:pPr algn="ctr"/>
                      <a:r>
                        <a:rPr sz="1100" b="0">
                          <a:solidFill>
                            <a:srgbClr val="1A1A1A"/>
                          </a:solidFill>
                          <a:latin typeface="Times New Roman"/>
                        </a:rPr>
                        <a:t>22.1%</a:t>
                      </a:r>
                    </a:p>
                  </a:txBody>
                  <a:tcPr anchor="ctr" marL="45720" marR="45720" marT="18288" marB="18288">
                    <a:solidFill>
                      <a:srgbClr val="F3F3F3"/>
                    </a:solidFill>
                  </a:tcPr>
                </a:tc>
                <a:tc>
                  <a:txBody>
                    <a:bodyPr/>
                    <a:lstStyle/>
                    <a:p>
                      <a:pPr algn="ctr"/>
                      <a:r>
                        <a:rPr sz="1100" b="0">
                          <a:solidFill>
                            <a:srgbClr val="1A1A1A"/>
                          </a:solidFill>
                          <a:latin typeface="Times New Roman"/>
                        </a:rPr>
                        <a:t>24.9%</a:t>
                      </a:r>
                    </a:p>
                  </a:txBody>
                  <a:tcPr anchor="ctr" marL="45720" marR="45720" marT="18288" marB="18288">
                    <a:solidFill>
                      <a:srgbClr val="F3F3F3"/>
                    </a:solidFill>
                  </a:tcPr>
                </a:tc>
              </a:tr>
              <a:tr h="384048">
                <a:tc>
                  <a:txBody>
                    <a:bodyPr/>
                    <a:lstStyle/>
                    <a:p>
                      <a:pPr algn="l"/>
                      <a:r>
                        <a:rPr sz="1100" b="0">
                          <a:solidFill>
                            <a:srgbClr val="1A1A1A"/>
                          </a:solidFill>
                          <a:latin typeface="Times New Roman"/>
                        </a:rPr>
                        <a:t>GBM (14 attributes)</a:t>
                      </a:r>
                    </a:p>
                  </a:txBody>
                  <a:tcPr anchor="ctr" marL="45720" marR="45720" marT="18288" marB="18288">
                    <a:solidFill>
                      <a:srgbClr val="FFFFFF"/>
                    </a:solidFill>
                  </a:tcPr>
                </a:tc>
                <a:tc>
                  <a:txBody>
                    <a:bodyPr/>
                    <a:lstStyle/>
                    <a:p>
                      <a:pPr algn="ctr"/>
                      <a:r>
                        <a:rPr sz="1100" b="0">
                          <a:solidFill>
                            <a:srgbClr val="1A1A1A"/>
                          </a:solidFill>
                          <a:latin typeface="Times New Roman"/>
                        </a:rPr>
                        <a:t>34-38%</a:t>
                      </a:r>
                    </a:p>
                  </a:txBody>
                  <a:tcPr anchor="ctr" marL="45720" marR="45720" marT="18288" marB="18288">
                    <a:solidFill>
                      <a:srgbClr val="FFFFFF"/>
                    </a:solidFill>
                  </a:tcPr>
                </a:tc>
                <a:tc>
                  <a:txBody>
                    <a:bodyPr/>
                    <a:lstStyle/>
                    <a:p>
                      <a:pPr algn="ctr"/>
                      <a:r>
                        <a:rPr sz="1100" b="0">
                          <a:solidFill>
                            <a:srgbClr val="1A1A1A"/>
                          </a:solidFill>
                          <a:latin typeface="Times New Roman"/>
                        </a:rPr>
                        <a:t>-</a:t>
                      </a:r>
                    </a:p>
                  </a:txBody>
                  <a:tcPr anchor="ctr" marL="45720" marR="45720" marT="18288" marB="18288">
                    <a:solidFill>
                      <a:srgbClr val="FFFFFF"/>
                    </a:solidFill>
                  </a:tcPr>
                </a:tc>
              </a:tr>
            </a:tbl>
          </a:graphicData>
        </a:graphic>
      </p:graphicFrame>
      <p:sp>
        <p:nvSpPr>
          <p:cNvPr id="7" name="TextBox 6"/>
          <p:cNvSpPr txBox="1"/>
          <p:nvPr/>
        </p:nvSpPr>
        <p:spPr>
          <a:xfrm>
            <a:off x="457200" y="4160520"/>
            <a:ext cx="4023360" cy="2103120"/>
          </a:xfrm>
          <a:prstGeom prst="rect">
            <a:avLst/>
          </a:prstGeom>
          <a:noFill/>
        </p:spPr>
        <p:txBody>
          <a:bodyPr wrap="square" anchor="t" lIns="73152" rIns="73152" tIns="27432" bIns="27432">
            <a:spAutoFit/>
          </a:bodyPr>
          <a:lstStyle/>
          <a:p>
            <a:pPr algn="l">
              <a:spcAft>
                <a:spcPts val="400"/>
              </a:spcAft>
            </a:pPr>
            <a:r>
              <a:rPr sz="1200" b="1">
                <a:solidFill>
                  <a:srgbClr val="1A1A1A"/>
                </a:solidFill>
                <a:latin typeface="Times New Roman"/>
              </a:rPr>
              <a:t>WVS findings</a:t>
            </a:r>
          </a:p>
          <a:p>
            <a:pPr algn="l">
              <a:spcAft>
                <a:spcPts val="400"/>
              </a:spcAft>
            </a:pPr>
            <a:r>
              <a:rPr sz="1200" b="0">
                <a:solidFill>
                  <a:srgbClr val="1A1A1A"/>
                </a:solidFill>
                <a:latin typeface="Times New Roman"/>
              </a:rPr>
              <a:t>LLM accuracy 22-26%, at or below the majority class on the same rows</a:t>
            </a:r>
          </a:p>
          <a:p>
            <a:pPr algn="l">
              <a:spcAft>
                <a:spcPts val="400"/>
              </a:spcAft>
            </a:pPr>
            <a:r>
              <a:rPr sz="1200" b="0">
                <a:solidFill>
                  <a:srgbClr val="1A1A1A"/>
                </a:solidFill>
                <a:latin typeface="Times New Roman"/>
              </a:rPr>
              <a:t>Group differences show no directional signal (r = -0.03)</a:t>
            </a:r>
          </a:p>
          <a:p>
            <a:pPr algn="l">
              <a:spcAft>
                <a:spcPts val="400"/>
              </a:spcAft>
            </a:pPr>
            <a:r>
              <a:rPr sz="1200" b="0">
                <a:solidFill>
                  <a:srgbClr val="1A1A1A"/>
                </a:solidFill>
                <a:latin typeface="Times New Roman"/>
              </a:rPr>
              <a:t>No subgroup gap distinguishable from chance</a:t>
            </a:r>
          </a:p>
        </p:txBody>
      </p:sp>
      <p:sp>
        <p:nvSpPr>
          <p:cNvPr id="8" name="Rectangle 7"/>
          <p:cNvSpPr/>
          <p:nvPr/>
        </p:nvSpPr>
        <p:spPr>
          <a:xfrm>
            <a:off x="4663440" y="2103120"/>
            <a:ext cx="4023360" cy="411480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663440" y="2103120"/>
            <a:ext cx="402336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18303" y="2112263"/>
            <a:ext cx="391363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LESSONS FROM BUILDING IT</a:t>
            </a:r>
          </a:p>
        </p:txBody>
      </p:sp>
      <p:sp>
        <p:nvSpPr>
          <p:cNvPr id="11" name="TextBox 10"/>
          <p:cNvSpPr txBox="1"/>
          <p:nvPr/>
        </p:nvSpPr>
        <p:spPr>
          <a:xfrm>
            <a:off x="4736592" y="2468879"/>
            <a:ext cx="3877056" cy="3703320"/>
          </a:xfrm>
          <a:prstGeom prst="rect">
            <a:avLst/>
          </a:prstGeom>
          <a:noFill/>
        </p:spPr>
        <p:txBody>
          <a:bodyPr wrap="square" anchor="t" lIns="73152" rIns="73152" tIns="27432" bIns="27432">
            <a:spAutoFit/>
          </a:bodyPr>
          <a:lstStyle/>
          <a:p>
            <a:pPr algn="l">
              <a:spcAft>
                <a:spcPts val="300"/>
              </a:spcAft>
            </a:pPr>
            <a:r>
              <a:rPr sz="1200" b="0">
                <a:solidFill>
                  <a:srgbClr val="1A1A1A"/>
                </a:solidFill>
                <a:latin typeface="Times New Roman"/>
              </a:rPr>
              <a:t>•  </a:t>
            </a:r>
            <a:r>
              <a:rPr sz="1200" b="0">
                <a:solidFill>
                  <a:srgbClr val="1A1A1A"/>
                </a:solidFill>
                <a:latin typeface="Times New Roman"/>
              </a:rPr>
              <a:t>Region labels were wrong on every code until checked against the WVS annex; fixing it moved gaps by several points</a:t>
            </a:r>
          </a:p>
          <a:p>
            <a:pPr algn="l">
              <a:spcAft>
                <a:spcPts val="300"/>
              </a:spcAft>
            </a:pPr>
            <a:r>
              <a:rPr sz="1200" b="0">
                <a:solidFill>
                  <a:srgbClr val="1A1A1A"/>
                </a:solidFill>
                <a:latin typeface="Times New Roman"/>
              </a:rPr>
              <a:t>•  </a:t>
            </a:r>
            <a:r>
              <a:rPr sz="1200" b="0">
                <a:solidFill>
                  <a:srgbClr val="1A1A1A"/>
                </a:solidFill>
                <a:latin typeface="Times New Roman"/>
              </a:rPr>
              <a:t>A cache that treated failures as final silently re-served 'no answer'</a:t>
            </a:r>
          </a:p>
          <a:p>
            <a:pPr algn="l">
              <a:spcAft>
                <a:spcPts val="300"/>
              </a:spcAft>
            </a:pPr>
            <a:r>
              <a:rPr sz="1200" b="0">
                <a:solidFill>
                  <a:srgbClr val="1A1A1A"/>
                </a:solidFill>
                <a:latin typeface="Times New Roman"/>
              </a:rPr>
              <a:t>•  </a:t>
            </a:r>
            <a:r>
              <a:rPr sz="1200" b="0">
                <a:solidFill>
                  <a:srgbClr val="1A1A1A"/>
                </a:solidFill>
                <a:latin typeface="Times New Roman"/>
              </a:rPr>
              <a:t>An apparent collapse on one item was a decoding artefact</a:t>
            </a:r>
          </a:p>
          <a:p>
            <a:pPr algn="l">
              <a:spcAft>
                <a:spcPts val="300"/>
              </a:spcAft>
            </a:pPr>
            <a:r>
              <a:rPr sz="1200" b="0">
                <a:solidFill>
                  <a:srgbClr val="1A1A1A"/>
                </a:solidFill>
                <a:latin typeface="Times New Roman"/>
              </a:rPr>
              <a:t>•  </a:t>
            </a:r>
            <a:r>
              <a:rPr sz="1200" b="0">
                <a:solidFill>
                  <a:srgbClr val="1A1A1A"/>
                </a:solidFill>
                <a:latin typeface="Times New Roman"/>
              </a:rPr>
              <a:t>Prompt wording cut refusals from 13% to 0%</a:t>
            </a:r>
          </a:p>
          <a:p>
            <a:pPr algn="l">
              <a:spcAft>
                <a:spcPts val="300"/>
              </a:spcAft>
            </a:pPr>
            <a:r>
              <a:rPr sz="1200" b="0">
                <a:solidFill>
                  <a:srgbClr val="1A1A1A"/>
                </a:solidFill>
                <a:latin typeface="Times New Roman"/>
              </a:rPr>
              <a:t>•  </a:t>
            </a:r>
            <a:r>
              <a:rPr sz="1200" b="0">
                <a:solidFill>
                  <a:srgbClr val="1A1A1A"/>
                </a:solidFill>
                <a:latin typeface="Times New Roman"/>
              </a:rPr>
              <a:t>Always report the majority baseline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371600"/>
            <a:ext cx="8229600" cy="548640"/>
          </a:xfrm>
        </p:spPr>
        <p:txBody>
          <a:bodyPr anchor="ctr"/>
          <a:lstStyle/>
          <a:p>
            <a:pPr algn="l"/>
            <a:r>
              <a:rPr sz="2400" b="1">
                <a:solidFill>
                  <a:srgbClr val="1A1A1A"/>
                </a:solidFill>
                <a:latin typeface="Times New Roman"/>
              </a:rPr>
              <a:t>Limitations and future work</a:t>
            </a:r>
          </a:p>
        </p:txBody>
      </p:sp>
      <p:sp>
        <p:nvSpPr>
          <p:cNvPr id="3" name="Rectangle 2"/>
          <p:cNvSpPr/>
          <p:nvPr/>
        </p:nvSpPr>
        <p:spPr>
          <a:xfrm>
            <a:off x="457200" y="1938528"/>
            <a:ext cx="8229600" cy="3657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6373368"/>
            <a:ext cx="5120640" cy="292608"/>
          </a:xfrm>
          <a:prstGeom prst="rect">
            <a:avLst/>
          </a:prstGeom>
          <a:noFill/>
        </p:spPr>
        <p:txBody>
          <a:bodyPr wrap="square" anchor="ctr" lIns="73152" rIns="73152" tIns="27432" bIns="27432">
            <a:spAutoFit/>
          </a:bodyPr>
          <a:lstStyle/>
          <a:p>
            <a:pPr algn="ctr">
              <a:spcAft>
                <a:spcPts val="400"/>
              </a:spcAft>
            </a:pPr>
            <a:r>
              <a:rPr sz="1050" b="0">
                <a:solidFill>
                  <a:srgbClr val="1A1A1A"/>
                </a:solidFill>
                <a:latin typeface="Times New Roman"/>
              </a:rPr>
              <a:t>Computer Engineering Department, MPSTME, Mumbai Campus  |  Group 55</a:t>
            </a:r>
          </a:p>
        </p:txBody>
      </p:sp>
      <p:sp>
        <p:nvSpPr>
          <p:cNvPr id="5" name="TextBox 4"/>
          <p:cNvSpPr txBox="1"/>
          <p:nvPr/>
        </p:nvSpPr>
        <p:spPr>
          <a:xfrm>
            <a:off x="7589520" y="6373368"/>
            <a:ext cx="1097280" cy="292608"/>
          </a:xfrm>
          <a:prstGeom prst="rect">
            <a:avLst/>
          </a:prstGeom>
          <a:noFill/>
        </p:spPr>
        <p:txBody>
          <a:bodyPr wrap="square" anchor="ctr" lIns="73152" rIns="73152" tIns="27432" bIns="27432">
            <a:spAutoFit/>
          </a:bodyPr>
          <a:lstStyle/>
          <a:p>
            <a:pPr algn="r">
              <a:spcAft>
                <a:spcPts val="400"/>
              </a:spcAft>
            </a:pPr>
            <a:r>
              <a:rPr sz="1100" b="0">
                <a:solidFill>
                  <a:srgbClr val="1A1A1A"/>
                </a:solidFill>
                <a:latin typeface="Times New Roman"/>
              </a:rPr>
              <a:t>15</a:t>
            </a:r>
          </a:p>
        </p:txBody>
      </p:sp>
      <p:sp>
        <p:nvSpPr>
          <p:cNvPr id="6" name="Rectangle 5"/>
          <p:cNvSpPr/>
          <p:nvPr/>
        </p:nvSpPr>
        <p:spPr>
          <a:xfrm>
            <a:off x="457200" y="2103120"/>
            <a:ext cx="4023360" cy="411480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103120"/>
            <a:ext cx="402336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 y="2112263"/>
            <a:ext cx="391363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LIMITATIONS</a:t>
            </a:r>
          </a:p>
        </p:txBody>
      </p:sp>
      <p:sp>
        <p:nvSpPr>
          <p:cNvPr id="9" name="TextBox 8"/>
          <p:cNvSpPr txBox="1"/>
          <p:nvPr/>
        </p:nvSpPr>
        <p:spPr>
          <a:xfrm>
            <a:off x="530352" y="2468879"/>
            <a:ext cx="3877056" cy="3703320"/>
          </a:xfrm>
          <a:prstGeom prst="rect">
            <a:avLst/>
          </a:prstGeom>
          <a:noFill/>
        </p:spPr>
        <p:txBody>
          <a:bodyPr wrap="square" anchor="t" lIns="73152" rIns="73152" tIns="27432" bIns="27432">
            <a:spAutoFit/>
          </a:bodyPr>
          <a:lstStyle/>
          <a:p>
            <a:pPr algn="l">
              <a:spcAft>
                <a:spcPts val="300"/>
              </a:spcAft>
            </a:pPr>
            <a:r>
              <a:rPr sz="1300" b="0">
                <a:solidFill>
                  <a:srgbClr val="1A1A1A"/>
                </a:solidFill>
                <a:latin typeface="Times New Roman"/>
              </a:rPr>
              <a:t>•  </a:t>
            </a:r>
            <a:r>
              <a:rPr sz="1300" b="0">
                <a:solidFill>
                  <a:srgbClr val="1A1A1A"/>
                </a:solidFill>
                <a:latin typeface="Times New Roman"/>
              </a:rPr>
              <a:t>One fold, one seed, one epoch</a:t>
            </a:r>
          </a:p>
          <a:p>
            <a:pPr algn="l">
              <a:spcAft>
                <a:spcPts val="300"/>
              </a:spcAft>
            </a:pPr>
            <a:r>
              <a:rPr sz="1300" b="0">
                <a:solidFill>
                  <a:srgbClr val="1A1A1A"/>
                </a:solidFill>
                <a:latin typeface="Times New Roman"/>
              </a:rPr>
              <a:t>•  </a:t>
            </a:r>
            <a:r>
              <a:rPr sz="1300" b="0">
                <a:solidFill>
                  <a:srgbClr val="1A1A1A"/>
                </a:solidFill>
                <a:latin typeface="Times New Roman"/>
              </a:rPr>
              <a:t>Transfer: approximate MLX port, 8 items, 120 respondents</a:t>
            </a:r>
          </a:p>
          <a:p>
            <a:pPr algn="l">
              <a:spcAft>
                <a:spcPts val="300"/>
              </a:spcAft>
            </a:pPr>
            <a:r>
              <a:rPr sz="1300" b="0">
                <a:solidFill>
                  <a:srgbClr val="1A1A1A"/>
                </a:solidFill>
                <a:latin typeface="Times New Roman"/>
              </a:rPr>
              <a:t>•  </a:t>
            </a:r>
            <a:r>
              <a:rPr sz="1300" b="0">
                <a:solidFill>
                  <a:srgbClr val="1A1A1A"/>
                </a:solidFill>
                <a:latin typeface="Times New Roman"/>
              </a:rPr>
              <a:t>Zero-shot controls on 100-200 respondent subsets</a:t>
            </a:r>
          </a:p>
          <a:p>
            <a:pPr algn="l">
              <a:spcAft>
                <a:spcPts val="300"/>
              </a:spcAft>
            </a:pPr>
            <a:r>
              <a:rPr sz="1300" b="0">
                <a:solidFill>
                  <a:srgbClr val="1A1A1A"/>
                </a:solidFill>
                <a:latin typeface="Times New Roman"/>
              </a:rPr>
              <a:t>•  </a:t>
            </a:r>
            <a:r>
              <a:rPr sz="1300" b="0">
                <a:solidFill>
                  <a:srgbClr val="1A1A1A"/>
                </a:solidFill>
                <a:latin typeface="Times New Roman"/>
              </a:rPr>
              <a:t>No frontier model on these surveys</a:t>
            </a:r>
          </a:p>
          <a:p>
            <a:pPr algn="l">
              <a:spcAft>
                <a:spcPts val="300"/>
              </a:spcAft>
            </a:pPr>
            <a:r>
              <a:rPr sz="1300" b="0">
                <a:solidFill>
                  <a:srgbClr val="1A1A1A"/>
                </a:solidFill>
                <a:latin typeface="Times New Roman"/>
              </a:rPr>
              <a:t>•  </a:t>
            </a:r>
            <a:r>
              <a:rPr sz="1300" b="0">
                <a:solidFill>
                  <a:srgbClr val="1A1A1A"/>
                </a:solidFill>
                <a:latin typeface="Times New Roman"/>
              </a:rPr>
              <a:t>Pew survey weights not applied</a:t>
            </a:r>
          </a:p>
          <a:p>
            <a:pPr algn="l">
              <a:spcAft>
                <a:spcPts val="300"/>
              </a:spcAft>
            </a:pPr>
            <a:r>
              <a:rPr sz="1300" b="0">
                <a:solidFill>
                  <a:srgbClr val="1A1A1A"/>
                </a:solidFill>
                <a:latin typeface="Times New Roman"/>
              </a:rPr>
              <a:t>•  </a:t>
            </a:r>
            <a:r>
              <a:rPr sz="1300" b="0">
                <a:solidFill>
                  <a:srgbClr val="1A1A1A"/>
                </a:solidFill>
                <a:latin typeface="Times New Roman"/>
              </a:rPr>
              <a:t>Exact-match accuracy; fp16 scoring vs bf16 training</a:t>
            </a:r>
          </a:p>
        </p:txBody>
      </p:sp>
      <p:sp>
        <p:nvSpPr>
          <p:cNvPr id="10" name="Rectangle 9"/>
          <p:cNvSpPr/>
          <p:nvPr/>
        </p:nvSpPr>
        <p:spPr>
          <a:xfrm>
            <a:off x="4663440" y="2103120"/>
            <a:ext cx="4023360" cy="411480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63440" y="2103120"/>
            <a:ext cx="402336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8303" y="2112263"/>
            <a:ext cx="391363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FUTURE WORK</a:t>
            </a:r>
          </a:p>
        </p:txBody>
      </p:sp>
      <p:sp>
        <p:nvSpPr>
          <p:cNvPr id="13" name="TextBox 12"/>
          <p:cNvSpPr txBox="1"/>
          <p:nvPr/>
        </p:nvSpPr>
        <p:spPr>
          <a:xfrm>
            <a:off x="4736592" y="2468879"/>
            <a:ext cx="3877056" cy="3703320"/>
          </a:xfrm>
          <a:prstGeom prst="rect">
            <a:avLst/>
          </a:prstGeom>
          <a:noFill/>
        </p:spPr>
        <p:txBody>
          <a:bodyPr wrap="square" anchor="t" lIns="73152" rIns="73152" tIns="27432" bIns="27432">
            <a:spAutoFit/>
          </a:bodyPr>
          <a:lstStyle/>
          <a:p>
            <a:pPr algn="l">
              <a:spcAft>
                <a:spcPts val="300"/>
              </a:spcAft>
            </a:pPr>
            <a:r>
              <a:rPr sz="1300" b="0">
                <a:solidFill>
                  <a:srgbClr val="1A1A1A"/>
                </a:solidFill>
                <a:latin typeface="Times New Roman"/>
              </a:rPr>
              <a:t>•  </a:t>
            </a:r>
            <a:r>
              <a:rPr sz="1300" b="0">
                <a:solidFill>
                  <a:srgbClr val="1A1A1A"/>
                </a:solidFill>
                <a:latin typeface="Times New Roman"/>
              </a:rPr>
              <a:t>Fine-tune on many items; test transfer on dozens of unseen items</a:t>
            </a:r>
          </a:p>
          <a:p>
            <a:pPr algn="l">
              <a:spcAft>
                <a:spcPts val="300"/>
              </a:spcAft>
            </a:pPr>
            <a:r>
              <a:rPr sz="1300" b="0">
                <a:solidFill>
                  <a:srgbClr val="1A1A1A"/>
                </a:solidFill>
                <a:latin typeface="Times New Roman"/>
              </a:rPr>
              <a:t>•  </a:t>
            </a:r>
            <a:r>
              <a:rPr sz="1300" b="0">
                <a:solidFill>
                  <a:srgbClr val="1A1A1A"/>
                </a:solidFill>
                <a:latin typeface="Times New Roman"/>
              </a:rPr>
              <a:t>Repeat across folds and seeds; use the original adapter</a:t>
            </a:r>
          </a:p>
          <a:p>
            <a:pPr algn="l">
              <a:spcAft>
                <a:spcPts val="300"/>
              </a:spcAft>
            </a:pPr>
            <a:r>
              <a:rPr sz="1300" b="0">
                <a:solidFill>
                  <a:srgbClr val="1A1A1A"/>
                </a:solidFill>
                <a:latin typeface="Times New Roman"/>
              </a:rPr>
              <a:t>•  </a:t>
            </a:r>
            <a:r>
              <a:rPr sz="1300" b="0">
                <a:solidFill>
                  <a:srgbClr val="1A1A1A"/>
                </a:solidFill>
                <a:latin typeface="Times New Roman"/>
              </a:rPr>
              <a:t>Richer text-conditioned personas</a:t>
            </a:r>
          </a:p>
          <a:p>
            <a:pPr algn="l">
              <a:spcAft>
                <a:spcPts val="300"/>
              </a:spcAft>
            </a:pPr>
            <a:r>
              <a:rPr sz="1300" b="0">
                <a:solidFill>
                  <a:srgbClr val="1A1A1A"/>
                </a:solidFill>
                <a:latin typeface="Times New Roman"/>
              </a:rPr>
              <a:t>•  </a:t>
            </a:r>
            <a:r>
              <a:rPr sz="1300" b="0">
                <a:solidFill>
                  <a:srgbClr val="1A1A1A"/>
                </a:solidFill>
                <a:latin typeface="Times New Roman"/>
              </a:rPr>
              <a:t>Calibrated aggregate estimates, not argmax</a:t>
            </a:r>
          </a:p>
          <a:p>
            <a:pPr algn="l">
              <a:spcAft>
                <a:spcPts val="300"/>
              </a:spcAft>
            </a:pPr>
            <a:r>
              <a:rPr sz="1300" b="0">
                <a:solidFill>
                  <a:srgbClr val="1A1A1A"/>
                </a:solidFill>
                <a:latin typeface="Times New Roman"/>
              </a:rPr>
              <a:t>•  </a:t>
            </a:r>
            <a:r>
              <a:rPr sz="1300" b="0">
                <a:solidFill>
                  <a:srgbClr val="1A1A1A"/>
                </a:solidFill>
                <a:latin typeface="Times New Roman"/>
              </a:rPr>
              <a:t>Smaller and distilled models; energy and cost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1371600"/>
            <a:ext cx="8229600" cy="548640"/>
          </a:xfrm>
        </p:spPr>
        <p:txBody>
          <a:bodyPr anchor="ctr"/>
          <a:lstStyle/>
          <a:p>
            <a:pPr algn="l"/>
            <a:r>
              <a:rPr sz="2400" b="1">
                <a:solidFill>
                  <a:srgbClr val="1A1A1A"/>
                </a:solidFill>
                <a:latin typeface="Times New Roman"/>
              </a:rPr>
              <a:t>Conclusion, publication and Q&amp;A</a:t>
            </a:r>
          </a:p>
        </p:txBody>
      </p:sp>
      <p:sp>
        <p:nvSpPr>
          <p:cNvPr id="3" name="Rectangle 2"/>
          <p:cNvSpPr/>
          <p:nvPr/>
        </p:nvSpPr>
        <p:spPr>
          <a:xfrm>
            <a:off x="457200" y="1938528"/>
            <a:ext cx="8229600" cy="3657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6373368"/>
            <a:ext cx="5120640" cy="292608"/>
          </a:xfrm>
          <a:prstGeom prst="rect">
            <a:avLst/>
          </a:prstGeom>
          <a:noFill/>
        </p:spPr>
        <p:txBody>
          <a:bodyPr wrap="square" anchor="ctr" lIns="73152" rIns="73152" tIns="27432" bIns="27432">
            <a:spAutoFit/>
          </a:bodyPr>
          <a:lstStyle/>
          <a:p>
            <a:pPr algn="ctr">
              <a:spcAft>
                <a:spcPts val="400"/>
              </a:spcAft>
            </a:pPr>
            <a:r>
              <a:rPr sz="1050" b="0">
                <a:solidFill>
                  <a:srgbClr val="1A1A1A"/>
                </a:solidFill>
                <a:latin typeface="Times New Roman"/>
              </a:rPr>
              <a:t>Computer Engineering Department, MPSTME, Mumbai Campus  |  Group 55</a:t>
            </a:r>
          </a:p>
        </p:txBody>
      </p:sp>
      <p:sp>
        <p:nvSpPr>
          <p:cNvPr id="5" name="TextBox 4"/>
          <p:cNvSpPr txBox="1"/>
          <p:nvPr/>
        </p:nvSpPr>
        <p:spPr>
          <a:xfrm>
            <a:off x="7589520" y="6373368"/>
            <a:ext cx="1097280" cy="292608"/>
          </a:xfrm>
          <a:prstGeom prst="rect">
            <a:avLst/>
          </a:prstGeom>
          <a:noFill/>
        </p:spPr>
        <p:txBody>
          <a:bodyPr wrap="square" anchor="ctr" lIns="73152" rIns="73152" tIns="27432" bIns="27432">
            <a:spAutoFit/>
          </a:bodyPr>
          <a:lstStyle/>
          <a:p>
            <a:pPr algn="r">
              <a:spcAft>
                <a:spcPts val="400"/>
              </a:spcAft>
            </a:pPr>
            <a:r>
              <a:rPr sz="1100" b="0">
                <a:solidFill>
                  <a:srgbClr val="1A1A1A"/>
                </a:solidFill>
                <a:latin typeface="Times New Roman"/>
              </a:rPr>
              <a:t>16</a:t>
            </a:r>
          </a:p>
        </p:txBody>
      </p:sp>
      <p:sp>
        <p:nvSpPr>
          <p:cNvPr id="6" name="Rectangle 5"/>
          <p:cNvSpPr/>
          <p:nvPr/>
        </p:nvSpPr>
        <p:spPr>
          <a:xfrm>
            <a:off x="457200" y="2103120"/>
            <a:ext cx="4937760" cy="411480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103120"/>
            <a:ext cx="493776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 y="2112263"/>
            <a:ext cx="482803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CONCLUSIONS</a:t>
            </a:r>
          </a:p>
        </p:txBody>
      </p:sp>
      <p:sp>
        <p:nvSpPr>
          <p:cNvPr id="9" name="TextBox 8"/>
          <p:cNvSpPr txBox="1"/>
          <p:nvPr/>
        </p:nvSpPr>
        <p:spPr>
          <a:xfrm>
            <a:off x="530352" y="2468879"/>
            <a:ext cx="4791456" cy="3703320"/>
          </a:xfrm>
          <a:prstGeom prst="rect">
            <a:avLst/>
          </a:prstGeom>
          <a:noFill/>
        </p:spPr>
        <p:txBody>
          <a:bodyPr wrap="square" anchor="t" lIns="73152" rIns="73152" tIns="27432" bIns="27432">
            <a:spAutoFit/>
          </a:bodyPr>
          <a:lstStyle/>
          <a:p>
            <a:pPr algn="l">
              <a:spcAft>
                <a:spcPts val="300"/>
              </a:spcAft>
            </a:pPr>
            <a:r>
              <a:rPr sz="1300" b="0">
                <a:solidFill>
                  <a:srgbClr val="1A1A1A"/>
                </a:solidFill>
                <a:latin typeface="Times New Roman"/>
              </a:rPr>
              <a:t>•  </a:t>
            </a:r>
            <a:r>
              <a:rPr sz="1300" b="0">
                <a:solidFill>
                  <a:srgbClr val="1A1A1A"/>
                </a:solidFill>
                <a:latin typeface="Times New Roman"/>
              </a:rPr>
              <a:t>A prompted 7B model varies strongly with the profile but uses it weakly and slightly harmfully</a:t>
            </a:r>
          </a:p>
          <a:p>
            <a:pPr algn="l">
              <a:spcAft>
                <a:spcPts val="300"/>
              </a:spcAft>
            </a:pPr>
            <a:r>
              <a:rPr sz="1300" b="0">
                <a:solidFill>
                  <a:srgbClr val="1A1A1A"/>
                </a:solidFill>
                <a:latin typeface="Times New Roman"/>
              </a:rPr>
              <a:t>•  </a:t>
            </a:r>
            <a:r>
              <a:rPr sz="1300" b="0">
                <a:solidFill>
                  <a:srgbClr val="1A1A1A"/>
                </a:solidFill>
                <a:latin typeface="Times New Roman"/>
              </a:rPr>
              <a:t>Fine-tuning recovers 79% of the gap to the best classifier: 38.0% vs 40.0%</a:t>
            </a:r>
          </a:p>
          <a:p>
            <a:pPr algn="l">
              <a:spcAft>
                <a:spcPts val="300"/>
              </a:spcAft>
            </a:pPr>
            <a:r>
              <a:rPr sz="1300" b="0">
                <a:solidFill>
                  <a:srgbClr val="1A1A1A"/>
                </a:solidFill>
                <a:latin typeface="Times New Roman"/>
              </a:rPr>
              <a:t>•  </a:t>
            </a:r>
            <a:r>
              <a:rPr sz="1300" b="0">
                <a:solidFill>
                  <a:srgbClr val="1A1A1A"/>
                </a:solidFill>
                <a:latin typeface="Times New Roman"/>
              </a:rPr>
              <a:t>No detectable gain on unseen questions in our test</a:t>
            </a:r>
          </a:p>
          <a:p>
            <a:pPr algn="l">
              <a:spcAft>
                <a:spcPts val="300"/>
              </a:spcAft>
            </a:pPr>
            <a:r>
              <a:rPr sz="1300" b="0">
                <a:solidFill>
                  <a:srgbClr val="1A1A1A"/>
                </a:solidFill>
                <a:latin typeface="Times New Roman"/>
              </a:rPr>
              <a:t>•  </a:t>
            </a:r>
            <a:r>
              <a:rPr sz="1300" b="0">
                <a:solidFill>
                  <a:srgbClr val="1A1A1A"/>
                </a:solidFill>
                <a:latin typeface="Times New Roman"/>
              </a:rPr>
              <a:t>Matched classifiers remain the benchmark, and are far cheaper</a:t>
            </a:r>
          </a:p>
          <a:p>
            <a:pPr algn="l">
              <a:spcAft>
                <a:spcPts val="300"/>
              </a:spcAft>
            </a:pPr>
            <a:r>
              <a:rPr sz="1300" b="0">
                <a:solidFill>
                  <a:srgbClr val="1A1A1A"/>
                </a:solidFill>
                <a:latin typeface="Times New Roman"/>
              </a:rPr>
              <a:t>•  </a:t>
            </a:r>
            <a:r>
              <a:rPr sz="1300" b="0">
                <a:solidFill>
                  <a:srgbClr val="1A1A1A"/>
                </a:solidFill>
                <a:latin typeface="Times New Roman"/>
              </a:rPr>
              <a:t>Check direction, calibration and subgroup gaps, not only accuracy</a:t>
            </a:r>
          </a:p>
        </p:txBody>
      </p:sp>
      <p:sp>
        <p:nvSpPr>
          <p:cNvPr id="10" name="Rectangle 9"/>
          <p:cNvSpPr/>
          <p:nvPr/>
        </p:nvSpPr>
        <p:spPr>
          <a:xfrm>
            <a:off x="5532120" y="2103120"/>
            <a:ext cx="3154680" cy="228600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32120" y="2103120"/>
            <a:ext cx="315468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86983" y="2112263"/>
            <a:ext cx="304495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PUBLICATION</a:t>
            </a:r>
          </a:p>
        </p:txBody>
      </p:sp>
      <p:sp>
        <p:nvSpPr>
          <p:cNvPr id="13" name="TextBox 12"/>
          <p:cNvSpPr txBox="1"/>
          <p:nvPr/>
        </p:nvSpPr>
        <p:spPr>
          <a:xfrm>
            <a:off x="5605272" y="2468879"/>
            <a:ext cx="3008376" cy="1874519"/>
          </a:xfrm>
          <a:prstGeom prst="rect">
            <a:avLst/>
          </a:prstGeom>
          <a:noFill/>
        </p:spPr>
        <p:txBody>
          <a:bodyPr wrap="square" anchor="t" lIns="73152" rIns="73152" tIns="27432" bIns="27432">
            <a:spAutoFit/>
          </a:bodyPr>
          <a:lstStyle/>
          <a:p>
            <a:pPr algn="l">
              <a:spcAft>
                <a:spcPts val="300"/>
              </a:spcAft>
            </a:pPr>
            <a:r>
              <a:rPr sz="1200" b="0">
                <a:solidFill>
                  <a:srgbClr val="1A1A1A"/>
                </a:solidFill>
                <a:latin typeface="Times New Roman"/>
              </a:rPr>
              <a:t>•  </a:t>
            </a:r>
            <a:r>
              <a:rPr sz="1200" b="0">
                <a:solidFill>
                  <a:srgbClr val="1A1A1A"/>
                </a:solidFill>
                <a:latin typeface="Times New Roman"/>
              </a:rPr>
              <a:t>Hinweis AIDE-2026, Paper ID 591</a:t>
            </a:r>
          </a:p>
          <a:p>
            <a:pPr algn="l">
              <a:spcAft>
                <a:spcPts val="300"/>
              </a:spcAft>
            </a:pPr>
            <a:r>
              <a:rPr sz="1200" b="0">
                <a:solidFill>
                  <a:srgbClr val="1A1A1A"/>
                </a:solidFill>
                <a:latin typeface="Times New Roman"/>
              </a:rPr>
              <a:t>•  </a:t>
            </a:r>
            <a:r>
              <a:rPr sz="1200" b="0">
                <a:solidFill>
                  <a:srgbClr val="1A1A1A"/>
                </a:solidFill>
                <a:latin typeface="Times New Roman"/>
              </a:rPr>
              <a:t>Accepted with modification; camera-ready sent</a:t>
            </a:r>
          </a:p>
        </p:txBody>
      </p:sp>
      <p:sp>
        <p:nvSpPr>
          <p:cNvPr id="14" name="Rectangle 13"/>
          <p:cNvSpPr/>
          <p:nvPr/>
        </p:nvSpPr>
        <p:spPr>
          <a:xfrm>
            <a:off x="5532120" y="4480560"/>
            <a:ext cx="3154680" cy="1783080"/>
          </a:xfrm>
          <a:prstGeom prst="rect">
            <a:avLst/>
          </a:prstGeom>
          <a:solidFill>
            <a:srgbClr val="F3F3F3"/>
          </a:solid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32120" y="4480560"/>
            <a:ext cx="3154680" cy="310896"/>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86983" y="4489704"/>
            <a:ext cx="3044952" cy="292608"/>
          </a:xfrm>
          <a:prstGeom prst="rect">
            <a:avLst/>
          </a:prstGeom>
          <a:noFill/>
        </p:spPr>
        <p:txBody>
          <a:bodyPr wrap="square" anchor="ctr" lIns="73152" rIns="73152" tIns="27432" bIns="27432">
            <a:spAutoFit/>
          </a:bodyPr>
          <a:lstStyle/>
          <a:p>
            <a:pPr algn="l">
              <a:spcAft>
                <a:spcPts val="400"/>
              </a:spcAft>
            </a:pPr>
            <a:r>
              <a:rPr sz="1100" b="1">
                <a:solidFill>
                  <a:srgbClr val="FFFFFF"/>
                </a:solidFill>
                <a:latin typeface="Times New Roman"/>
              </a:rPr>
              <a:t>THANK YOU</a:t>
            </a:r>
          </a:p>
        </p:txBody>
      </p:sp>
      <p:sp>
        <p:nvSpPr>
          <p:cNvPr id="17" name="TextBox 16"/>
          <p:cNvSpPr txBox="1"/>
          <p:nvPr/>
        </p:nvSpPr>
        <p:spPr>
          <a:xfrm>
            <a:off x="5605272" y="4846320"/>
            <a:ext cx="3008376" cy="1371600"/>
          </a:xfrm>
          <a:prstGeom prst="rect">
            <a:avLst/>
          </a:prstGeom>
          <a:noFill/>
        </p:spPr>
        <p:txBody>
          <a:bodyPr wrap="square" anchor="t" lIns="73152" rIns="73152" tIns="27432" bIns="27432">
            <a:spAutoFit/>
          </a:bodyPr>
          <a:lstStyle/>
          <a:p>
            <a:pPr algn="l">
              <a:spcAft>
                <a:spcPts val="300"/>
              </a:spcAft>
            </a:pPr>
            <a:r>
              <a:rPr sz="1150" b="0">
                <a:solidFill>
                  <a:srgbClr val="1A1A1A"/>
                </a:solidFill>
                <a:latin typeface="Times New Roman"/>
              </a:rPr>
              <a:t>•  </a:t>
            </a:r>
            <a:r>
              <a:rPr sz="1150" b="0">
                <a:solidFill>
                  <a:srgbClr val="1A1A1A"/>
                </a:solidFill>
                <a:latin typeface="Times New Roman"/>
              </a:rPr>
              <a:t>Questions?</a:t>
            </a:r>
          </a:p>
          <a:p>
            <a:pPr algn="l">
              <a:spcAft>
                <a:spcPts val="300"/>
              </a:spcAft>
            </a:pPr>
            <a:r>
              <a:rPr sz="1150" b="0">
                <a:solidFill>
                  <a:srgbClr val="1A1A1A"/>
                </a:solidFill>
                <a:latin typeface="Times New Roman"/>
              </a:rPr>
              <a:t>•  </a:t>
            </a:r>
            <a:r>
              <a:rPr sz="1150" b="0">
                <a:solidFill>
                  <a:srgbClr val="1A1A1A"/>
                </a:solidFill>
                <a:latin typeface="Times New Roman"/>
              </a:rPr>
              <a:t>github.com/DevilHunter695/silicon-sampling-capstone</a:t>
            </a:r>
          </a:p>
        </p:txBody>
      </p:sp>
    </p:spTree>
  </p:cSld>
  <p:clrMapOvr>
    <a:masterClrMapping/>
  </p:clrMapOvr>
</p:sld>
</file>

<file path=ppt/theme/theme1.xml><?xml version="1.0" encoding="utf-8"?>
<a:theme xmlns:a="http://schemas.openxmlformats.org/drawingml/2006/main" name="MPST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63</Words>
  <Application>Microsoft Office PowerPoint</Application>
  <PresentationFormat>On-screen Show (4:3)</PresentationFormat>
  <Paragraphs>11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Times New Roman</vt:lpstr>
      <vt:lpstr>Arial</vt:lpstr>
      <vt:lpstr>Calibri</vt:lpstr>
      <vt:lpstr>Noto Sans Symbols</vt:lpstr>
      <vt:lpstr>Book Antiqua</vt:lpstr>
      <vt:lpstr>Aptos</vt:lpstr>
      <vt:lpstr>MPSTME</vt:lpstr>
      <vt:lpstr>        Capstone Project Title Approval Presentation A.Y. 2026-2027 Project Title: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BTech CSBS Synopsis Presentation A.Y. 2023-2024 Project Title:</dc:title>
  <dc:creator>Shubha Puthran</dc:creator>
  <cp:lastModifiedBy>Krishna Samdani</cp:lastModifiedBy>
  <cp:revision>44</cp:revision>
  <dcterms:modified xsi:type="dcterms:W3CDTF">2026-07-15T05:51:52Z</dcterms:modified>
</cp:coreProperties>
</file>