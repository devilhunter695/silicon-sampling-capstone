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Introduce the group, the mentor and the project. One sentence on what silicon sampling is: using a language model as a stand-in survey respondent.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Silicon sampling gives an LLM a demographic profile and treats its answer as that person's survey answer. If it worked it would cut cost and time. The danger is that a good average can hide poor performance for specific groups, which matters in a country as diverse as India. Our question is what the profile actually contributes, not just the headline accuracy.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Argyle 2023 introduced algorithmic fidelity on US data. Santurkar 2023 found misalignment with many groups. Chen 2026 and Miranda 2025 show models match or trail baselines trained on the same demographics and inflate group gaps. Hu and Collier 2024 show persona variables explain under ten percent of variance. Suh 2025 and Cao 2025 fine-tune on survey data. Recent 2026 papers on the European Social Survey, Singapore and a mechanistic study of Mistral-7B find weak individual-level recovery. The gap: India, what the profile contributes, and held-out-item transfer.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Four research questions. RQ1 asks how a prompted model uses the profile. RQ2 asks what fine-tuning changes compared with zero-shot and matched classifiers. RQ3 asks whether the adaptation transfers. RQ4 asks about scale and data. Scope: two public surveys, one open 7B model fine-tuned, free-tier API models as controls.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Pew Religion in India: 29,999 face-to-face interviews, 2019 to 2020; 73 items passed screening and we use the first eight for fine-tuning and held out items 9 to 16 for transfer. WVS-7 India: 1,692 respondents, 373 candidate items screened to 144 by a codebook-driven pipeline. Five-fold respondent-level splits, fold 0 used here: 23,999 train and 6,000 test respondents. WVS microdata are not redistributed.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This is the complete system. Both surveys are verbalised into the same prompt from codebook labels, so no hand-typed text. The prompt goes to four kinds of predictors: the zero-shot model, the QLoRA fine-tuned model, larger zero-shot models, and matched classical baselines. The readout is the next-token distribution over the option digits, so we get probabilities, not just a label. Diagnostics and tests sit on top: accuracy, negative log-likelihood, calibration, variance share, directional validity, Jensen-Shannon divergence, subgroup gaps with Holm correction, held-out-item transfer, and compute.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On the left, the exact prompt format: a profile built from codebook labels, the question, numbered options, and an instruction to answer with a single digit. That wording cut refusals from thirteen percent to zero. On the right, the stack: Python, pandas and scikit-learn for baselines, Hugging Face and PEFT with bitsandbytes for QLoRA, MLX on an Apple M1 for local runs, Kaggle T4 GPUs for full-fold scoring, and free-tier APIs for controls. Every call is cached, so runs are resumable.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live or recorded) This is one randomly chosen test row, not a cherry-picked one: respondent 27684, question on politicians' influence in religious matters. The true answer is option 1, a large influence. The zero-shot model is confidently wrong: it puts 77 percent on option 3. The fine-tuned model spreads its probability and its top choice is option 2, also wrong, but its distribution is far more reasonable. Gradient boosting gets it right at 49 percent. The point: look at the probabilities, not only the label. For the live part, run the prompt through the model and show the same bar chart.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On a 200-respondent subset, zero-shot Qwen scores 17.5 percent, below the 30.2 percent majority class and at chance. Removing the profile raises accuracy to 21.1 percent, so the profile changes accuracy by minus 3.6 points. Yet the profile explains 29 percent of the model's prediction variance against 4 percent for real answers: the model reacts strongly but in the wrong directions. On the full fold of 6,000 respondents it scores 16.1 and 18.0 percent, so this is not a sampling artefact. A label-free prior correction recovers about two thirds of the distance to the majority class.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QLoRA fine-tuning of Qwen2.5-7B on 184,853 examples took 6.6 GPU-hours. Scored on the full fold in the training format, it reaches 38.0 percent: 7.6 points above the majority class, half a point below logistic regression and 2.1 below gradient boosting, closing 79 percent of the gap. It is well calibrated, with expected calibration error 0.009. One earlier worry, an apparent collapse on one item, turned out to be a decoding artefact of the original run, not of the adapter.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Directional validity asks whether the model gets the direction and size of between-group differences right. Zero-shot has r of 0.22 and a slope of 0.18: nearly flat. Fine-tuned reaches 0.58 on the subset and 0.82 on the full fold, with GBM at 0.64 and 0.91. Subgroup gaps: religion 10 points, region 8.8, age 2.7, income 1.7, urban rural 1.3, all significant after Holm correction. On probability distributions, the fine-tuned model is about two to three times further from the truth than classifiers but more than ten times closer than zero-shot.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transfer test applies the adapter to eight Pew items it never saw. With our approximate MLX port the adapter scores 28.9 percent against 28.5 percent for its base: no detectable gain. The in-domain gain is 13.7 points larger over respondents, but across items the difference has a standard error of 10.2 and a permutation p of 0.18, so we do not claim it is reliable. Scale: gpt-oss-120b scores 27.6 percent, at the majority class, not beyond. Data: logistic regression needs about 400 labelled respondents, GBM about 1,600, to clear the majority class.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We measured the cost. Scoring one condition on the full fold, 46,209 rows, took about 75 minutes on two T4 GPUs, roughly 0.2 seconds per row. The lab fine-tuning run took 396.7 minutes. Cost is linear in respondent-item rows: scoring all 29,999 respondents on all 73 items is about 2.2 million rows, roughly 116 T4-hours at our measured rate, an extrapolation. Fine-tuning on all items would take about 63 hours at the lab GPU's rate. A classifier trains in seconds and predicts in microseconds.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first phase used free-tier APIs on WVS-7 India. Accuracy stays in a 22 to 26 percent band, below or at the majority class on the same rows, and group differences carry no directional signal. We also found and fixed real bugs: region labels in the prompt were wrong on every code until verified against the official annex, which moved subgroup gaps by several points. Caching had treated transient failures as final. A decoding artefact also explained an apparent collapse in the original fine-tuning run. Verification mattered more than speed.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We are honest about limits: one fold, one seed, one epoch; the transfer test uses an approximate port and only eight items; zero-shot controls on subsets; no frontier models; survey weights not applied. Future work: fine-tune on many items and test transfer on dozens of unseen items with an item-level bootstrap using the original adapter, repeat across folds and seeds, test richer personas and calibrated aggregate estimates, and measure the cost side including smaller and distilled models.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Take-home: a prompted 7B model varies strongly with a profile but uses it weakly and slightly harmfully; fine-tuning on respondent-level data recovers most of the gap to classifiers on trained questions and shows no detectable gain on new ones; matched classifiers remain the benchmark and are far cheaper. The paper from this work was accepted at the Hinweis Fifth International Conference on AI and Data Science, AIDE-2026, paper ID 591, accepted with modification and revised for camera-ready.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17720"/>
            <a:ext cx="12191695" cy="6400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nmims.png"/>
          <p:cNvPicPr>
            <a:picLocks noChangeAspect="1"/>
          </p:cNvPicPr>
          <p:nvPr/>
        </p:nvPicPr>
        <p:blipFill>
          <a:blip r:embed="rId2"/>
          <a:stretch>
            <a:fillRect/>
          </a:stretch>
        </p:blipFill>
        <p:spPr>
          <a:xfrm>
            <a:off x="457200" y="411480"/>
            <a:ext cx="1427205" cy="1371600"/>
          </a:xfrm>
          <a:prstGeom prst="rect">
            <a:avLst/>
          </a:prstGeom>
        </p:spPr>
      </p:pic>
      <p:sp>
        <p:nvSpPr>
          <p:cNvPr id="5" name="TextBox 4"/>
          <p:cNvSpPr txBox="1"/>
          <p:nvPr/>
        </p:nvSpPr>
        <p:spPr>
          <a:xfrm>
            <a:off x="2286000" y="594360"/>
            <a:ext cx="8229600" cy="914400"/>
          </a:xfrm>
          <a:prstGeom prst="rect">
            <a:avLst/>
          </a:prstGeom>
          <a:noFill/>
        </p:spPr>
        <p:txBody>
          <a:bodyPr wrap="square" anchor="t" lIns="73152" rIns="73152" tIns="36576" bIns="36576">
            <a:spAutoFit/>
          </a:bodyPr>
          <a:lstStyle/>
          <a:p>
            <a:pPr algn="l">
              <a:spcAft>
                <a:spcPts val="600"/>
              </a:spcAft>
            </a:pPr>
            <a:r>
              <a:rPr sz="2000" b="1">
                <a:solidFill>
                  <a:srgbClr val="FFFFFF"/>
                </a:solidFill>
                <a:latin typeface="Calibri"/>
              </a:rPr>
              <a:t>MUKESH PATEL SCHOOL OF TECHNOLOGY MANAGEMENT &amp; ENGINEERING</a:t>
            </a:r>
          </a:p>
        </p:txBody>
      </p:sp>
      <p:sp>
        <p:nvSpPr>
          <p:cNvPr id="6" name="TextBox 5"/>
          <p:cNvSpPr txBox="1"/>
          <p:nvPr/>
        </p:nvSpPr>
        <p:spPr>
          <a:xfrm>
            <a:off x="548640" y="1920240"/>
            <a:ext cx="11155680" cy="1188720"/>
          </a:xfrm>
          <a:prstGeom prst="rect">
            <a:avLst/>
          </a:prstGeom>
          <a:noFill/>
        </p:spPr>
        <p:txBody>
          <a:bodyPr wrap="square" anchor="t" lIns="73152" rIns="73152" tIns="36576" bIns="36576">
            <a:spAutoFit/>
          </a:bodyPr>
          <a:lstStyle/>
          <a:p>
            <a:pPr algn="l">
              <a:spcAft>
                <a:spcPts val="600"/>
              </a:spcAft>
            </a:pPr>
            <a:r>
              <a:rPr sz="5400" b="1">
                <a:solidFill>
                  <a:srgbClr val="FFFFFF"/>
                </a:solidFill>
                <a:latin typeface="Calibri"/>
              </a:rPr>
              <a:t>SILICON SAMPLING </a:t>
            </a:r>
          </a:p>
        </p:txBody>
      </p:sp>
      <p:sp>
        <p:nvSpPr>
          <p:cNvPr id="7" name="TextBox 6"/>
          <p:cNvSpPr txBox="1"/>
          <p:nvPr/>
        </p:nvSpPr>
        <p:spPr>
          <a:xfrm>
            <a:off x="548640" y="2697480"/>
            <a:ext cx="11155680" cy="914400"/>
          </a:xfrm>
          <a:prstGeom prst="rect">
            <a:avLst/>
          </a:prstGeom>
          <a:noFill/>
        </p:spPr>
        <p:txBody>
          <a:bodyPr wrap="square" anchor="t" lIns="73152" rIns="73152" tIns="36576" bIns="36576">
            <a:spAutoFit/>
          </a:bodyPr>
          <a:lstStyle/>
          <a:p>
            <a:pPr algn="l">
              <a:spcAft>
                <a:spcPts val="600"/>
              </a:spcAft>
            </a:pPr>
            <a:r>
              <a:rPr sz="5000" b="1">
                <a:solidFill>
                  <a:srgbClr val="FFB020"/>
                </a:solidFill>
                <a:latin typeface="Calibri"/>
              </a:rPr>
              <a:t>FOR INDIAN PUBLIC OPINION</a:t>
            </a:r>
          </a:p>
        </p:txBody>
      </p:sp>
      <p:sp>
        <p:nvSpPr>
          <p:cNvPr id="8" name="TextBox 7"/>
          <p:cNvSpPr txBox="1"/>
          <p:nvPr/>
        </p:nvSpPr>
        <p:spPr>
          <a:xfrm>
            <a:off x="548640" y="3657600"/>
            <a:ext cx="11155680" cy="822960"/>
          </a:xfrm>
          <a:prstGeom prst="rect">
            <a:avLst/>
          </a:prstGeom>
          <a:noFill/>
        </p:spPr>
        <p:txBody>
          <a:bodyPr wrap="square" anchor="t" lIns="73152" rIns="73152" tIns="36576" bIns="36576">
            <a:spAutoFit/>
          </a:bodyPr>
          <a:lstStyle/>
          <a:p>
            <a:pPr algn="l">
              <a:spcAft>
                <a:spcPts val="600"/>
              </a:spcAft>
            </a:pPr>
            <a:r>
              <a:rPr sz="2200" b="0">
                <a:solidFill>
                  <a:srgbClr val="DBE4FF"/>
                </a:solidFill>
                <a:latin typeface="Calibri"/>
              </a:rPr>
              <a:t>How do LLM respondents use demographics? Prompting, fine-tuning and held-out-item transfer</a:t>
            </a:r>
          </a:p>
        </p:txBody>
      </p:sp>
      <p:sp>
        <p:nvSpPr>
          <p:cNvPr id="9" name="TextBox 8"/>
          <p:cNvSpPr txBox="1"/>
          <p:nvPr/>
        </p:nvSpPr>
        <p:spPr>
          <a:xfrm>
            <a:off x="548640" y="4846320"/>
            <a:ext cx="5852160" cy="1645920"/>
          </a:xfrm>
          <a:prstGeom prst="rect">
            <a:avLst/>
          </a:prstGeom>
          <a:noFill/>
        </p:spPr>
        <p:txBody>
          <a:bodyPr wrap="square" anchor="t" lIns="73152" rIns="73152" tIns="36576" bIns="36576">
            <a:spAutoFit/>
          </a:bodyPr>
          <a:lstStyle/>
          <a:p>
            <a:pPr algn="l">
              <a:spcAft>
                <a:spcPts val="300"/>
              </a:spcAft>
            </a:pPr>
            <a:r>
              <a:rPr sz="1800" b="1">
                <a:solidFill>
                  <a:srgbClr val="FFFFFF"/>
                </a:solidFill>
                <a:latin typeface="Calibri"/>
              </a:rPr>
              <a:t>GROUP 55</a:t>
            </a:r>
          </a:p>
          <a:p>
            <a:pPr algn="l">
              <a:spcAft>
                <a:spcPts val="300"/>
              </a:spcAft>
            </a:pPr>
            <a:r>
              <a:rPr sz="1800" b="0">
                <a:solidFill>
                  <a:srgbClr val="FFFFFF"/>
                </a:solidFill>
                <a:latin typeface="Calibri"/>
              </a:rPr>
              <a:t>Bhanuj Bhalla  (SAP 70022300017)</a:t>
            </a:r>
          </a:p>
          <a:p>
            <a:pPr algn="l">
              <a:spcAft>
                <a:spcPts val="300"/>
              </a:spcAft>
            </a:pPr>
            <a:r>
              <a:rPr sz="1800" b="0">
                <a:solidFill>
                  <a:srgbClr val="FFFFFF"/>
                </a:solidFill>
                <a:latin typeface="Calibri"/>
              </a:rPr>
              <a:t>Ishaan Bansal  (SAP 70022300011)</a:t>
            </a:r>
          </a:p>
          <a:p>
            <a:pPr algn="l">
              <a:spcAft>
                <a:spcPts val="300"/>
              </a:spcAft>
            </a:pPr>
            <a:r>
              <a:rPr sz="1800" b="0">
                <a:solidFill>
                  <a:srgbClr val="FFFFFF"/>
                </a:solidFill>
                <a:latin typeface="Calibri"/>
              </a:rPr>
              <a:t>Yash Bhende  (SAP 70022300137)</a:t>
            </a:r>
          </a:p>
          <a:p>
            <a:pPr algn="l">
              <a:spcAft>
                <a:spcPts val="300"/>
              </a:spcAft>
            </a:pPr>
            <a:r>
              <a:rPr sz="1800" b="0">
                <a:solidFill>
                  <a:srgbClr val="FFFFFF"/>
                </a:solidFill>
                <a:latin typeface="Calibri"/>
              </a:rPr>
              <a:t>Krishank Ayyella  (SAP 70022300136)</a:t>
            </a:r>
          </a:p>
        </p:txBody>
      </p:sp>
      <p:sp>
        <p:nvSpPr>
          <p:cNvPr id="10" name="TextBox 9"/>
          <p:cNvSpPr txBox="1"/>
          <p:nvPr/>
        </p:nvSpPr>
        <p:spPr>
          <a:xfrm>
            <a:off x="6766560" y="4846320"/>
            <a:ext cx="5029200" cy="1645920"/>
          </a:xfrm>
          <a:prstGeom prst="rect">
            <a:avLst/>
          </a:prstGeom>
          <a:noFill/>
        </p:spPr>
        <p:txBody>
          <a:bodyPr wrap="square" anchor="t" lIns="73152" rIns="73152" tIns="36576" bIns="36576">
            <a:spAutoFit/>
          </a:bodyPr>
          <a:lstStyle/>
          <a:p>
            <a:pPr algn="l">
              <a:spcAft>
                <a:spcPts val="300"/>
              </a:spcAft>
            </a:pPr>
            <a:r>
              <a:rPr sz="1800" b="1">
                <a:solidFill>
                  <a:srgbClr val="FFFFFF"/>
                </a:solidFill>
                <a:latin typeface="Calibri"/>
              </a:rPr>
              <a:t>PROJECT MENTOR</a:t>
            </a:r>
          </a:p>
          <a:p>
            <a:pPr algn="l">
              <a:spcAft>
                <a:spcPts val="300"/>
              </a:spcAft>
            </a:pPr>
            <a:r>
              <a:rPr sz="1800" b="0">
                <a:solidFill>
                  <a:srgbClr val="FFFFFF"/>
                </a:solidFill>
                <a:latin typeface="Calibri"/>
              </a:rPr>
              <a:t>Ms. Khushbu Chauhan</a:t>
            </a:r>
          </a:p>
          <a:p>
            <a:pPr algn="l">
              <a:spcAft>
                <a:spcPts val="300"/>
              </a:spcAft>
            </a:pPr>
            <a:r>
              <a:rPr sz="1800" b="0">
                <a:solidFill>
                  <a:srgbClr val="FFFFFF"/>
                </a:solidFill>
                <a:latin typeface="Calibri"/>
              </a:rPr>
              <a:t/>
            </a:r>
          </a:p>
          <a:p>
            <a:pPr algn="l">
              <a:spcAft>
                <a:spcPts val="300"/>
              </a:spcAft>
            </a:pPr>
            <a:r>
              <a:rPr sz="1800" b="0">
                <a:solidFill>
                  <a:srgbClr val="FFFFFF"/>
                </a:solidFill>
                <a:latin typeface="Calibri"/>
              </a:rPr>
              <a:t>Capstone Project, A.Y. 2026-27</a:t>
            </a:r>
          </a:p>
          <a:p>
            <a:pPr algn="l">
              <a:spcAft>
                <a:spcPts val="300"/>
              </a:spcAft>
            </a:pPr>
            <a:r>
              <a:rPr sz="1800" b="0">
                <a:solidFill>
                  <a:srgbClr val="FFFFFF"/>
                </a:solidFill>
                <a:latin typeface="Calibri"/>
              </a:rPr>
              <a:t>Final presentation: 31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Motivation: can a language model stand in for a survey respondent?</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2</a:t>
            </a:r>
          </a:p>
        </p:txBody>
      </p:sp>
      <p:sp>
        <p:nvSpPr>
          <p:cNvPr id="8" name="Rectangle 7"/>
          <p:cNvSpPr/>
          <p:nvPr/>
        </p:nvSpPr>
        <p:spPr>
          <a:xfrm>
            <a:off x="457200" y="1280160"/>
            <a:ext cx="3657600" cy="493776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280160"/>
            <a:ext cx="36576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298448"/>
            <a:ext cx="34747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THE IDEA</a:t>
            </a:r>
          </a:p>
        </p:txBody>
      </p:sp>
      <p:sp>
        <p:nvSpPr>
          <p:cNvPr id="11" name="TextBox 10"/>
          <p:cNvSpPr txBox="1"/>
          <p:nvPr/>
        </p:nvSpPr>
        <p:spPr>
          <a:xfrm>
            <a:off x="566928" y="1737360"/>
            <a:ext cx="3438144" cy="4434840"/>
          </a:xfrm>
          <a:prstGeom prst="rect">
            <a:avLst/>
          </a:prstGeom>
          <a:noFill/>
        </p:spPr>
        <p:txBody>
          <a:bodyPr wrap="square" anchor="t" lIns="73152" rIns="73152" tIns="36576" bIns="36576">
            <a:spAutoFit/>
          </a:bodyPr>
          <a:lstStyle/>
          <a:p>
            <a:pPr algn="l">
              <a:spcAft>
                <a:spcPts val="500"/>
              </a:spcAft>
            </a:pPr>
            <a:r>
              <a:rPr sz="1700" b="0">
                <a:solidFill>
                  <a:srgbClr val="001D3E"/>
                </a:solidFill>
                <a:latin typeface="Calibri"/>
              </a:rPr>
              <a:t>•  </a:t>
            </a:r>
            <a:r>
              <a:rPr sz="1700" b="0">
                <a:solidFill>
                  <a:srgbClr val="001D3E"/>
                </a:solidFill>
                <a:latin typeface="Calibri"/>
              </a:rPr>
              <a:t>Give an LLM a demographic profile.</a:t>
            </a:r>
          </a:p>
          <a:p>
            <a:pPr algn="l">
              <a:spcAft>
                <a:spcPts val="500"/>
              </a:spcAft>
            </a:pPr>
            <a:r>
              <a:rPr sz="1700" b="0">
                <a:solidFill>
                  <a:srgbClr val="001D3E"/>
                </a:solidFill>
                <a:latin typeface="Calibri"/>
              </a:rPr>
              <a:t>•  </a:t>
            </a:r>
            <a:r>
              <a:rPr sz="1700" b="0">
                <a:solidFill>
                  <a:srgbClr val="001D3E"/>
                </a:solidFill>
                <a:latin typeface="Calibri"/>
              </a:rPr>
              <a:t>Ask the survey question.</a:t>
            </a:r>
          </a:p>
          <a:p>
            <a:pPr algn="l">
              <a:spcAft>
                <a:spcPts val="500"/>
              </a:spcAft>
            </a:pPr>
            <a:r>
              <a:rPr sz="1700" b="0">
                <a:solidFill>
                  <a:srgbClr val="001D3E"/>
                </a:solidFill>
                <a:latin typeface="Calibri"/>
              </a:rPr>
              <a:t>•  </a:t>
            </a:r>
            <a:r>
              <a:rPr sz="1700" b="0">
                <a:solidFill>
                  <a:srgbClr val="001D3E"/>
                </a:solidFill>
                <a:latin typeface="Calibri"/>
              </a:rPr>
              <a:t>Treat its answer as that person's answer.</a:t>
            </a:r>
          </a:p>
          <a:p>
            <a:pPr algn="l">
              <a:spcAft>
                <a:spcPts val="500"/>
              </a:spcAft>
            </a:pPr>
            <a:r>
              <a:rPr sz="1700" b="0">
                <a:solidFill>
                  <a:srgbClr val="001D3E"/>
                </a:solidFill>
                <a:latin typeface="Calibri"/>
              </a:rPr>
              <a:t>•  </a:t>
            </a:r>
            <a:r>
              <a:rPr sz="1700" b="0">
                <a:solidFill>
                  <a:srgbClr val="001D3E"/>
                </a:solidFill>
                <a:latin typeface="Calibri"/>
              </a:rPr>
              <a:t>Promise: far cheaper and faster than fielding a questionnaire.</a:t>
            </a:r>
          </a:p>
        </p:txBody>
      </p:sp>
      <p:sp>
        <p:nvSpPr>
          <p:cNvPr id="12" name="Rectangle 11"/>
          <p:cNvSpPr/>
          <p:nvPr/>
        </p:nvSpPr>
        <p:spPr>
          <a:xfrm>
            <a:off x="4270248" y="1280160"/>
            <a:ext cx="3657600" cy="493776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0248" y="1280160"/>
            <a:ext cx="36576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298448"/>
            <a:ext cx="34747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THE RISK</a:t>
            </a:r>
          </a:p>
        </p:txBody>
      </p:sp>
      <p:sp>
        <p:nvSpPr>
          <p:cNvPr id="15" name="TextBox 14"/>
          <p:cNvSpPr txBox="1"/>
          <p:nvPr/>
        </p:nvSpPr>
        <p:spPr>
          <a:xfrm>
            <a:off x="4379976" y="1737360"/>
            <a:ext cx="3438144" cy="4434840"/>
          </a:xfrm>
          <a:prstGeom prst="rect">
            <a:avLst/>
          </a:prstGeom>
          <a:noFill/>
        </p:spPr>
        <p:txBody>
          <a:bodyPr wrap="square" anchor="t" lIns="73152" rIns="73152" tIns="36576" bIns="36576">
            <a:spAutoFit/>
          </a:bodyPr>
          <a:lstStyle/>
          <a:p>
            <a:pPr algn="l">
              <a:spcAft>
                <a:spcPts val="500"/>
              </a:spcAft>
            </a:pPr>
            <a:r>
              <a:rPr sz="1700" b="0">
                <a:solidFill>
                  <a:srgbClr val="001D3E"/>
                </a:solidFill>
                <a:latin typeface="Calibri"/>
              </a:rPr>
              <a:t>•  </a:t>
            </a:r>
            <a:r>
              <a:rPr sz="1700" b="0">
                <a:solidFill>
                  <a:srgbClr val="001D3E"/>
                </a:solidFill>
                <a:latin typeface="Calibri"/>
              </a:rPr>
              <a:t>A good average can hide unequal performance across groups.</a:t>
            </a:r>
          </a:p>
          <a:p>
            <a:pPr algn="l">
              <a:spcAft>
                <a:spcPts val="500"/>
              </a:spcAft>
            </a:pPr>
            <a:r>
              <a:rPr sz="1700" b="0">
                <a:solidFill>
                  <a:srgbClr val="001D3E"/>
                </a:solidFill>
                <a:latin typeface="Calibri"/>
              </a:rPr>
              <a:t>•  </a:t>
            </a:r>
            <a:r>
              <a:rPr sz="1700" b="0">
                <a:solidFill>
                  <a:srgbClr val="001D3E"/>
                </a:solidFill>
                <a:latin typeface="Calibri"/>
              </a:rPr>
              <a:t>India is highly diverse: region, religion, caste, income, age.</a:t>
            </a:r>
          </a:p>
          <a:p>
            <a:pPr algn="l">
              <a:spcAft>
                <a:spcPts val="500"/>
              </a:spcAft>
            </a:pPr>
            <a:r>
              <a:rPr sz="1700" b="0">
                <a:solidFill>
                  <a:srgbClr val="001D3E"/>
                </a:solidFill>
                <a:latin typeface="Calibri"/>
              </a:rPr>
              <a:t>•  </a:t>
            </a:r>
            <a:r>
              <a:rPr sz="1700" b="0">
                <a:solidFill>
                  <a:srgbClr val="001D3E"/>
                </a:solidFill>
                <a:latin typeface="Calibri"/>
              </a:rPr>
              <a:t>Past work mostly reports aggregate fidelity, mostly for the US.</a:t>
            </a:r>
          </a:p>
        </p:txBody>
      </p:sp>
      <p:sp>
        <p:nvSpPr>
          <p:cNvPr id="16" name="Rectangle 15"/>
          <p:cNvSpPr/>
          <p:nvPr/>
        </p:nvSpPr>
        <p:spPr>
          <a:xfrm>
            <a:off x="8074152" y="1280160"/>
            <a:ext cx="3657600" cy="493776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4152" y="1280160"/>
            <a:ext cx="36576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65592" y="1298448"/>
            <a:ext cx="34747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OUR QUESTION</a:t>
            </a:r>
          </a:p>
        </p:txBody>
      </p:sp>
      <p:sp>
        <p:nvSpPr>
          <p:cNvPr id="19" name="TextBox 18"/>
          <p:cNvSpPr txBox="1"/>
          <p:nvPr/>
        </p:nvSpPr>
        <p:spPr>
          <a:xfrm>
            <a:off x="8183879" y="1737360"/>
            <a:ext cx="3438144" cy="4434840"/>
          </a:xfrm>
          <a:prstGeom prst="rect">
            <a:avLst/>
          </a:prstGeom>
          <a:noFill/>
        </p:spPr>
        <p:txBody>
          <a:bodyPr wrap="square" anchor="t" lIns="73152" rIns="73152" tIns="36576" bIns="36576">
            <a:spAutoFit/>
          </a:bodyPr>
          <a:lstStyle/>
          <a:p>
            <a:pPr algn="l">
              <a:spcAft>
                <a:spcPts val="500"/>
              </a:spcAft>
            </a:pPr>
            <a:r>
              <a:rPr sz="1700" b="0">
                <a:solidFill>
                  <a:srgbClr val="001D3E"/>
                </a:solidFill>
                <a:latin typeface="Calibri"/>
              </a:rPr>
              <a:t>•  </a:t>
            </a:r>
            <a:r>
              <a:rPr sz="1700" b="0">
                <a:solidFill>
                  <a:srgbClr val="001D3E"/>
                </a:solidFill>
                <a:latin typeface="Calibri"/>
              </a:rPr>
              <a:t>What does the profile itself contribute?</a:t>
            </a:r>
          </a:p>
          <a:p>
            <a:pPr algn="l">
              <a:spcAft>
                <a:spcPts val="500"/>
              </a:spcAft>
            </a:pPr>
            <a:r>
              <a:rPr sz="1700" b="0">
                <a:solidFill>
                  <a:srgbClr val="001D3E"/>
                </a:solidFill>
                <a:latin typeface="Calibri"/>
              </a:rPr>
              <a:t>•  </a:t>
            </a:r>
            <a:r>
              <a:rPr sz="1700" b="0">
                <a:solidFill>
                  <a:srgbClr val="001D3E"/>
                </a:solidFill>
                <a:latin typeface="Calibri"/>
              </a:rPr>
              <a:t>Does fine-tuning on respondent-level data help?</a:t>
            </a:r>
          </a:p>
          <a:p>
            <a:pPr algn="l">
              <a:spcAft>
                <a:spcPts val="500"/>
              </a:spcAft>
            </a:pPr>
            <a:r>
              <a:rPr sz="1700" b="0">
                <a:solidFill>
                  <a:srgbClr val="001D3E"/>
                </a:solidFill>
                <a:latin typeface="Calibri"/>
              </a:rPr>
              <a:t>•  </a:t>
            </a:r>
            <a:r>
              <a:rPr sz="1700" b="0">
                <a:solidFill>
                  <a:srgbClr val="001D3E"/>
                </a:solidFill>
                <a:latin typeface="Calibri"/>
              </a:rPr>
              <a:t>Does the help carry over to questions never seen?</a:t>
            </a:r>
          </a:p>
          <a:p>
            <a:pPr algn="l">
              <a:spcAft>
                <a:spcPts val="500"/>
              </a:spcAft>
            </a:pPr>
            <a:r>
              <a:rPr sz="1700" b="0">
                <a:solidFill>
                  <a:srgbClr val="001D3E"/>
                </a:solidFill>
                <a:latin typeface="Calibri"/>
              </a:rPr>
              <a:t>•  </a:t>
            </a:r>
            <a:r>
              <a:rPr sz="1700" b="0">
                <a:solidFill>
                  <a:srgbClr val="001D3E"/>
                </a:solidFill>
                <a:latin typeface="Calibri"/>
              </a:rPr>
              <a:t>How does it compare with a simple classifier, and at what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Literature review and the gap</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3</a:t>
            </a:r>
          </a:p>
        </p:txBody>
      </p:sp>
      <p:graphicFrame>
        <p:nvGraphicFramePr>
          <p:cNvPr id="8" name="Table 7"/>
          <p:cNvGraphicFramePr>
            <a:graphicFrameLocks noGrp="1"/>
          </p:cNvGraphicFramePr>
          <p:nvPr/>
        </p:nvGraphicFramePr>
        <p:xfrm>
          <a:off x="457200" y="1325880"/>
          <a:ext cx="11247120" cy="3401568"/>
        </p:xfrm>
        <a:graphic>
          <a:graphicData uri="http://schemas.openxmlformats.org/drawingml/2006/table">
            <a:tbl>
              <a:tblPr firstRow="1" bandRow="1">
                <a:tableStyleId>{5C22544A-7EE6-4342-B048-85BDC9FD1C3A}</a:tableStyleId>
              </a:tblPr>
              <a:tblGrid>
                <a:gridCol w="4023360"/>
                <a:gridCol w="7223760"/>
              </a:tblGrid>
              <a:tr h="566928">
                <a:tc>
                  <a:txBody>
                    <a:bodyPr/>
                    <a:lstStyle/>
                    <a:p>
                      <a:pPr algn="l"/>
                      <a:r>
                        <a:rPr sz="1400" b="1">
                          <a:solidFill>
                            <a:srgbClr val="FFFFFF"/>
                          </a:solidFill>
                          <a:latin typeface="Calibri"/>
                        </a:rPr>
                        <a:t>Study</a:t>
                      </a:r>
                    </a:p>
                  </a:txBody>
                  <a:tcPr anchor="ctr" marL="54864" marR="54864">
                    <a:solidFill>
                      <a:srgbClr val="001D3E"/>
                    </a:solidFill>
                  </a:tcPr>
                </a:tc>
                <a:tc>
                  <a:txBody>
                    <a:bodyPr/>
                    <a:lstStyle/>
                    <a:p>
                      <a:pPr algn="ctr"/>
                      <a:r>
                        <a:rPr sz="1400" b="1">
                          <a:solidFill>
                            <a:srgbClr val="FFFFFF"/>
                          </a:solidFill>
                          <a:latin typeface="Calibri"/>
                        </a:rPr>
                        <a:t>Finding</a:t>
                      </a:r>
                    </a:p>
                  </a:txBody>
                  <a:tcPr anchor="ctr" marL="54864" marR="54864">
                    <a:solidFill>
                      <a:srgbClr val="001D3E"/>
                    </a:solidFill>
                  </a:tcPr>
                </a:tc>
              </a:tr>
              <a:tr h="566928">
                <a:tc>
                  <a:txBody>
                    <a:bodyPr/>
                    <a:lstStyle/>
                    <a:p>
                      <a:pPr algn="l"/>
                      <a:r>
                        <a:rPr sz="1400" b="0">
                          <a:solidFill>
                            <a:srgbClr val="001D3E"/>
                          </a:solidFill>
                          <a:latin typeface="Calibri"/>
                        </a:rPr>
                        <a:t>Argyle et al. 2023; Santurkar et al. 2023</a:t>
                      </a:r>
                    </a:p>
                  </a:txBody>
                  <a:tcPr anchor="ctr" marL="54864" marR="54864">
                    <a:solidFill>
                      <a:srgbClr val="EEF2FB"/>
                    </a:solidFill>
                  </a:tcPr>
                </a:tc>
                <a:tc>
                  <a:txBody>
                    <a:bodyPr/>
                    <a:lstStyle/>
                    <a:p>
                      <a:pPr algn="ctr"/>
                      <a:r>
                        <a:rPr sz="1400" b="0">
                          <a:solidFill>
                            <a:srgbClr val="001D3E"/>
                          </a:solidFill>
                          <a:latin typeface="Calibri"/>
                        </a:rPr>
                        <a:t>Models reproduce some US demographic-attitude correlations, but misrepresent many groups</a:t>
                      </a:r>
                    </a:p>
                  </a:txBody>
                  <a:tcPr anchor="ctr" marL="54864" marR="54864">
                    <a:solidFill>
                      <a:srgbClr val="EEF2FB"/>
                    </a:solidFill>
                  </a:tcPr>
                </a:tc>
              </a:tr>
              <a:tr h="566928">
                <a:tc>
                  <a:txBody>
                    <a:bodyPr/>
                    <a:lstStyle/>
                    <a:p>
                      <a:pPr algn="l"/>
                      <a:r>
                        <a:rPr sz="1400" b="0">
                          <a:solidFill>
                            <a:srgbClr val="001D3E"/>
                          </a:solidFill>
                          <a:latin typeface="Calibri"/>
                        </a:rPr>
                        <a:t>Chen et al. 2026; Miranda &amp; Balbi 2025</a:t>
                      </a:r>
                    </a:p>
                  </a:txBody>
                  <a:tcPr anchor="ctr" marL="54864" marR="54864">
                    <a:solidFill>
                      <a:srgbClr val="FFFFFF"/>
                    </a:solidFill>
                  </a:tcPr>
                </a:tc>
                <a:tc>
                  <a:txBody>
                    <a:bodyPr/>
                    <a:lstStyle/>
                    <a:p>
                      <a:pPr algn="ctr"/>
                      <a:r>
                        <a:rPr sz="1400" b="0">
                          <a:solidFill>
                            <a:srgbClr val="001D3E"/>
                          </a:solidFill>
                          <a:latin typeface="Calibri"/>
                        </a:rPr>
                        <a:t>Match or trail baselines at the individual level; over-attribute attitudes; inflate gaps 2-4x</a:t>
                      </a:r>
                    </a:p>
                  </a:txBody>
                  <a:tcPr anchor="ctr" marL="54864" marR="54864">
                    <a:solidFill>
                      <a:srgbClr val="FFFFFF"/>
                    </a:solidFill>
                  </a:tcPr>
                </a:tc>
              </a:tr>
              <a:tr h="566928">
                <a:tc>
                  <a:txBody>
                    <a:bodyPr/>
                    <a:lstStyle/>
                    <a:p>
                      <a:pPr algn="l"/>
                      <a:r>
                        <a:rPr sz="1400" b="0">
                          <a:solidFill>
                            <a:srgbClr val="001D3E"/>
                          </a:solidFill>
                          <a:latin typeface="Calibri"/>
                        </a:rPr>
                        <a:t>Hu &amp; Collier 2024</a:t>
                      </a:r>
                    </a:p>
                  </a:txBody>
                  <a:tcPr anchor="ctr" marL="54864" marR="54864">
                    <a:solidFill>
                      <a:srgbClr val="EEF2FB"/>
                    </a:solidFill>
                  </a:tcPr>
                </a:tc>
                <a:tc>
                  <a:txBody>
                    <a:bodyPr/>
                    <a:lstStyle/>
                    <a:p>
                      <a:pPr algn="ctr"/>
                      <a:r>
                        <a:rPr sz="1400" b="0">
                          <a:solidFill>
                            <a:srgbClr val="001D3E"/>
                          </a:solidFill>
                          <a:latin typeface="Calibri"/>
                        </a:rPr>
                        <a:t>Persona variables explain under 10% of annotation variance</a:t>
                      </a:r>
                    </a:p>
                  </a:txBody>
                  <a:tcPr anchor="ctr" marL="54864" marR="54864">
                    <a:solidFill>
                      <a:srgbClr val="EEF2FB"/>
                    </a:solidFill>
                  </a:tcPr>
                </a:tc>
              </a:tr>
              <a:tr h="566928">
                <a:tc>
                  <a:txBody>
                    <a:bodyPr/>
                    <a:lstStyle/>
                    <a:p>
                      <a:pPr algn="l"/>
                      <a:r>
                        <a:rPr sz="1400" b="0">
                          <a:solidFill>
                            <a:srgbClr val="001D3E"/>
                          </a:solidFill>
                          <a:latin typeface="Calibri"/>
                        </a:rPr>
                        <a:t>Suh et al. 2025; Cao et al. 2025; Choi et al. 2026</a:t>
                      </a:r>
                    </a:p>
                  </a:txBody>
                  <a:tcPr anchor="ctr" marL="54864" marR="54864">
                    <a:solidFill>
                      <a:srgbClr val="FFFFFF"/>
                    </a:solidFill>
                  </a:tcPr>
                </a:tc>
                <a:tc>
                  <a:txBody>
                    <a:bodyPr/>
                    <a:lstStyle/>
                    <a:p>
                      <a:pPr algn="ctr"/>
                      <a:r>
                        <a:rPr sz="1400" b="0">
                          <a:solidFill>
                            <a:srgbClr val="001D3E"/>
                          </a:solidFill>
                          <a:latin typeface="Calibri"/>
                        </a:rPr>
                        <a:t>Fine-tuning generalises to unseen subpopulations and surveys, less to unseen questions</a:t>
                      </a:r>
                    </a:p>
                  </a:txBody>
                  <a:tcPr anchor="ctr" marL="54864" marR="54864">
                    <a:solidFill>
                      <a:srgbClr val="FFFFFF"/>
                    </a:solidFill>
                  </a:tcPr>
                </a:tc>
              </a:tr>
              <a:tr h="566928">
                <a:tc>
                  <a:txBody>
                    <a:bodyPr/>
                    <a:lstStyle/>
                    <a:p>
                      <a:pPr algn="l"/>
                      <a:r>
                        <a:rPr sz="1400" b="0">
                          <a:solidFill>
                            <a:srgbClr val="001D3E"/>
                          </a:solidFill>
                          <a:latin typeface="Calibri"/>
                        </a:rPr>
                        <a:t>Wang 2026; Lam et al. 2026; Robbani 2026</a:t>
                      </a:r>
                    </a:p>
                  </a:txBody>
                  <a:tcPr anchor="ctr" marL="54864" marR="54864">
                    <a:solidFill>
                      <a:srgbClr val="EEF2FB"/>
                    </a:solidFill>
                  </a:tcPr>
                </a:tc>
                <a:tc>
                  <a:txBody>
                    <a:bodyPr/>
                    <a:lstStyle/>
                    <a:p>
                      <a:pPr algn="ctr"/>
                      <a:r>
                        <a:rPr sz="1400" b="0">
                          <a:solidFill>
                            <a:srgbClr val="001D3E"/>
                          </a:solidFill>
                          <a:latin typeface="Calibri"/>
                        </a:rPr>
                        <a:t>Negligible individual-level recovery (ESS, Singapore); demographics readable but barely used</a:t>
                      </a:r>
                    </a:p>
                  </a:txBody>
                  <a:tcPr anchor="ctr" marL="54864" marR="54864">
                    <a:solidFill>
                      <a:srgbClr val="EEF2FB"/>
                    </a:solidFill>
                  </a:tcPr>
                </a:tc>
              </a:tr>
            </a:tbl>
          </a:graphicData>
        </a:graphic>
      </p:graphicFrame>
      <p:sp>
        <p:nvSpPr>
          <p:cNvPr id="9" name="Rectangle 8"/>
          <p:cNvSpPr/>
          <p:nvPr/>
        </p:nvSpPr>
        <p:spPr>
          <a:xfrm>
            <a:off x="457200" y="4937760"/>
            <a:ext cx="11247120" cy="1280160"/>
          </a:xfrm>
          <a:prstGeom prst="rect">
            <a:avLst/>
          </a:prstGeom>
          <a:solidFill>
            <a:srgbClr val="EEF2FB"/>
          </a:solidFill>
          <a:ln>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029200"/>
            <a:ext cx="10881360" cy="1097280"/>
          </a:xfrm>
          <a:prstGeom prst="rect">
            <a:avLst/>
          </a:prstGeom>
          <a:noFill/>
        </p:spPr>
        <p:txBody>
          <a:bodyPr wrap="square" anchor="t" lIns="73152" rIns="73152" tIns="36576" bIns="36576">
            <a:spAutoFit/>
          </a:bodyPr>
          <a:lstStyle/>
          <a:p>
            <a:pPr algn="l">
              <a:spcAft>
                <a:spcPts val="600"/>
              </a:spcAft>
            </a:pPr>
            <a:r>
              <a:rPr sz="1800" b="1">
                <a:solidFill>
                  <a:srgbClr val="001D3E"/>
                </a:solidFill>
                <a:latin typeface="Calibri"/>
              </a:rPr>
              <a:t>Research gap:  </a:t>
            </a:r>
            <a:r>
              <a:rPr sz="1800" b="0">
                <a:solidFill>
                  <a:srgbClr val="001D3E"/>
                </a:solidFill>
                <a:latin typeface="Calibri"/>
              </a:rPr>
              <a:t>an India study that separates what the profile contributes from the model's prior, adds a same-model fine-tuned comparison, and tests transfer to questions the model never saw, all against matched classifiers on identical rows.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Objectives and research questions</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4</a:t>
            </a:r>
          </a:p>
        </p:txBody>
      </p:sp>
      <p:sp>
        <p:nvSpPr>
          <p:cNvPr id="8" name="Rectangle 7"/>
          <p:cNvSpPr/>
          <p:nvPr/>
        </p:nvSpPr>
        <p:spPr>
          <a:xfrm>
            <a:off x="457200" y="1280160"/>
            <a:ext cx="5486400" cy="214884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280160"/>
            <a:ext cx="54864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298448"/>
            <a:ext cx="53035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RQ1  USE</a:t>
            </a:r>
          </a:p>
        </p:txBody>
      </p:sp>
      <p:sp>
        <p:nvSpPr>
          <p:cNvPr id="11" name="TextBox 10"/>
          <p:cNvSpPr txBox="1"/>
          <p:nvPr/>
        </p:nvSpPr>
        <p:spPr>
          <a:xfrm>
            <a:off x="566928" y="1737360"/>
            <a:ext cx="5266944" cy="1645920"/>
          </a:xfrm>
          <a:prstGeom prst="rect">
            <a:avLst/>
          </a:prstGeom>
          <a:noFill/>
        </p:spPr>
        <p:txBody>
          <a:bodyPr wrap="square" anchor="t" lIns="73152" rIns="73152" tIns="36576" bIns="36576">
            <a:spAutoFit/>
          </a:bodyPr>
          <a:lstStyle/>
          <a:p>
            <a:pPr algn="l">
              <a:spcAft>
                <a:spcPts val="500"/>
              </a:spcAft>
            </a:pPr>
            <a:r>
              <a:rPr sz="1900" b="0">
                <a:solidFill>
                  <a:srgbClr val="001D3E"/>
                </a:solidFill>
                <a:latin typeface="Calibri"/>
              </a:rPr>
              <a:t>How does a prompted LLM use the demographic profile: how much, and in which direction?</a:t>
            </a:r>
          </a:p>
        </p:txBody>
      </p:sp>
      <p:sp>
        <p:nvSpPr>
          <p:cNvPr id="12" name="Rectangle 11"/>
          <p:cNvSpPr/>
          <p:nvPr/>
        </p:nvSpPr>
        <p:spPr>
          <a:xfrm>
            <a:off x="6126480" y="1280160"/>
            <a:ext cx="5486400" cy="214884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280160"/>
            <a:ext cx="54864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298448"/>
            <a:ext cx="53035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RQ2  ADAPTATION</a:t>
            </a:r>
          </a:p>
        </p:txBody>
      </p:sp>
      <p:sp>
        <p:nvSpPr>
          <p:cNvPr id="15" name="TextBox 14"/>
          <p:cNvSpPr txBox="1"/>
          <p:nvPr/>
        </p:nvSpPr>
        <p:spPr>
          <a:xfrm>
            <a:off x="6236208" y="1737360"/>
            <a:ext cx="5266944" cy="1645920"/>
          </a:xfrm>
          <a:prstGeom prst="rect">
            <a:avLst/>
          </a:prstGeom>
          <a:noFill/>
        </p:spPr>
        <p:txBody>
          <a:bodyPr wrap="square" anchor="t" lIns="73152" rIns="73152" tIns="36576" bIns="36576">
            <a:spAutoFit/>
          </a:bodyPr>
          <a:lstStyle/>
          <a:p>
            <a:pPr algn="l">
              <a:spcAft>
                <a:spcPts val="500"/>
              </a:spcAft>
            </a:pPr>
            <a:r>
              <a:rPr sz="1900" b="0">
                <a:solidFill>
                  <a:srgbClr val="001D3E"/>
                </a:solidFill>
                <a:latin typeface="Calibri"/>
              </a:rPr>
              <a:t>What does respondent-level fine-tuning change, relative to zero-shot and to matched classifiers?</a:t>
            </a:r>
          </a:p>
        </p:txBody>
      </p:sp>
      <p:sp>
        <p:nvSpPr>
          <p:cNvPr id="16" name="Rectangle 15"/>
          <p:cNvSpPr/>
          <p:nvPr/>
        </p:nvSpPr>
        <p:spPr>
          <a:xfrm>
            <a:off x="457200" y="3611879"/>
            <a:ext cx="5486400" cy="214884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611879"/>
            <a:ext cx="54864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630168"/>
            <a:ext cx="53035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RQ3  TRANSFER</a:t>
            </a:r>
          </a:p>
        </p:txBody>
      </p:sp>
      <p:sp>
        <p:nvSpPr>
          <p:cNvPr id="19" name="TextBox 18"/>
          <p:cNvSpPr txBox="1"/>
          <p:nvPr/>
        </p:nvSpPr>
        <p:spPr>
          <a:xfrm>
            <a:off x="566928" y="4069079"/>
            <a:ext cx="5266944" cy="1645920"/>
          </a:xfrm>
          <a:prstGeom prst="rect">
            <a:avLst/>
          </a:prstGeom>
          <a:noFill/>
        </p:spPr>
        <p:txBody>
          <a:bodyPr wrap="square" anchor="t" lIns="73152" rIns="73152" tIns="36576" bIns="36576">
            <a:spAutoFit/>
          </a:bodyPr>
          <a:lstStyle/>
          <a:p>
            <a:pPr algn="l">
              <a:spcAft>
                <a:spcPts val="500"/>
              </a:spcAft>
            </a:pPr>
            <a:r>
              <a:rPr sz="1900" b="0">
                <a:solidFill>
                  <a:srgbClr val="001D3E"/>
                </a:solidFill>
                <a:latin typeface="Calibri"/>
              </a:rPr>
              <a:t>Does the adaptation carry over to questions the model never saw?</a:t>
            </a:r>
          </a:p>
        </p:txBody>
      </p:sp>
      <p:sp>
        <p:nvSpPr>
          <p:cNvPr id="20" name="Rectangle 19"/>
          <p:cNvSpPr/>
          <p:nvPr/>
        </p:nvSpPr>
        <p:spPr>
          <a:xfrm>
            <a:off x="6126480" y="3611879"/>
            <a:ext cx="5486400" cy="214884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3611879"/>
            <a:ext cx="54864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3630168"/>
            <a:ext cx="53035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RQ4  SCALE &amp; DATA</a:t>
            </a:r>
          </a:p>
        </p:txBody>
      </p:sp>
      <p:sp>
        <p:nvSpPr>
          <p:cNvPr id="23" name="TextBox 22"/>
          <p:cNvSpPr txBox="1"/>
          <p:nvPr/>
        </p:nvSpPr>
        <p:spPr>
          <a:xfrm>
            <a:off x="6236208" y="4069079"/>
            <a:ext cx="5266944" cy="1645920"/>
          </a:xfrm>
          <a:prstGeom prst="rect">
            <a:avLst/>
          </a:prstGeom>
          <a:noFill/>
        </p:spPr>
        <p:txBody>
          <a:bodyPr wrap="square" anchor="t" lIns="73152" rIns="73152" tIns="36576" bIns="36576">
            <a:spAutoFit/>
          </a:bodyPr>
          <a:lstStyle/>
          <a:p>
            <a:pPr algn="l">
              <a:spcAft>
                <a:spcPts val="500"/>
              </a:spcAft>
            </a:pPr>
            <a:r>
              <a:rPr sz="1900" b="0">
                <a:solidFill>
                  <a:srgbClr val="001D3E"/>
                </a:solidFill>
                <a:latin typeface="Calibri"/>
              </a:rPr>
              <a:t>Do a larger zero-shot model or more labelled respondents change the picture?</a:t>
            </a:r>
          </a:p>
        </p:txBody>
      </p:sp>
      <p:sp>
        <p:nvSpPr>
          <p:cNvPr id="24" name="TextBox 23"/>
          <p:cNvSpPr txBox="1"/>
          <p:nvPr/>
        </p:nvSpPr>
        <p:spPr>
          <a:xfrm>
            <a:off x="457200" y="5989320"/>
            <a:ext cx="11247120" cy="457200"/>
          </a:xfrm>
          <a:prstGeom prst="rect">
            <a:avLst/>
          </a:prstGeom>
          <a:noFill/>
        </p:spPr>
        <p:txBody>
          <a:bodyPr wrap="square" anchor="t" lIns="73152" rIns="73152" tIns="36576" bIns="36576">
            <a:spAutoFit/>
          </a:bodyPr>
          <a:lstStyle/>
          <a:p>
            <a:pPr algn="l">
              <a:spcAft>
                <a:spcPts val="600"/>
              </a:spcAft>
            </a:pPr>
            <a:r>
              <a:rPr sz="1300" b="0">
                <a:solidFill>
                  <a:srgbClr val="4A5A80"/>
                </a:solidFill>
                <a:latin typeface="Calibri"/>
              </a:rPr>
              <a:t>Scope: Pew Religion in India (N = 29,999) and WVS-7 India (N = 1,692); Qwen2.5-7B-Instruct zero-shot and QLoRA fine-tuned; gpt-oss-120b and Gemini as controls.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Data: two public surveys, codebook-driven item screening</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5</a:t>
            </a:r>
          </a:p>
        </p:txBody>
      </p:sp>
      <p:sp>
        <p:nvSpPr>
          <p:cNvPr id="8" name="Rectangle 7"/>
          <p:cNvSpPr/>
          <p:nvPr/>
        </p:nvSpPr>
        <p:spPr>
          <a:xfrm>
            <a:off x="457200" y="1280160"/>
            <a:ext cx="5486400" cy="365760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280160"/>
            <a:ext cx="54864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298448"/>
            <a:ext cx="53035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PEW RELIGION IN INDIA</a:t>
            </a:r>
          </a:p>
        </p:txBody>
      </p:sp>
      <p:sp>
        <p:nvSpPr>
          <p:cNvPr id="11" name="TextBox 10"/>
          <p:cNvSpPr txBox="1"/>
          <p:nvPr/>
        </p:nvSpPr>
        <p:spPr>
          <a:xfrm>
            <a:off x="566928" y="1737360"/>
            <a:ext cx="5266944" cy="3154680"/>
          </a:xfrm>
          <a:prstGeom prst="rect">
            <a:avLst/>
          </a:prstGeom>
          <a:noFill/>
        </p:spPr>
        <p:txBody>
          <a:bodyPr wrap="square" anchor="t" lIns="73152" rIns="73152" tIns="36576" bIns="36576">
            <a:spAutoFit/>
          </a:bodyPr>
          <a:lstStyle/>
          <a:p>
            <a:pPr algn="l">
              <a:spcAft>
                <a:spcPts val="500"/>
              </a:spcAft>
            </a:pPr>
            <a:r>
              <a:rPr sz="1600" b="0">
                <a:solidFill>
                  <a:srgbClr val="001D3E"/>
                </a:solidFill>
                <a:latin typeface="Calibri"/>
              </a:rPr>
              <a:t>•  </a:t>
            </a:r>
            <a:r>
              <a:rPr sz="1600" b="0">
                <a:solidFill>
                  <a:srgbClr val="001D3E"/>
                </a:solidFill>
                <a:latin typeface="Calibri"/>
              </a:rPr>
              <a:t>N = 29,999 adults, face-to-face, Nov 2019 to Mar 2020</a:t>
            </a:r>
          </a:p>
          <a:p>
            <a:pPr algn="l">
              <a:spcAft>
                <a:spcPts val="500"/>
              </a:spcAft>
            </a:pPr>
            <a:r>
              <a:rPr sz="1600" b="0">
                <a:solidFill>
                  <a:srgbClr val="001D3E"/>
                </a:solidFill>
                <a:latin typeface="Calibri"/>
              </a:rPr>
              <a:t>•  </a:t>
            </a:r>
            <a:r>
              <a:rPr sz="1600" b="0">
                <a:solidFill>
                  <a:srgbClr val="001D3E"/>
                </a:solidFill>
                <a:latin typeface="Calibri"/>
              </a:rPr>
              <a:t>73 items passed screening; 8 used for fine-tuning</a:t>
            </a:r>
          </a:p>
          <a:p>
            <a:pPr algn="l">
              <a:spcAft>
                <a:spcPts val="500"/>
              </a:spcAft>
            </a:pPr>
            <a:r>
              <a:rPr sz="1600" b="0">
                <a:solidFill>
                  <a:srgbClr val="001D3E"/>
                </a:solidFill>
                <a:latin typeface="Calibri"/>
              </a:rPr>
              <a:t>•  </a:t>
            </a:r>
            <a:r>
              <a:rPr sz="1600" b="0">
                <a:solidFill>
                  <a:srgbClr val="001D3E"/>
                </a:solidFill>
                <a:latin typeface="Calibri"/>
              </a:rPr>
              <a:t>Items 9-16 held out for the transfer test</a:t>
            </a:r>
          </a:p>
          <a:p>
            <a:pPr algn="l">
              <a:spcAft>
                <a:spcPts val="500"/>
              </a:spcAft>
            </a:pPr>
            <a:r>
              <a:rPr sz="1600" b="0">
                <a:solidFill>
                  <a:srgbClr val="001D3E"/>
                </a:solidFill>
                <a:latin typeface="Calibri"/>
              </a:rPr>
              <a:t>•  </a:t>
            </a:r>
            <a:r>
              <a:rPr sz="1600" b="0">
                <a:solidFill>
                  <a:srgbClr val="001D3E"/>
                </a:solidFill>
                <a:latin typeface="Calibri"/>
              </a:rPr>
              <a:t>Fold 0: 23,999 train / 6,000 test respondents</a:t>
            </a:r>
          </a:p>
          <a:p>
            <a:pPr algn="l">
              <a:spcAft>
                <a:spcPts val="500"/>
              </a:spcAft>
            </a:pPr>
            <a:r>
              <a:rPr sz="1600" b="0">
                <a:solidFill>
                  <a:srgbClr val="001D3E"/>
                </a:solidFill>
                <a:latin typeface="Calibri"/>
              </a:rPr>
              <a:t>•  </a:t>
            </a:r>
            <a:r>
              <a:rPr sz="1600" b="0">
                <a:solidFill>
                  <a:srgbClr val="001D3E"/>
                </a:solidFill>
                <a:latin typeface="Calibri"/>
              </a:rPr>
              <a:t>46,209 test answers on the trained items</a:t>
            </a:r>
          </a:p>
          <a:p>
            <a:pPr algn="l">
              <a:spcAft>
                <a:spcPts val="500"/>
              </a:spcAft>
            </a:pPr>
            <a:r>
              <a:rPr sz="1600" b="0">
                <a:solidFill>
                  <a:srgbClr val="001D3E"/>
                </a:solidFill>
                <a:latin typeface="Calibri"/>
              </a:rPr>
              <a:t>•  </a:t>
            </a:r>
            <a:r>
              <a:rPr sz="1600" b="0">
                <a:solidFill>
                  <a:srgbClr val="001D3E"/>
                </a:solidFill>
                <a:latin typeface="Calibri"/>
              </a:rPr>
              <a:t>9 profile attributes in the prompt</a:t>
            </a:r>
          </a:p>
        </p:txBody>
      </p:sp>
      <p:sp>
        <p:nvSpPr>
          <p:cNvPr id="12" name="Rectangle 11"/>
          <p:cNvSpPr/>
          <p:nvPr/>
        </p:nvSpPr>
        <p:spPr>
          <a:xfrm>
            <a:off x="6217920" y="1280160"/>
            <a:ext cx="5486400" cy="365760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280160"/>
            <a:ext cx="54864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59" y="1298448"/>
            <a:ext cx="53035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WVS-7 INDIA (v6.0)</a:t>
            </a:r>
          </a:p>
        </p:txBody>
      </p:sp>
      <p:sp>
        <p:nvSpPr>
          <p:cNvPr id="15" name="TextBox 14"/>
          <p:cNvSpPr txBox="1"/>
          <p:nvPr/>
        </p:nvSpPr>
        <p:spPr>
          <a:xfrm>
            <a:off x="6327648" y="1737360"/>
            <a:ext cx="5266944" cy="3154680"/>
          </a:xfrm>
          <a:prstGeom prst="rect">
            <a:avLst/>
          </a:prstGeom>
          <a:noFill/>
        </p:spPr>
        <p:txBody>
          <a:bodyPr wrap="square" anchor="t" lIns="73152" rIns="73152" tIns="36576" bIns="36576">
            <a:spAutoFit/>
          </a:bodyPr>
          <a:lstStyle/>
          <a:p>
            <a:pPr algn="l">
              <a:spcAft>
                <a:spcPts val="500"/>
              </a:spcAft>
            </a:pPr>
            <a:r>
              <a:rPr sz="1600" b="0">
                <a:solidFill>
                  <a:srgbClr val="001D3E"/>
                </a:solidFill>
                <a:latin typeface="Calibri"/>
              </a:rPr>
              <a:t>•  </a:t>
            </a:r>
            <a:r>
              <a:rPr sz="1600" b="0">
                <a:solidFill>
                  <a:srgbClr val="001D3E"/>
                </a:solidFill>
                <a:latin typeface="Calibri"/>
              </a:rPr>
              <a:t>N = 1,692 respondents, fieldwork 2023</a:t>
            </a:r>
          </a:p>
          <a:p>
            <a:pPr algn="l">
              <a:spcAft>
                <a:spcPts val="500"/>
              </a:spcAft>
            </a:pPr>
            <a:r>
              <a:rPr sz="1600" b="0">
                <a:solidFill>
                  <a:srgbClr val="001D3E"/>
                </a:solidFill>
                <a:latin typeface="Calibri"/>
              </a:rPr>
              <a:t>•  </a:t>
            </a:r>
            <a:r>
              <a:rPr sz="1600" b="0">
                <a:solidFill>
                  <a:srgbClr val="001D3E"/>
                </a:solidFill>
                <a:latin typeface="Calibri"/>
              </a:rPr>
              <a:t>373 candidate items screened down to 144</a:t>
            </a:r>
          </a:p>
          <a:p>
            <a:pPr algn="l">
              <a:spcAft>
                <a:spcPts val="500"/>
              </a:spcAft>
            </a:pPr>
            <a:r>
              <a:rPr sz="1600" b="0">
                <a:solidFill>
                  <a:srgbClr val="001D3E"/>
                </a:solidFill>
                <a:latin typeface="Calibri"/>
              </a:rPr>
              <a:t>•  </a:t>
            </a:r>
            <a:r>
              <a:rPr sz="1600" b="0">
                <a:solidFill>
                  <a:srgbClr val="001D3E"/>
                </a:solidFill>
                <a:latin typeface="Calibri"/>
              </a:rPr>
              <a:t>Screening ledger: codebook match, demographic block, scale size, missingness, entropy</a:t>
            </a:r>
          </a:p>
          <a:p>
            <a:pPr algn="l">
              <a:spcAft>
                <a:spcPts val="500"/>
              </a:spcAft>
            </a:pPr>
            <a:r>
              <a:rPr sz="1600" b="0">
                <a:solidFill>
                  <a:srgbClr val="001D3E"/>
                </a:solidFill>
                <a:latin typeface="Calibri"/>
              </a:rPr>
              <a:t>•  </a:t>
            </a:r>
            <a:r>
              <a:rPr sz="1600" b="0">
                <a:solidFill>
                  <a:srgbClr val="001D3E"/>
                </a:solidFill>
                <a:latin typeface="Calibri"/>
              </a:rPr>
              <a:t>15 items used for zero-shot replication</a:t>
            </a:r>
          </a:p>
          <a:p>
            <a:pPr algn="l">
              <a:spcAft>
                <a:spcPts val="500"/>
              </a:spcAft>
            </a:pPr>
            <a:r>
              <a:rPr sz="1600" b="0">
                <a:solidFill>
                  <a:srgbClr val="001D3E"/>
                </a:solidFill>
                <a:latin typeface="Calibri"/>
              </a:rPr>
              <a:t>•  </a:t>
            </a:r>
            <a:r>
              <a:rPr sz="1600" b="0">
                <a:solidFill>
                  <a:srgbClr val="001D3E"/>
                </a:solidFill>
                <a:latin typeface="Calibri"/>
              </a:rPr>
              <a:t>14 profile attributes in the prompt</a:t>
            </a:r>
          </a:p>
          <a:p>
            <a:pPr algn="l">
              <a:spcAft>
                <a:spcPts val="500"/>
              </a:spcAft>
            </a:pPr>
            <a:r>
              <a:rPr sz="1600" b="0">
                <a:solidFill>
                  <a:srgbClr val="001D3E"/>
                </a:solidFill>
                <a:latin typeface="Calibri"/>
              </a:rPr>
              <a:t>•  </a:t>
            </a:r>
            <a:r>
              <a:rPr sz="1600" b="0">
                <a:solidFill>
                  <a:srgbClr val="001D3E"/>
                </a:solidFill>
                <a:latin typeface="Calibri"/>
              </a:rPr>
              <a:t>Language variable constant, so no language axis</a:t>
            </a:r>
          </a:p>
        </p:txBody>
      </p:sp>
      <p:graphicFrame>
        <p:nvGraphicFramePr>
          <p:cNvPr id="16" name="Table 15"/>
          <p:cNvGraphicFramePr>
            <a:graphicFrameLocks noGrp="1"/>
          </p:cNvGraphicFramePr>
          <p:nvPr/>
        </p:nvGraphicFramePr>
        <p:xfrm>
          <a:off x="457200" y="5120640"/>
          <a:ext cx="11247120" cy="1152144"/>
        </p:xfrm>
        <a:graphic>
          <a:graphicData uri="http://schemas.openxmlformats.org/drawingml/2006/table">
            <a:tbl>
              <a:tblPr firstRow="1" bandRow="1">
                <a:tableStyleId>{5C22544A-7EE6-4342-B048-85BDC9FD1C3A}</a:tableStyleId>
              </a:tblPr>
              <a:tblGrid>
                <a:gridCol w="4754880"/>
                <a:gridCol w="6492240"/>
              </a:tblGrid>
              <a:tr h="384048">
                <a:tc>
                  <a:txBody>
                    <a:bodyPr/>
                    <a:lstStyle/>
                    <a:p>
                      <a:pPr algn="l"/>
                      <a:r>
                        <a:rPr sz="1300" b="1">
                          <a:solidFill>
                            <a:srgbClr val="FFFFFF"/>
                          </a:solidFill>
                          <a:latin typeface="Calibri"/>
                        </a:rPr>
                        <a:t>Design choice</a:t>
                      </a:r>
                    </a:p>
                  </a:txBody>
                  <a:tcPr anchor="ctr" marL="54864" marR="54864">
                    <a:solidFill>
                      <a:srgbClr val="001D3E"/>
                    </a:solidFill>
                  </a:tcPr>
                </a:tc>
                <a:tc>
                  <a:txBody>
                    <a:bodyPr/>
                    <a:lstStyle/>
                    <a:p>
                      <a:pPr algn="ctr"/>
                      <a:r>
                        <a:rPr sz="1300" b="1">
                          <a:solidFill>
                            <a:srgbClr val="FFFFFF"/>
                          </a:solidFill>
                          <a:latin typeface="Calibri"/>
                        </a:rPr>
                        <a:t>Why</a:t>
                      </a:r>
                    </a:p>
                  </a:txBody>
                  <a:tcPr anchor="ctr" marL="54864" marR="54864">
                    <a:solidFill>
                      <a:srgbClr val="001D3E"/>
                    </a:solidFill>
                  </a:tcPr>
                </a:tc>
              </a:tr>
              <a:tr h="384048">
                <a:tc>
                  <a:txBody>
                    <a:bodyPr/>
                    <a:lstStyle/>
                    <a:p>
                      <a:pPr algn="l"/>
                      <a:r>
                        <a:rPr sz="1300" b="0">
                          <a:solidFill>
                            <a:srgbClr val="001D3E"/>
                          </a:solidFill>
                          <a:latin typeface="Calibri"/>
                        </a:rPr>
                        <a:t>Respondent-level 5-fold split, out-of-fold scoring</a:t>
                      </a:r>
                    </a:p>
                  </a:txBody>
                  <a:tcPr anchor="ctr" marL="54864" marR="54864">
                    <a:solidFill>
                      <a:srgbClr val="EEF2FB"/>
                    </a:solidFill>
                  </a:tcPr>
                </a:tc>
                <a:tc>
                  <a:txBody>
                    <a:bodyPr/>
                    <a:lstStyle/>
                    <a:p>
                      <a:pPr algn="ctr"/>
                      <a:r>
                        <a:rPr sz="1300" b="0">
                          <a:solidFill>
                            <a:srgbClr val="001D3E"/>
                          </a:solidFill>
                          <a:latin typeface="Calibri"/>
                        </a:rPr>
                        <a:t>No respondent appears in both training and test</a:t>
                      </a:r>
                    </a:p>
                  </a:txBody>
                  <a:tcPr anchor="ctr" marL="54864" marR="54864">
                    <a:solidFill>
                      <a:srgbClr val="EEF2FB"/>
                    </a:solidFill>
                  </a:tcPr>
                </a:tc>
              </a:tr>
              <a:tr h="384048">
                <a:tc>
                  <a:txBody>
                    <a:bodyPr/>
                    <a:lstStyle/>
                    <a:p>
                      <a:pPr algn="l"/>
                      <a:r>
                        <a:rPr sz="1300" b="0">
                          <a:solidFill>
                            <a:srgbClr val="001D3E"/>
                          </a:solidFill>
                          <a:latin typeface="Calibri"/>
                        </a:rPr>
                        <a:t>Same rows for every method</a:t>
                      </a:r>
                    </a:p>
                  </a:txBody>
                  <a:tcPr anchor="ctr" marL="54864" marR="54864">
                    <a:solidFill>
                      <a:srgbClr val="FFFFFF"/>
                    </a:solidFill>
                  </a:tcPr>
                </a:tc>
                <a:tc>
                  <a:txBody>
                    <a:bodyPr/>
                    <a:lstStyle/>
                    <a:p>
                      <a:pPr algn="ctr"/>
                      <a:r>
                        <a:rPr sz="1300" b="0">
                          <a:solidFill>
                            <a:srgbClr val="001D3E"/>
                          </a:solidFill>
                          <a:latin typeface="Calibri"/>
                        </a:rPr>
                        <a:t>Differences cannot come from different data</a:t>
                      </a:r>
                    </a:p>
                  </a:txBody>
                  <a:tcPr anchor="ctr" marL="54864" marR="54864">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System design: one prompt, identical rows, many predictors</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6</a:t>
            </a:r>
          </a:p>
        </p:txBody>
      </p:sp>
      <p:pic>
        <p:nvPicPr>
          <p:cNvPr id="8" name="Picture 7" descr="fig_framework.png"/>
          <p:cNvPicPr>
            <a:picLocks noChangeAspect="1"/>
          </p:cNvPicPr>
          <p:nvPr/>
        </p:nvPicPr>
        <p:blipFill>
          <a:blip r:embed="rId3"/>
          <a:stretch>
            <a:fillRect/>
          </a:stretch>
        </p:blipFill>
        <p:spPr>
          <a:xfrm>
            <a:off x="548640" y="1280160"/>
            <a:ext cx="11064240" cy="4180819"/>
          </a:xfrm>
          <a:prstGeom prst="rect">
            <a:avLst/>
          </a:prstGeom>
        </p:spPr>
      </p:pic>
      <p:sp>
        <p:nvSpPr>
          <p:cNvPr id="9" name="TextBox 8"/>
          <p:cNvSpPr txBox="1"/>
          <p:nvPr/>
        </p:nvSpPr>
        <p:spPr>
          <a:xfrm>
            <a:off x="548640" y="5760720"/>
            <a:ext cx="11064240" cy="640080"/>
          </a:xfrm>
          <a:prstGeom prst="rect">
            <a:avLst/>
          </a:prstGeom>
          <a:noFill/>
        </p:spPr>
        <p:txBody>
          <a:bodyPr wrap="square" anchor="t" lIns="73152" rIns="73152" tIns="36576" bIns="36576">
            <a:spAutoFit/>
          </a:bodyPr>
          <a:lstStyle/>
          <a:p>
            <a:pPr algn="ctr">
              <a:spcAft>
                <a:spcPts val="600"/>
              </a:spcAft>
            </a:pPr>
            <a:r>
              <a:rPr sz="1600" b="0">
                <a:solidFill>
                  <a:srgbClr val="4A5A80"/>
                </a:solidFill>
                <a:latin typeface="Calibri"/>
              </a:rPr>
              <a:t>Every predictor sees the same prompt and is scored on the same respondent-item rows, so any difference between methods is a difference in the method.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Implementation: prompt, models and infrastructure</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7</a:t>
            </a:r>
          </a:p>
        </p:txBody>
      </p:sp>
      <p:sp>
        <p:nvSpPr>
          <p:cNvPr id="8" name="Rectangle 7"/>
          <p:cNvSpPr/>
          <p:nvPr/>
        </p:nvSpPr>
        <p:spPr>
          <a:xfrm>
            <a:off x="457200" y="1280160"/>
            <a:ext cx="6035040" cy="493776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25880"/>
            <a:ext cx="5852160" cy="4846320"/>
          </a:xfrm>
          <a:prstGeom prst="rect">
            <a:avLst/>
          </a:prstGeom>
          <a:noFill/>
        </p:spPr>
        <p:txBody>
          <a:bodyPr wrap="square" anchor="t" lIns="73152" rIns="73152" tIns="36576" bIns="36576">
            <a:spAutoFit/>
          </a:bodyPr>
          <a:lstStyle/>
          <a:p>
            <a:pPr algn="l">
              <a:spcAft>
                <a:spcPts val="700"/>
              </a:spcAft>
            </a:pPr>
            <a:r>
              <a:rPr sz="1400" b="1">
                <a:solidFill>
                  <a:srgbClr val="001D3E"/>
                </a:solidFill>
                <a:latin typeface="Calibri"/>
              </a:rPr>
              <a:t>PROMPT (P2) FOR ONE RESPONDENT-ITEM PAIR</a:t>
            </a:r>
          </a:p>
          <a:p>
            <a:pPr algn="l">
              <a:spcAft>
                <a:spcPts val="700"/>
              </a:spcAft>
            </a:pPr>
            <a:r>
              <a:rPr sz="1400" b="0">
                <a:solidFill>
                  <a:srgbClr val="001D3E"/>
                </a:solidFill>
                <a:latin typeface="Calibri"/>
              </a:rPr>
              <a:t>You are a survey respondent with the following demographic profile: Sex: Female. Age: 35-44. Married. Education: literate but no formal schooling. Income: Rs. 10,000 and below. Religion: Hindu. Rural. Region: East. Caste: OBC.</a:t>
            </a:r>
          </a:p>
          <a:p>
            <a:pPr algn="l">
              <a:spcAft>
                <a:spcPts val="700"/>
              </a:spcAft>
            </a:pPr>
            <a:r>
              <a:rPr sz="1400" b="0">
                <a:solidFill>
                  <a:srgbClr val="001D3E"/>
                </a:solidFill>
                <a:latin typeface="Calibri"/>
              </a:rPr>
              <a:t>As this person, answer the following survey question.</a:t>
            </a:r>
          </a:p>
          <a:p>
            <a:pPr algn="l">
              <a:spcAft>
                <a:spcPts val="700"/>
              </a:spcAft>
            </a:pPr>
            <a:r>
              <a:rPr sz="1400" b="0">
                <a:solidFill>
                  <a:srgbClr val="001D3E"/>
                </a:solidFill>
                <a:latin typeface="Calibri"/>
              </a:rPr>
              <a:t>Question: How much influence should politicians have in religious matters?</a:t>
            </a:r>
          </a:p>
          <a:p>
            <a:pPr algn="l">
              <a:spcAft>
                <a:spcPts val="700"/>
              </a:spcAft>
            </a:pPr>
            <a:r>
              <a:rPr sz="1400" b="0">
                <a:solidFill>
                  <a:srgbClr val="001D3E"/>
                </a:solidFill>
                <a:latin typeface="Calibri"/>
              </a:rPr>
              <a:t>Options: 1. A large influence  2. Some influence  3. Not too much influence  4. No influence at all</a:t>
            </a:r>
          </a:p>
          <a:p>
            <a:pPr algn="l">
              <a:spcAft>
                <a:spcPts val="700"/>
              </a:spcAft>
            </a:pPr>
            <a:r>
              <a:rPr sz="1400" b="0">
                <a:solidFill>
                  <a:srgbClr val="001D3E"/>
                </a:solidFill>
                <a:latin typeface="Calibri"/>
              </a:rPr>
              <a:t>Respond with exactly one character: 1/2/3/4. No words, no explanation, just that single digit.</a:t>
            </a:r>
          </a:p>
        </p:txBody>
      </p:sp>
      <p:sp>
        <p:nvSpPr>
          <p:cNvPr id="10" name="Rectangle 9"/>
          <p:cNvSpPr/>
          <p:nvPr/>
        </p:nvSpPr>
        <p:spPr>
          <a:xfrm>
            <a:off x="6675120" y="1280160"/>
            <a:ext cx="5029200" cy="493776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0" y="1280160"/>
            <a:ext cx="50292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59" y="1298448"/>
            <a:ext cx="48463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STACK AND INFRASTRUCTURE</a:t>
            </a:r>
          </a:p>
        </p:txBody>
      </p:sp>
      <p:sp>
        <p:nvSpPr>
          <p:cNvPr id="13" name="TextBox 12"/>
          <p:cNvSpPr txBox="1"/>
          <p:nvPr/>
        </p:nvSpPr>
        <p:spPr>
          <a:xfrm>
            <a:off x="6784848" y="1737360"/>
            <a:ext cx="4809744" cy="4434840"/>
          </a:xfrm>
          <a:prstGeom prst="rect">
            <a:avLst/>
          </a:prstGeom>
          <a:noFill/>
        </p:spPr>
        <p:txBody>
          <a:bodyPr wrap="square" anchor="t" lIns="73152" rIns="73152" tIns="36576" bIns="36576">
            <a:spAutoFit/>
          </a:bodyPr>
          <a:lstStyle/>
          <a:p>
            <a:pPr algn="l">
              <a:spcAft>
                <a:spcPts val="500"/>
              </a:spcAft>
            </a:pPr>
            <a:r>
              <a:rPr sz="1500" b="0">
                <a:solidFill>
                  <a:srgbClr val="001D3E"/>
                </a:solidFill>
                <a:latin typeface="Calibri"/>
              </a:rPr>
              <a:t>•  </a:t>
            </a:r>
            <a:r>
              <a:rPr sz="1500" b="0">
                <a:solidFill>
                  <a:srgbClr val="001D3E"/>
                </a:solidFill>
                <a:latin typeface="Calibri"/>
              </a:rPr>
              <a:t>Python: pandas, scikit-learn (baselines)</a:t>
            </a:r>
          </a:p>
          <a:p>
            <a:pPr algn="l">
              <a:spcAft>
                <a:spcPts val="500"/>
              </a:spcAft>
            </a:pPr>
            <a:r>
              <a:rPr sz="1500" b="0">
                <a:solidFill>
                  <a:srgbClr val="001D3E"/>
                </a:solidFill>
                <a:latin typeface="Calibri"/>
              </a:rPr>
              <a:t>•  </a:t>
            </a:r>
            <a:r>
              <a:rPr sz="1500" b="0">
                <a:solidFill>
                  <a:srgbClr val="001D3E"/>
                </a:solidFill>
                <a:latin typeface="Calibri"/>
              </a:rPr>
              <a:t>Hugging Face + PEFT + bitsandbytes: QLoRA fine-tuning</a:t>
            </a:r>
          </a:p>
          <a:p>
            <a:pPr algn="l">
              <a:spcAft>
                <a:spcPts val="500"/>
              </a:spcAft>
            </a:pPr>
            <a:r>
              <a:rPr sz="1500" b="0">
                <a:solidFill>
                  <a:srgbClr val="001D3E"/>
                </a:solidFill>
                <a:latin typeface="Calibri"/>
              </a:rPr>
              <a:t>•  </a:t>
            </a:r>
            <a:r>
              <a:rPr sz="1500" b="0">
                <a:solidFill>
                  <a:srgbClr val="001D3E"/>
                </a:solidFill>
                <a:latin typeface="Calibri"/>
              </a:rPr>
              <a:t>MLX on Apple M1 (16 GB): local 4-bit inference</a:t>
            </a:r>
          </a:p>
          <a:p>
            <a:pPr algn="l">
              <a:spcAft>
                <a:spcPts val="500"/>
              </a:spcAft>
            </a:pPr>
            <a:r>
              <a:rPr sz="1500" b="0">
                <a:solidFill>
                  <a:srgbClr val="001D3E"/>
                </a:solidFill>
                <a:latin typeface="Calibri"/>
              </a:rPr>
              <a:t>•  </a:t>
            </a:r>
            <a:r>
              <a:rPr sz="1500" b="0">
                <a:solidFill>
                  <a:srgbClr val="001D3E"/>
                </a:solidFill>
                <a:latin typeface="Calibri"/>
              </a:rPr>
              <a:t>Kaggle 2 x T4 GPUs: full-fold scoring</a:t>
            </a:r>
          </a:p>
          <a:p>
            <a:pPr algn="l">
              <a:spcAft>
                <a:spcPts val="500"/>
              </a:spcAft>
            </a:pPr>
            <a:r>
              <a:rPr sz="1500" b="0">
                <a:solidFill>
                  <a:srgbClr val="001D3E"/>
                </a:solidFill>
                <a:latin typeface="Calibri"/>
              </a:rPr>
              <a:t>•  </a:t>
            </a:r>
            <a:r>
              <a:rPr sz="1500" b="0">
                <a:solidFill>
                  <a:srgbClr val="001D3E"/>
                </a:solidFill>
                <a:latin typeface="Calibri"/>
              </a:rPr>
              <a:t>Free APIs: gpt-oss-120b (Groq), Gemini</a:t>
            </a:r>
          </a:p>
          <a:p>
            <a:pPr algn="l">
              <a:spcAft>
                <a:spcPts val="500"/>
              </a:spcAft>
            </a:pPr>
            <a:r>
              <a:rPr sz="1500" b="0">
                <a:solidFill>
                  <a:srgbClr val="001D3E"/>
                </a:solidFill>
                <a:latin typeface="Calibri"/>
              </a:rPr>
              <a:t>•  </a:t>
            </a:r>
            <a:r>
              <a:rPr sz="1500" b="0">
                <a:solidFill>
                  <a:srgbClr val="001D3E"/>
                </a:solidFill>
                <a:latin typeface="Calibri"/>
              </a:rPr>
              <a:t>Caching and resume on every call; refusals recorded, never guessed</a:t>
            </a:r>
          </a:p>
          <a:p>
            <a:pPr algn="l">
              <a:spcAft>
                <a:spcPts val="500"/>
              </a:spcAft>
            </a:pPr>
            <a:r>
              <a:rPr sz="1500" b="0">
                <a:solidFill>
                  <a:srgbClr val="001D3E"/>
                </a:solidFill>
                <a:latin typeface="Calibri"/>
              </a:rPr>
              <a:t>•  </a:t>
            </a:r>
            <a:r>
              <a:rPr sz="1500" b="0">
                <a:solidFill>
                  <a:srgbClr val="001D3E"/>
                </a:solidFill>
                <a:latin typeface="Calibri"/>
              </a:rPr>
              <a:t>All code, prompts and scripts on GitHub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Demo: one respondent, one question, three predictors</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8</a:t>
            </a:r>
          </a:p>
        </p:txBody>
      </p:sp>
      <p:pic>
        <p:nvPicPr>
          <p:cNvPr id="8" name="Picture 7" descr="c_demo.png"/>
          <p:cNvPicPr>
            <a:picLocks noChangeAspect="1"/>
          </p:cNvPicPr>
          <p:nvPr/>
        </p:nvPicPr>
        <p:blipFill>
          <a:blip r:embed="rId3"/>
          <a:stretch>
            <a:fillRect/>
          </a:stretch>
        </p:blipFill>
        <p:spPr>
          <a:xfrm>
            <a:off x="457200" y="1280160"/>
            <a:ext cx="6766560" cy="3690851"/>
          </a:xfrm>
          <a:prstGeom prst="rect">
            <a:avLst/>
          </a:prstGeom>
        </p:spPr>
      </p:pic>
      <p:sp>
        <p:nvSpPr>
          <p:cNvPr id="9" name="Rectangle 8"/>
          <p:cNvSpPr/>
          <p:nvPr/>
        </p:nvSpPr>
        <p:spPr>
          <a:xfrm>
            <a:off x="7406640" y="1280160"/>
            <a:ext cx="4297680" cy="493776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280160"/>
            <a:ext cx="429768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1298448"/>
            <a:ext cx="411480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HOW TO READ THIS ROW</a:t>
            </a:r>
          </a:p>
        </p:txBody>
      </p:sp>
      <p:sp>
        <p:nvSpPr>
          <p:cNvPr id="12" name="TextBox 11"/>
          <p:cNvSpPr txBox="1"/>
          <p:nvPr/>
        </p:nvSpPr>
        <p:spPr>
          <a:xfrm>
            <a:off x="7516367" y="1737360"/>
            <a:ext cx="4078224" cy="4434840"/>
          </a:xfrm>
          <a:prstGeom prst="rect">
            <a:avLst/>
          </a:prstGeom>
          <a:noFill/>
        </p:spPr>
        <p:txBody>
          <a:bodyPr wrap="square" anchor="t" lIns="73152" rIns="73152" tIns="36576" bIns="36576">
            <a:spAutoFit/>
          </a:bodyPr>
          <a:lstStyle/>
          <a:p>
            <a:pPr algn="l">
              <a:spcAft>
                <a:spcPts val="500"/>
              </a:spcAft>
            </a:pPr>
            <a:r>
              <a:rPr sz="1500" b="0">
                <a:solidFill>
                  <a:srgbClr val="001D3E"/>
                </a:solidFill>
                <a:latin typeface="Calibri"/>
              </a:rPr>
              <a:t>•  </a:t>
            </a:r>
            <a:r>
              <a:rPr sz="1500" b="0">
                <a:solidFill>
                  <a:srgbClr val="001D3E"/>
                </a:solidFill>
                <a:latin typeface="Calibri"/>
              </a:rPr>
              <a:t>Respondent 27684: rural Hindu woman, 35-44, OBC, East.</a:t>
            </a:r>
          </a:p>
          <a:p>
            <a:pPr algn="l">
              <a:spcAft>
                <a:spcPts val="500"/>
              </a:spcAft>
            </a:pPr>
            <a:r>
              <a:rPr sz="1500" b="0">
                <a:solidFill>
                  <a:srgbClr val="001D3E"/>
                </a:solidFill>
                <a:latin typeface="Calibri"/>
              </a:rPr>
              <a:t>•  </a:t>
            </a:r>
            <a:r>
              <a:rPr sz="1500" b="0">
                <a:solidFill>
                  <a:srgbClr val="001D3E"/>
                </a:solidFill>
                <a:latin typeface="Calibri"/>
              </a:rPr>
              <a:t>True answer: 1, A large influence.</a:t>
            </a:r>
          </a:p>
          <a:p>
            <a:pPr algn="l">
              <a:spcAft>
                <a:spcPts val="500"/>
              </a:spcAft>
            </a:pPr>
            <a:r>
              <a:rPr sz="1500" b="0">
                <a:solidFill>
                  <a:srgbClr val="001D3E"/>
                </a:solidFill>
                <a:latin typeface="Calibri"/>
              </a:rPr>
              <a:t>•  </a:t>
            </a:r>
            <a:r>
              <a:rPr sz="1500" b="0">
                <a:solidFill>
                  <a:srgbClr val="001D3E"/>
                </a:solidFill>
                <a:latin typeface="Calibri"/>
              </a:rPr>
              <a:t>Zero-shot: 77% on option 3. Confident and wrong.</a:t>
            </a:r>
          </a:p>
          <a:p>
            <a:pPr algn="l">
              <a:spcAft>
                <a:spcPts val="500"/>
              </a:spcAft>
            </a:pPr>
            <a:r>
              <a:rPr sz="1500" b="0">
                <a:solidFill>
                  <a:srgbClr val="001D3E"/>
                </a:solidFill>
                <a:latin typeface="Calibri"/>
              </a:rPr>
              <a:t>•  </a:t>
            </a:r>
            <a:r>
              <a:rPr sz="1500" b="0">
                <a:solidFill>
                  <a:srgbClr val="001D3E"/>
                </a:solidFill>
                <a:latin typeface="Calibri"/>
              </a:rPr>
              <a:t>Fine-tuned: spread over options 1-4, top choice 2 (wrong).</a:t>
            </a:r>
          </a:p>
          <a:p>
            <a:pPr algn="l">
              <a:spcAft>
                <a:spcPts val="500"/>
              </a:spcAft>
            </a:pPr>
            <a:r>
              <a:rPr sz="1500" b="0">
                <a:solidFill>
                  <a:srgbClr val="001D3E"/>
                </a:solidFill>
                <a:latin typeface="Calibri"/>
              </a:rPr>
              <a:t>•  </a:t>
            </a:r>
            <a:r>
              <a:rPr sz="1500" b="0">
                <a:solidFill>
                  <a:srgbClr val="001D3E"/>
                </a:solidFill>
                <a:latin typeface="Calibri"/>
              </a:rPr>
              <a:t>Gradient boosting: 49% on option 1 (right).</a:t>
            </a:r>
          </a:p>
          <a:p>
            <a:pPr algn="l">
              <a:spcAft>
                <a:spcPts val="500"/>
              </a:spcAft>
            </a:pPr>
            <a:r>
              <a:rPr sz="1500" b="0">
                <a:solidFill>
                  <a:srgbClr val="001D3E"/>
                </a:solidFill>
                <a:latin typeface="Calibri"/>
              </a:rPr>
              <a:t>•  </a:t>
            </a:r>
            <a:r>
              <a:rPr sz="1500" b="0">
                <a:solidFill>
                  <a:srgbClr val="001D3E"/>
                </a:solidFill>
                <a:latin typeface="Calibri"/>
              </a:rPr>
              <a:t>Randomly drawn row (fixed seed), shown as 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Result 1: zero-shot uses the profile heavily, but not usefully</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9</a:t>
            </a:r>
          </a:p>
        </p:txBody>
      </p:sp>
      <p:pic>
        <p:nvPicPr>
          <p:cNvPr id="8" name="Picture 7" descr="c_subset.png"/>
          <p:cNvPicPr>
            <a:picLocks noChangeAspect="1"/>
          </p:cNvPicPr>
          <p:nvPr/>
        </p:nvPicPr>
        <p:blipFill>
          <a:blip r:embed="rId3"/>
          <a:stretch>
            <a:fillRect/>
          </a:stretch>
        </p:blipFill>
        <p:spPr>
          <a:xfrm>
            <a:off x="457200" y="1280160"/>
            <a:ext cx="6949440" cy="3909060"/>
          </a:xfrm>
          <a:prstGeom prst="rect">
            <a:avLst/>
          </a:prstGeom>
        </p:spPr>
      </p:pic>
      <p:sp>
        <p:nvSpPr>
          <p:cNvPr id="9" name="Rectangle 8"/>
          <p:cNvSpPr/>
          <p:nvPr/>
        </p:nvSpPr>
        <p:spPr>
          <a:xfrm>
            <a:off x="7589520" y="1280160"/>
            <a:ext cx="4114800" cy="493776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589520" y="1280160"/>
            <a:ext cx="41148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1298448"/>
            <a:ext cx="39319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KEY NUMBERS</a:t>
            </a:r>
          </a:p>
        </p:txBody>
      </p:sp>
      <p:sp>
        <p:nvSpPr>
          <p:cNvPr id="12" name="TextBox 11"/>
          <p:cNvSpPr txBox="1"/>
          <p:nvPr/>
        </p:nvSpPr>
        <p:spPr>
          <a:xfrm>
            <a:off x="7699248" y="1737360"/>
            <a:ext cx="3895344" cy="4434840"/>
          </a:xfrm>
          <a:prstGeom prst="rect">
            <a:avLst/>
          </a:prstGeom>
          <a:noFill/>
        </p:spPr>
        <p:txBody>
          <a:bodyPr wrap="square" anchor="t" lIns="73152" rIns="73152" tIns="36576" bIns="36576">
            <a:spAutoFit/>
          </a:bodyPr>
          <a:lstStyle/>
          <a:p>
            <a:pPr algn="l">
              <a:spcAft>
                <a:spcPts val="500"/>
              </a:spcAft>
            </a:pPr>
            <a:r>
              <a:rPr sz="1500" b="0">
                <a:solidFill>
                  <a:srgbClr val="001D3E"/>
                </a:solidFill>
                <a:latin typeface="Calibri"/>
              </a:rPr>
              <a:t>•  </a:t>
            </a:r>
            <a:r>
              <a:rPr sz="1500" b="0">
                <a:solidFill>
                  <a:srgbClr val="001D3E"/>
                </a:solidFill>
                <a:latin typeface="Calibri"/>
              </a:rPr>
              <a:t>Zero-shot: 17.5% vs 30.2% majority (chance 19.4%)</a:t>
            </a:r>
          </a:p>
          <a:p>
            <a:pPr algn="l">
              <a:spcAft>
                <a:spcPts val="500"/>
              </a:spcAft>
            </a:pPr>
            <a:r>
              <a:rPr sz="1500" b="0">
                <a:solidFill>
                  <a:srgbClr val="001D3E"/>
                </a:solidFill>
                <a:latin typeface="Calibri"/>
              </a:rPr>
              <a:t>•  </a:t>
            </a:r>
            <a:r>
              <a:rPr sz="1500" b="0">
                <a:solidFill>
                  <a:srgbClr val="001D3E"/>
                </a:solidFill>
                <a:latin typeface="Calibri"/>
              </a:rPr>
              <a:t>No profile: 21.1%. The profile lowers accuracy by 3.6 points.</a:t>
            </a:r>
          </a:p>
          <a:p>
            <a:pPr algn="l">
              <a:spcAft>
                <a:spcPts val="500"/>
              </a:spcAft>
            </a:pPr>
            <a:r>
              <a:rPr sz="1500" b="0">
                <a:solidFill>
                  <a:srgbClr val="001D3E"/>
                </a:solidFill>
                <a:latin typeface="Calibri"/>
              </a:rPr>
              <a:t>•  </a:t>
            </a:r>
            <a:r>
              <a:rPr sz="1500" b="0">
                <a:solidFill>
                  <a:srgbClr val="001D3E"/>
                </a:solidFill>
                <a:latin typeface="Calibri"/>
              </a:rPr>
              <a:t>Profile explains 29% of prediction variance vs 4% in real answers</a:t>
            </a:r>
          </a:p>
          <a:p>
            <a:pPr algn="l">
              <a:spcAft>
                <a:spcPts val="500"/>
              </a:spcAft>
            </a:pPr>
            <a:r>
              <a:rPr sz="1500" b="0">
                <a:solidFill>
                  <a:srgbClr val="001D3E"/>
                </a:solidFill>
                <a:latin typeface="Calibri"/>
              </a:rPr>
              <a:t>•  </a:t>
            </a:r>
            <a:r>
              <a:rPr sz="1500" b="0">
                <a:solidFill>
                  <a:srgbClr val="001D3E"/>
                </a:solidFill>
                <a:latin typeface="Calibri"/>
              </a:rPr>
              <a:t>Direction r = 0.22, slope 0.18 (weak, attenuated)</a:t>
            </a:r>
          </a:p>
          <a:p>
            <a:pPr algn="l">
              <a:spcAft>
                <a:spcPts val="500"/>
              </a:spcAft>
            </a:pPr>
            <a:r>
              <a:rPr sz="1500" b="0">
                <a:solidFill>
                  <a:srgbClr val="001D3E"/>
                </a:solidFill>
                <a:latin typeface="Calibri"/>
              </a:rPr>
              <a:t>•  </a:t>
            </a:r>
            <a:r>
              <a:rPr sz="1500" b="0">
                <a:solidFill>
                  <a:srgbClr val="001D3E"/>
                </a:solidFill>
                <a:latin typeface="Calibri"/>
              </a:rPr>
              <a:t>Full fold, 6,000 respondents: 16.1% (chat), 18.0% (raw)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2950" b="1">
                <a:solidFill>
                  <a:srgbClr val="FFFFFF"/>
                </a:solidFill>
                <a:latin typeface="Calibri"/>
              </a:rPr>
              <a:t>Result 2: fine-tuning closes most of the gap, short of the best classifier</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10</a:t>
            </a:r>
          </a:p>
        </p:txBody>
      </p:sp>
      <p:pic>
        <p:nvPicPr>
          <p:cNvPr id="8" name="Picture 7" descr="c_fold0.png"/>
          <p:cNvPicPr>
            <a:picLocks noChangeAspect="1"/>
          </p:cNvPicPr>
          <p:nvPr/>
        </p:nvPicPr>
        <p:blipFill>
          <a:blip r:embed="rId3"/>
          <a:stretch>
            <a:fillRect/>
          </a:stretch>
        </p:blipFill>
        <p:spPr>
          <a:xfrm>
            <a:off x="457200" y="1280160"/>
            <a:ext cx="6949440" cy="3909060"/>
          </a:xfrm>
          <a:prstGeom prst="rect">
            <a:avLst/>
          </a:prstGeom>
        </p:spPr>
      </p:pic>
      <p:graphicFrame>
        <p:nvGraphicFramePr>
          <p:cNvPr id="9" name="Table 8"/>
          <p:cNvGraphicFramePr>
            <a:graphicFrameLocks noGrp="1"/>
          </p:cNvGraphicFramePr>
          <p:nvPr/>
        </p:nvGraphicFramePr>
        <p:xfrm>
          <a:off x="7589520" y="1371600"/>
          <a:ext cx="4114800" cy="2194560"/>
        </p:xfrm>
        <a:graphic>
          <a:graphicData uri="http://schemas.openxmlformats.org/drawingml/2006/table">
            <a:tbl>
              <a:tblPr firstRow="1" bandRow="1">
                <a:tableStyleId>{5C22544A-7EE6-4342-B048-85BDC9FD1C3A}</a:tableStyleId>
              </a:tblPr>
              <a:tblGrid>
                <a:gridCol w="1554480"/>
                <a:gridCol w="822960"/>
                <a:gridCol w="822960"/>
                <a:gridCol w="914400"/>
              </a:tblGrid>
              <a:tr h="365760">
                <a:tc>
                  <a:txBody>
                    <a:bodyPr/>
                    <a:lstStyle/>
                    <a:p>
                      <a:pPr algn="l"/>
                      <a:r>
                        <a:rPr sz="1300" b="1">
                          <a:solidFill>
                            <a:srgbClr val="FFFFFF"/>
                          </a:solidFill>
                          <a:latin typeface="Calibri"/>
                        </a:rPr>
                        <a:t>Method</a:t>
                      </a:r>
                    </a:p>
                  </a:txBody>
                  <a:tcPr anchor="ctr" marL="54864" marR="54864">
                    <a:solidFill>
                      <a:srgbClr val="001D3E"/>
                    </a:solidFill>
                  </a:tcPr>
                </a:tc>
                <a:tc>
                  <a:txBody>
                    <a:bodyPr/>
                    <a:lstStyle/>
                    <a:p>
                      <a:pPr algn="ctr"/>
                      <a:r>
                        <a:rPr sz="1300" b="1">
                          <a:solidFill>
                            <a:srgbClr val="FFFFFF"/>
                          </a:solidFill>
                          <a:latin typeface="Calibri"/>
                        </a:rPr>
                        <a:t>Acc.</a:t>
                      </a:r>
                    </a:p>
                  </a:txBody>
                  <a:tcPr anchor="ctr" marL="54864" marR="54864">
                    <a:solidFill>
                      <a:srgbClr val="001D3E"/>
                    </a:solidFill>
                  </a:tcPr>
                </a:tc>
                <a:tc>
                  <a:txBody>
                    <a:bodyPr/>
                    <a:lstStyle/>
                    <a:p>
                      <a:pPr algn="ctr"/>
                      <a:r>
                        <a:rPr sz="1300" b="1">
                          <a:solidFill>
                            <a:srgbClr val="FFFFFF"/>
                          </a:solidFill>
                          <a:latin typeface="Calibri"/>
                        </a:rPr>
                        <a:t>NLL</a:t>
                      </a:r>
                    </a:p>
                  </a:txBody>
                  <a:tcPr anchor="ctr" marL="54864" marR="54864">
                    <a:solidFill>
                      <a:srgbClr val="001D3E"/>
                    </a:solidFill>
                  </a:tcPr>
                </a:tc>
                <a:tc>
                  <a:txBody>
                    <a:bodyPr/>
                    <a:lstStyle/>
                    <a:p>
                      <a:pPr algn="ctr"/>
                      <a:r>
                        <a:rPr sz="1300" b="1">
                          <a:solidFill>
                            <a:srgbClr val="FFFFFF"/>
                          </a:solidFill>
                          <a:latin typeface="Calibri"/>
                        </a:rPr>
                        <a:t>ECE</a:t>
                      </a:r>
                    </a:p>
                  </a:txBody>
                  <a:tcPr anchor="ctr" marL="54864" marR="54864">
                    <a:solidFill>
                      <a:srgbClr val="001D3E"/>
                    </a:solidFill>
                  </a:tcPr>
                </a:tc>
              </a:tr>
              <a:tr h="365760">
                <a:tc>
                  <a:txBody>
                    <a:bodyPr/>
                    <a:lstStyle/>
                    <a:p>
                      <a:pPr algn="l"/>
                      <a:r>
                        <a:rPr sz="1300" b="0">
                          <a:solidFill>
                            <a:srgbClr val="001D3E"/>
                          </a:solidFill>
                          <a:latin typeface="Calibri"/>
                        </a:rPr>
                        <a:t>Majority</a:t>
                      </a:r>
                    </a:p>
                  </a:txBody>
                  <a:tcPr anchor="ctr" marL="54864" marR="54864">
                    <a:solidFill>
                      <a:srgbClr val="EEF2FB"/>
                    </a:solidFill>
                  </a:tcPr>
                </a:tc>
                <a:tc>
                  <a:txBody>
                    <a:bodyPr/>
                    <a:lstStyle/>
                    <a:p>
                      <a:pPr algn="ctr"/>
                      <a:r>
                        <a:rPr sz="1300" b="0">
                          <a:solidFill>
                            <a:srgbClr val="001D3E"/>
                          </a:solidFill>
                          <a:latin typeface="Calibri"/>
                        </a:rPr>
                        <a:t>30.4</a:t>
                      </a:r>
                    </a:p>
                  </a:txBody>
                  <a:tcPr anchor="ctr" marL="54864" marR="54864">
                    <a:solidFill>
                      <a:srgbClr val="EEF2FB"/>
                    </a:solidFill>
                  </a:tcPr>
                </a:tc>
                <a:tc>
                  <a:txBody>
                    <a:bodyPr/>
                    <a:lstStyle/>
                    <a:p>
                      <a:pPr algn="ctr"/>
                      <a:r>
                        <a:rPr sz="1300" b="0">
                          <a:solidFill>
                            <a:srgbClr val="001D3E"/>
                          </a:solidFill>
                          <a:latin typeface="Calibri"/>
                        </a:rPr>
                        <a:t>1.59</a:t>
                      </a:r>
                    </a:p>
                  </a:txBody>
                  <a:tcPr anchor="ctr" marL="54864" marR="54864">
                    <a:solidFill>
                      <a:srgbClr val="EEF2FB"/>
                    </a:solidFill>
                  </a:tcPr>
                </a:tc>
                <a:tc>
                  <a:txBody>
                    <a:bodyPr/>
                    <a:lstStyle/>
                    <a:p>
                      <a:pPr algn="ctr"/>
                      <a:r>
                        <a:rPr sz="1300" b="0">
                          <a:solidFill>
                            <a:srgbClr val="001D3E"/>
                          </a:solidFill>
                          <a:latin typeface="Calibri"/>
                        </a:rPr>
                        <a:t>0.001</a:t>
                      </a:r>
                    </a:p>
                  </a:txBody>
                  <a:tcPr anchor="ctr" marL="54864" marR="54864">
                    <a:solidFill>
                      <a:srgbClr val="EEF2FB"/>
                    </a:solidFill>
                  </a:tcPr>
                </a:tc>
              </a:tr>
              <a:tr h="365760">
                <a:tc>
                  <a:txBody>
                    <a:bodyPr/>
                    <a:lstStyle/>
                    <a:p>
                      <a:pPr algn="l"/>
                      <a:r>
                        <a:rPr sz="1300" b="0">
                          <a:solidFill>
                            <a:srgbClr val="001D3E"/>
                          </a:solidFill>
                          <a:latin typeface="Calibri"/>
                        </a:rPr>
                        <a:t>Logistic</a:t>
                      </a:r>
                    </a:p>
                  </a:txBody>
                  <a:tcPr anchor="ctr" marL="54864" marR="54864">
                    <a:solidFill>
                      <a:srgbClr val="FFFFFF"/>
                    </a:solidFill>
                  </a:tcPr>
                </a:tc>
                <a:tc>
                  <a:txBody>
                    <a:bodyPr/>
                    <a:lstStyle/>
                    <a:p>
                      <a:pPr algn="ctr"/>
                      <a:r>
                        <a:rPr sz="1300" b="0">
                          <a:solidFill>
                            <a:srgbClr val="001D3E"/>
                          </a:solidFill>
                          <a:latin typeface="Calibri"/>
                        </a:rPr>
                        <a:t>38.5</a:t>
                      </a:r>
                    </a:p>
                  </a:txBody>
                  <a:tcPr anchor="ctr" marL="54864" marR="54864">
                    <a:solidFill>
                      <a:srgbClr val="FFFFFF"/>
                    </a:solidFill>
                  </a:tcPr>
                </a:tc>
                <a:tc>
                  <a:txBody>
                    <a:bodyPr/>
                    <a:lstStyle/>
                    <a:p>
                      <a:pPr algn="ctr"/>
                      <a:r>
                        <a:rPr sz="1300" b="0">
                          <a:solidFill>
                            <a:srgbClr val="001D3E"/>
                          </a:solidFill>
                          <a:latin typeface="Calibri"/>
                        </a:rPr>
                        <a:t>1.47</a:t>
                      </a:r>
                    </a:p>
                  </a:txBody>
                  <a:tcPr anchor="ctr" marL="54864" marR="54864">
                    <a:solidFill>
                      <a:srgbClr val="FFFFFF"/>
                    </a:solidFill>
                  </a:tcPr>
                </a:tc>
                <a:tc>
                  <a:txBody>
                    <a:bodyPr/>
                    <a:lstStyle/>
                    <a:p>
                      <a:pPr algn="ctr"/>
                      <a:r>
                        <a:rPr sz="1300" b="0">
                          <a:solidFill>
                            <a:srgbClr val="001D3E"/>
                          </a:solidFill>
                          <a:latin typeface="Calibri"/>
                        </a:rPr>
                        <a:t>0.004</a:t>
                      </a:r>
                    </a:p>
                  </a:txBody>
                  <a:tcPr anchor="ctr" marL="54864" marR="54864">
                    <a:solidFill>
                      <a:srgbClr val="FFFFFF"/>
                    </a:solidFill>
                  </a:tcPr>
                </a:tc>
              </a:tr>
              <a:tr h="365760">
                <a:tc>
                  <a:txBody>
                    <a:bodyPr/>
                    <a:lstStyle/>
                    <a:p>
                      <a:pPr algn="l"/>
                      <a:r>
                        <a:rPr sz="1300" b="0">
                          <a:solidFill>
                            <a:srgbClr val="001D3E"/>
                          </a:solidFill>
                          <a:latin typeface="Calibri"/>
                        </a:rPr>
                        <a:t>GBM</a:t>
                      </a:r>
                    </a:p>
                  </a:txBody>
                  <a:tcPr anchor="ctr" marL="54864" marR="54864">
                    <a:solidFill>
                      <a:srgbClr val="EEF2FB"/>
                    </a:solidFill>
                  </a:tcPr>
                </a:tc>
                <a:tc>
                  <a:txBody>
                    <a:bodyPr/>
                    <a:lstStyle/>
                    <a:p>
                      <a:pPr algn="ctr"/>
                      <a:r>
                        <a:rPr sz="1300" b="0">
                          <a:solidFill>
                            <a:srgbClr val="001D3E"/>
                          </a:solidFill>
                          <a:latin typeface="Calibri"/>
                        </a:rPr>
                        <a:t>40.0</a:t>
                      </a:r>
                    </a:p>
                  </a:txBody>
                  <a:tcPr anchor="ctr" marL="54864" marR="54864">
                    <a:solidFill>
                      <a:srgbClr val="EEF2FB"/>
                    </a:solidFill>
                  </a:tcPr>
                </a:tc>
                <a:tc>
                  <a:txBody>
                    <a:bodyPr/>
                    <a:lstStyle/>
                    <a:p>
                      <a:pPr algn="ctr"/>
                      <a:r>
                        <a:rPr sz="1300" b="0">
                          <a:solidFill>
                            <a:srgbClr val="001D3E"/>
                          </a:solidFill>
                          <a:latin typeface="Calibri"/>
                        </a:rPr>
                        <a:t>1.44</a:t>
                      </a:r>
                    </a:p>
                  </a:txBody>
                  <a:tcPr anchor="ctr" marL="54864" marR="54864">
                    <a:solidFill>
                      <a:srgbClr val="EEF2FB"/>
                    </a:solidFill>
                  </a:tcPr>
                </a:tc>
                <a:tc>
                  <a:txBody>
                    <a:bodyPr/>
                    <a:lstStyle/>
                    <a:p>
                      <a:pPr algn="ctr"/>
                      <a:r>
                        <a:rPr sz="1300" b="0">
                          <a:solidFill>
                            <a:srgbClr val="001D3E"/>
                          </a:solidFill>
                          <a:latin typeface="Calibri"/>
                        </a:rPr>
                        <a:t>0.005</a:t>
                      </a:r>
                    </a:p>
                  </a:txBody>
                  <a:tcPr anchor="ctr" marL="54864" marR="54864">
                    <a:solidFill>
                      <a:srgbClr val="EEF2FB"/>
                    </a:solidFill>
                  </a:tcPr>
                </a:tc>
              </a:tr>
              <a:tr h="365760">
                <a:tc>
                  <a:txBody>
                    <a:bodyPr/>
                    <a:lstStyle/>
                    <a:p>
                      <a:pPr algn="l"/>
                      <a:r>
                        <a:rPr sz="1300" b="0">
                          <a:solidFill>
                            <a:srgbClr val="001D3E"/>
                          </a:solidFill>
                          <a:latin typeface="Calibri"/>
                        </a:rPr>
                        <a:t>Fine-tuned</a:t>
                      </a:r>
                    </a:p>
                  </a:txBody>
                  <a:tcPr anchor="ctr" marL="54864" marR="54864">
                    <a:solidFill>
                      <a:srgbClr val="FFFFFF"/>
                    </a:solidFill>
                  </a:tcPr>
                </a:tc>
                <a:tc>
                  <a:txBody>
                    <a:bodyPr/>
                    <a:lstStyle/>
                    <a:p>
                      <a:pPr algn="ctr"/>
                      <a:r>
                        <a:rPr sz="1300" b="0">
                          <a:solidFill>
                            <a:srgbClr val="001D3E"/>
                          </a:solidFill>
                          <a:latin typeface="Calibri"/>
                        </a:rPr>
                        <a:t>38.0</a:t>
                      </a:r>
                    </a:p>
                  </a:txBody>
                  <a:tcPr anchor="ctr" marL="54864" marR="54864">
                    <a:solidFill>
                      <a:srgbClr val="FFFFFF"/>
                    </a:solidFill>
                  </a:tcPr>
                </a:tc>
                <a:tc>
                  <a:txBody>
                    <a:bodyPr/>
                    <a:lstStyle/>
                    <a:p>
                      <a:pPr algn="ctr"/>
                      <a:r>
                        <a:rPr sz="1300" b="0">
                          <a:solidFill>
                            <a:srgbClr val="001D3E"/>
                          </a:solidFill>
                          <a:latin typeface="Calibri"/>
                        </a:rPr>
                        <a:t>1.48</a:t>
                      </a:r>
                    </a:p>
                  </a:txBody>
                  <a:tcPr anchor="ctr" marL="54864" marR="54864">
                    <a:solidFill>
                      <a:srgbClr val="FFFFFF"/>
                    </a:solidFill>
                  </a:tcPr>
                </a:tc>
                <a:tc>
                  <a:txBody>
                    <a:bodyPr/>
                    <a:lstStyle/>
                    <a:p>
                      <a:pPr algn="ctr"/>
                      <a:r>
                        <a:rPr sz="1300" b="0">
                          <a:solidFill>
                            <a:srgbClr val="001D3E"/>
                          </a:solidFill>
                          <a:latin typeface="Calibri"/>
                        </a:rPr>
                        <a:t>0.009</a:t>
                      </a:r>
                    </a:p>
                  </a:txBody>
                  <a:tcPr anchor="ctr" marL="54864" marR="54864">
                    <a:solidFill>
                      <a:srgbClr val="FFFFFF"/>
                    </a:solidFill>
                  </a:tcPr>
                </a:tc>
              </a:tr>
              <a:tr h="365760">
                <a:tc>
                  <a:txBody>
                    <a:bodyPr/>
                    <a:lstStyle/>
                    <a:p>
                      <a:pPr algn="l"/>
                      <a:r>
                        <a:rPr sz="1300" b="0">
                          <a:solidFill>
                            <a:srgbClr val="001D3E"/>
                          </a:solidFill>
                          <a:latin typeface="Calibri"/>
                        </a:rPr>
                        <a:t>Zero-shot</a:t>
                      </a:r>
                    </a:p>
                  </a:txBody>
                  <a:tcPr anchor="ctr" marL="54864" marR="54864">
                    <a:solidFill>
                      <a:srgbClr val="EEF2FB"/>
                    </a:solidFill>
                  </a:tcPr>
                </a:tc>
                <a:tc>
                  <a:txBody>
                    <a:bodyPr/>
                    <a:lstStyle/>
                    <a:p>
                      <a:pPr algn="ctr"/>
                      <a:r>
                        <a:rPr sz="1300" b="0">
                          <a:solidFill>
                            <a:srgbClr val="001D3E"/>
                          </a:solidFill>
                          <a:latin typeface="Calibri"/>
                        </a:rPr>
                        <a:t>16.1</a:t>
                      </a:r>
                    </a:p>
                  </a:txBody>
                  <a:tcPr anchor="ctr" marL="54864" marR="54864">
                    <a:solidFill>
                      <a:srgbClr val="EEF2FB"/>
                    </a:solidFill>
                  </a:tcPr>
                </a:tc>
                <a:tc>
                  <a:txBody>
                    <a:bodyPr/>
                    <a:lstStyle/>
                    <a:p>
                      <a:pPr algn="ctr"/>
                      <a:r>
                        <a:rPr sz="1300" b="0">
                          <a:solidFill>
                            <a:srgbClr val="001D3E"/>
                          </a:solidFill>
                          <a:latin typeface="Calibri"/>
                        </a:rPr>
                        <a:t>4.26</a:t>
                      </a:r>
                    </a:p>
                  </a:txBody>
                  <a:tcPr anchor="ctr" marL="54864" marR="54864">
                    <a:solidFill>
                      <a:srgbClr val="EEF2FB"/>
                    </a:solidFill>
                  </a:tcPr>
                </a:tc>
                <a:tc>
                  <a:txBody>
                    <a:bodyPr/>
                    <a:lstStyle/>
                    <a:p>
                      <a:pPr algn="ctr"/>
                      <a:r>
                        <a:rPr sz="1300" b="0">
                          <a:solidFill>
                            <a:srgbClr val="001D3E"/>
                          </a:solidFill>
                          <a:latin typeface="Calibri"/>
                        </a:rPr>
                        <a:t>0.519</a:t>
                      </a:r>
                    </a:p>
                  </a:txBody>
                  <a:tcPr anchor="ctr" marL="54864" marR="54864">
                    <a:solidFill>
                      <a:srgbClr val="EEF2FB"/>
                    </a:solidFill>
                  </a:tcPr>
                </a:tc>
              </a:tr>
            </a:tbl>
          </a:graphicData>
        </a:graphic>
      </p:graphicFrame>
      <p:sp>
        <p:nvSpPr>
          <p:cNvPr id="10" name="TextBox 9"/>
          <p:cNvSpPr txBox="1"/>
          <p:nvPr/>
        </p:nvSpPr>
        <p:spPr>
          <a:xfrm>
            <a:off x="7589520" y="3749039"/>
            <a:ext cx="4114800" cy="2468880"/>
          </a:xfrm>
          <a:prstGeom prst="rect">
            <a:avLst/>
          </a:prstGeom>
          <a:noFill/>
        </p:spPr>
        <p:txBody>
          <a:bodyPr wrap="square" anchor="t" lIns="73152" rIns="73152" tIns="36576" bIns="36576">
            <a:spAutoFit/>
          </a:bodyPr>
          <a:lstStyle/>
          <a:p>
            <a:pPr algn="l">
              <a:spcAft>
                <a:spcPts val="400"/>
              </a:spcAft>
            </a:pPr>
            <a:r>
              <a:rPr sz="1500" b="1">
                <a:solidFill>
                  <a:srgbClr val="001D3E"/>
                </a:solidFill>
                <a:latin typeface="Calibri"/>
              </a:rPr>
              <a:t>Fine-tuned model</a:t>
            </a:r>
          </a:p>
          <a:p>
            <a:pPr algn="l">
              <a:spcAft>
                <a:spcPts val="400"/>
              </a:spcAft>
            </a:pPr>
            <a:r>
              <a:rPr sz="1500" b="0">
                <a:solidFill>
                  <a:srgbClr val="001D3E"/>
                </a:solidFill>
                <a:latin typeface="Calibri"/>
              </a:rPr>
              <a:t>+7.6 points over majority</a:t>
            </a:r>
          </a:p>
          <a:p>
            <a:pPr algn="l">
              <a:spcAft>
                <a:spcPts val="400"/>
              </a:spcAft>
            </a:pPr>
            <a:r>
              <a:rPr sz="1500" b="0">
                <a:solidFill>
                  <a:srgbClr val="001D3E"/>
                </a:solidFill>
                <a:latin typeface="Calibri"/>
              </a:rPr>
              <a:t>-0.5 vs logistic, -2.1 vs GBM</a:t>
            </a:r>
          </a:p>
          <a:p>
            <a:pPr algn="l">
              <a:spcAft>
                <a:spcPts val="400"/>
              </a:spcAft>
            </a:pPr>
            <a:r>
              <a:rPr sz="1500" b="0">
                <a:solidFill>
                  <a:srgbClr val="001D3E"/>
                </a:solidFill>
                <a:latin typeface="Calibri"/>
              </a:rPr>
              <a:t>Closes 79% of the gap to GBM</a:t>
            </a:r>
          </a:p>
          <a:p>
            <a:pPr algn="l">
              <a:spcAft>
                <a:spcPts val="400"/>
              </a:spcAft>
            </a:pPr>
            <a:r>
              <a:rPr sz="1500" b="0">
                <a:solidFill>
                  <a:srgbClr val="001D3E"/>
                </a:solidFill>
                <a:latin typeface="Calibri"/>
              </a:rPr>
              <a:t>Trails GBM on every item (1.2 to 2.7 points)</a:t>
            </a:r>
          </a:p>
          <a:p>
            <a:pPr algn="l">
              <a:spcAft>
                <a:spcPts val="400"/>
              </a:spcAft>
            </a:pPr>
            <a:r>
              <a:rPr sz="1500" b="0">
                <a:solidFill>
                  <a:srgbClr val="001D3E"/>
                </a:solidFill>
                <a:latin typeface="Calibri"/>
              </a:rPr>
              <a:t>ECE 0.009: well calibrated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Result 3: direction of group differences and subgroup fairness</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11</a:t>
            </a:r>
          </a:p>
        </p:txBody>
      </p:sp>
      <p:pic>
        <p:nvPicPr>
          <p:cNvPr id="8" name="Picture 7" descr="fig_direction.png"/>
          <p:cNvPicPr>
            <a:picLocks noChangeAspect="1"/>
          </p:cNvPicPr>
          <p:nvPr/>
        </p:nvPicPr>
        <p:blipFill>
          <a:blip r:embed="rId3"/>
          <a:stretch>
            <a:fillRect/>
          </a:stretch>
        </p:blipFill>
        <p:spPr>
          <a:xfrm>
            <a:off x="1051560" y="1188720"/>
            <a:ext cx="10058400" cy="3329189"/>
          </a:xfrm>
          <a:prstGeom prst="rect">
            <a:avLst/>
          </a:prstGeom>
        </p:spPr>
      </p:pic>
      <p:sp>
        <p:nvSpPr>
          <p:cNvPr id="9" name="Rectangle 8"/>
          <p:cNvSpPr/>
          <p:nvPr/>
        </p:nvSpPr>
        <p:spPr>
          <a:xfrm>
            <a:off x="457200" y="4617720"/>
            <a:ext cx="5486400" cy="178308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617720"/>
            <a:ext cx="54864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636007"/>
            <a:ext cx="53035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SUBGROUP GAPS (FINE-TUNED, POINTS)</a:t>
            </a:r>
          </a:p>
        </p:txBody>
      </p:sp>
      <p:sp>
        <p:nvSpPr>
          <p:cNvPr id="12" name="TextBox 11"/>
          <p:cNvSpPr txBox="1"/>
          <p:nvPr/>
        </p:nvSpPr>
        <p:spPr>
          <a:xfrm>
            <a:off x="566928" y="5074920"/>
            <a:ext cx="5266944" cy="1280160"/>
          </a:xfrm>
          <a:prstGeom prst="rect">
            <a:avLst/>
          </a:prstGeom>
          <a:noFill/>
        </p:spPr>
        <p:txBody>
          <a:bodyPr wrap="square" anchor="t" lIns="73152" rIns="73152" tIns="36576" bIns="36576">
            <a:spAutoFit/>
          </a:bodyPr>
          <a:lstStyle/>
          <a:p>
            <a:pPr algn="l">
              <a:spcAft>
                <a:spcPts val="500"/>
              </a:spcAft>
            </a:pPr>
            <a:r>
              <a:rPr sz="1400" b="0">
                <a:solidFill>
                  <a:srgbClr val="001D3E"/>
                </a:solidFill>
                <a:latin typeface="Calibri"/>
              </a:rPr>
              <a:t>•  </a:t>
            </a:r>
            <a:r>
              <a:rPr sz="1400" b="0">
                <a:solidFill>
                  <a:srgbClr val="001D3E"/>
                </a:solidFill>
                <a:latin typeface="Calibri"/>
              </a:rPr>
              <a:t>Religion 10.0, region 8.8, age 2.7, income 1.7, urban/rural 1.3</a:t>
            </a:r>
          </a:p>
          <a:p>
            <a:pPr algn="l">
              <a:spcAft>
                <a:spcPts val="500"/>
              </a:spcAft>
            </a:pPr>
            <a:r>
              <a:rPr sz="1400" b="0">
                <a:solidFill>
                  <a:srgbClr val="001D3E"/>
                </a:solidFill>
                <a:latin typeface="Calibri"/>
              </a:rPr>
              <a:t>•  </a:t>
            </a:r>
            <a:r>
              <a:rPr sz="1400" b="0">
                <a:solidFill>
                  <a:srgbClr val="001D3E"/>
                </a:solidFill>
                <a:latin typeface="Calibri"/>
              </a:rPr>
              <a:t>Five of eight axes significant after Holm correction</a:t>
            </a:r>
          </a:p>
        </p:txBody>
      </p:sp>
      <p:sp>
        <p:nvSpPr>
          <p:cNvPr id="13" name="Rectangle 12"/>
          <p:cNvSpPr/>
          <p:nvPr/>
        </p:nvSpPr>
        <p:spPr>
          <a:xfrm>
            <a:off x="6217920" y="4617720"/>
            <a:ext cx="5486400" cy="178308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4617720"/>
            <a:ext cx="54864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59" y="4636007"/>
            <a:ext cx="53035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DISTRIBUTION FIDELITY (JSD, RELIGION CELLS)</a:t>
            </a:r>
          </a:p>
        </p:txBody>
      </p:sp>
      <p:sp>
        <p:nvSpPr>
          <p:cNvPr id="16" name="TextBox 15"/>
          <p:cNvSpPr txBox="1"/>
          <p:nvPr/>
        </p:nvSpPr>
        <p:spPr>
          <a:xfrm>
            <a:off x="6327648" y="5074920"/>
            <a:ext cx="5266944" cy="1280160"/>
          </a:xfrm>
          <a:prstGeom prst="rect">
            <a:avLst/>
          </a:prstGeom>
          <a:noFill/>
        </p:spPr>
        <p:txBody>
          <a:bodyPr wrap="square" anchor="t" lIns="73152" rIns="73152" tIns="36576" bIns="36576">
            <a:spAutoFit/>
          </a:bodyPr>
          <a:lstStyle/>
          <a:p>
            <a:pPr algn="l">
              <a:spcAft>
                <a:spcPts val="500"/>
              </a:spcAft>
            </a:pPr>
            <a:r>
              <a:rPr sz="1400" b="0">
                <a:solidFill>
                  <a:srgbClr val="001D3E"/>
                </a:solidFill>
                <a:latin typeface="Calibri"/>
              </a:rPr>
              <a:t>•  </a:t>
            </a:r>
            <a:r>
              <a:rPr sz="1400" b="0">
                <a:solidFill>
                  <a:srgbClr val="001D3E"/>
                </a:solidFill>
                <a:latin typeface="Calibri"/>
              </a:rPr>
              <a:t>Fine-tuned 0.009, logistic 0.004, item marginal 0.029</a:t>
            </a:r>
          </a:p>
          <a:p>
            <a:pPr algn="l">
              <a:spcAft>
                <a:spcPts val="500"/>
              </a:spcAft>
            </a:pPr>
            <a:r>
              <a:rPr sz="1400" b="0">
                <a:solidFill>
                  <a:srgbClr val="001D3E"/>
                </a:solidFill>
                <a:latin typeface="Calibri"/>
              </a:rPr>
              <a:t>•  </a:t>
            </a:r>
            <a:r>
              <a:rPr sz="1400" b="0">
                <a:solidFill>
                  <a:srgbClr val="001D3E"/>
                </a:solidFill>
                <a:latin typeface="Calibri"/>
              </a:rPr>
              <a:t>Zero-shot 0.271: more than 10x worse than fine-tuned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Result 4: transfer to unseen questions, scale and data</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12</a:t>
            </a:r>
          </a:p>
        </p:txBody>
      </p:sp>
      <p:pic>
        <p:nvPicPr>
          <p:cNvPr id="8" name="Picture 7" descr="fig_transfer.png"/>
          <p:cNvPicPr>
            <a:picLocks noChangeAspect="1"/>
          </p:cNvPicPr>
          <p:nvPr/>
        </p:nvPicPr>
        <p:blipFill>
          <a:blip r:embed="rId3"/>
          <a:stretch>
            <a:fillRect/>
          </a:stretch>
        </p:blipFill>
        <p:spPr>
          <a:xfrm>
            <a:off x="457200" y="1234440"/>
            <a:ext cx="6766560" cy="2191984"/>
          </a:xfrm>
          <a:prstGeom prst="rect">
            <a:avLst/>
          </a:prstGeom>
        </p:spPr>
      </p:pic>
      <p:pic>
        <p:nvPicPr>
          <p:cNvPr id="9" name="Picture 8" descr="fig_lc.png"/>
          <p:cNvPicPr>
            <a:picLocks noChangeAspect="1"/>
          </p:cNvPicPr>
          <p:nvPr/>
        </p:nvPicPr>
        <p:blipFill>
          <a:blip r:embed="rId4"/>
          <a:stretch>
            <a:fillRect/>
          </a:stretch>
        </p:blipFill>
        <p:spPr>
          <a:xfrm>
            <a:off x="7772400" y="1188720"/>
            <a:ext cx="3566160" cy="2275392"/>
          </a:xfrm>
          <a:prstGeom prst="rect">
            <a:avLst/>
          </a:prstGeom>
        </p:spPr>
      </p:pic>
      <p:sp>
        <p:nvSpPr>
          <p:cNvPr id="10" name="Rectangle 9"/>
          <p:cNvSpPr/>
          <p:nvPr/>
        </p:nvSpPr>
        <p:spPr>
          <a:xfrm>
            <a:off x="457200" y="3840480"/>
            <a:ext cx="6766560" cy="251460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840480"/>
            <a:ext cx="676656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858768"/>
            <a:ext cx="658368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TRANSFER (8 UNSEEN ITEMS, 120 RESPONDENTS)</a:t>
            </a:r>
          </a:p>
        </p:txBody>
      </p:sp>
      <p:sp>
        <p:nvSpPr>
          <p:cNvPr id="13" name="TextBox 12"/>
          <p:cNvSpPr txBox="1"/>
          <p:nvPr/>
        </p:nvSpPr>
        <p:spPr>
          <a:xfrm>
            <a:off x="566928" y="4297680"/>
            <a:ext cx="6547104" cy="2011680"/>
          </a:xfrm>
          <a:prstGeom prst="rect">
            <a:avLst/>
          </a:prstGeom>
          <a:noFill/>
        </p:spPr>
        <p:txBody>
          <a:bodyPr wrap="square" anchor="t" lIns="73152" rIns="73152" tIns="36576" bIns="36576">
            <a:spAutoFit/>
          </a:bodyPr>
          <a:lstStyle/>
          <a:p>
            <a:pPr algn="l">
              <a:spcAft>
                <a:spcPts val="500"/>
              </a:spcAft>
            </a:pPr>
            <a:r>
              <a:rPr sz="1400" b="0">
                <a:solidFill>
                  <a:srgbClr val="001D3E"/>
                </a:solidFill>
                <a:latin typeface="Calibri"/>
              </a:rPr>
              <a:t>•  </a:t>
            </a:r>
            <a:r>
              <a:rPr sz="1400" b="0">
                <a:solidFill>
                  <a:srgbClr val="001D3E"/>
                </a:solidFill>
                <a:latin typeface="Calibri"/>
              </a:rPr>
              <a:t>Adapter 28.9% vs base 28.5%: +0.4 points (-5.1 to +5.9)</a:t>
            </a:r>
          </a:p>
          <a:p>
            <a:pPr algn="l">
              <a:spcAft>
                <a:spcPts val="500"/>
              </a:spcAft>
            </a:pPr>
            <a:r>
              <a:rPr sz="1400" b="0">
                <a:solidFill>
                  <a:srgbClr val="001D3E"/>
                </a:solidFill>
                <a:latin typeface="Calibri"/>
              </a:rPr>
              <a:t>•  </a:t>
            </a:r>
            <a:r>
              <a:rPr sz="1400" b="0">
                <a:solidFill>
                  <a:srgbClr val="001D3E"/>
                </a:solidFill>
                <a:latin typeface="Calibri"/>
              </a:rPr>
              <a:t>In-domain gain +14.1 points; item-level difference not significant (p = 0.18)</a:t>
            </a:r>
          </a:p>
          <a:p>
            <a:pPr algn="l">
              <a:spcAft>
                <a:spcPts val="500"/>
              </a:spcAft>
            </a:pPr>
            <a:r>
              <a:rPr sz="1400" b="0">
                <a:solidFill>
                  <a:srgbClr val="001D3E"/>
                </a:solidFill>
                <a:latin typeface="Calibri"/>
              </a:rPr>
              <a:t>•  </a:t>
            </a:r>
            <a:r>
              <a:rPr sz="1400" b="0">
                <a:solidFill>
                  <a:srgbClr val="001D3E"/>
                </a:solidFill>
                <a:latin typeface="Calibri"/>
              </a:rPr>
              <a:t>Approximate port, 8 items: not proof that transfer is impossible</a:t>
            </a:r>
          </a:p>
        </p:txBody>
      </p:sp>
      <p:sp>
        <p:nvSpPr>
          <p:cNvPr id="14" name="Rectangle 13"/>
          <p:cNvSpPr/>
          <p:nvPr/>
        </p:nvSpPr>
        <p:spPr>
          <a:xfrm>
            <a:off x="7406640" y="3611880"/>
            <a:ext cx="4297680" cy="274320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06640" y="3611880"/>
            <a:ext cx="429768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79" y="3630168"/>
            <a:ext cx="411480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SCALE AND DATA</a:t>
            </a:r>
          </a:p>
        </p:txBody>
      </p:sp>
      <p:sp>
        <p:nvSpPr>
          <p:cNvPr id="17" name="TextBox 16"/>
          <p:cNvSpPr txBox="1"/>
          <p:nvPr/>
        </p:nvSpPr>
        <p:spPr>
          <a:xfrm>
            <a:off x="7516367" y="4069080"/>
            <a:ext cx="4078224" cy="2240280"/>
          </a:xfrm>
          <a:prstGeom prst="rect">
            <a:avLst/>
          </a:prstGeom>
          <a:noFill/>
        </p:spPr>
        <p:txBody>
          <a:bodyPr wrap="square" anchor="t" lIns="73152" rIns="73152" tIns="36576" bIns="36576">
            <a:spAutoFit/>
          </a:bodyPr>
          <a:lstStyle/>
          <a:p>
            <a:pPr algn="l">
              <a:spcAft>
                <a:spcPts val="500"/>
              </a:spcAft>
            </a:pPr>
            <a:r>
              <a:rPr sz="1400" b="0">
                <a:solidFill>
                  <a:srgbClr val="001D3E"/>
                </a:solidFill>
                <a:latin typeface="Calibri"/>
              </a:rPr>
              <a:t>•  </a:t>
            </a:r>
            <a:r>
              <a:rPr sz="1400" b="0">
                <a:solidFill>
                  <a:srgbClr val="001D3E"/>
                </a:solidFill>
                <a:latin typeface="Calibri"/>
              </a:rPr>
              <a:t>gpt-oss-120b: 27.6% on 100 respondents (majority 30.0%)</a:t>
            </a:r>
          </a:p>
          <a:p>
            <a:pPr algn="l">
              <a:spcAft>
                <a:spcPts val="500"/>
              </a:spcAft>
            </a:pPr>
            <a:r>
              <a:rPr sz="1400" b="0">
                <a:solidFill>
                  <a:srgbClr val="001D3E"/>
                </a:solidFill>
                <a:latin typeface="Calibri"/>
              </a:rPr>
              <a:t>•  </a:t>
            </a:r>
            <a:r>
              <a:rPr sz="1400" b="0">
                <a:solidFill>
                  <a:srgbClr val="001D3E"/>
                </a:solidFill>
                <a:latin typeface="Calibri"/>
              </a:rPr>
              <a:t>Logistic needs about 400 respondents, GBM about 1,600, to beat majority</a:t>
            </a:r>
          </a:p>
          <a:p>
            <a:pPr algn="l">
              <a:spcAft>
                <a:spcPts val="500"/>
              </a:spcAft>
            </a:pPr>
            <a:r>
              <a:rPr sz="1400" b="0">
                <a:solidFill>
                  <a:srgbClr val="001D3E"/>
                </a:solidFill>
                <a:latin typeface="Calibri"/>
              </a:rPr>
              <a:t>•  </a:t>
            </a:r>
            <a:r>
              <a:rPr sz="1400" b="0">
                <a:solidFill>
                  <a:srgbClr val="001D3E"/>
                </a:solidFill>
                <a:latin typeface="Calibri"/>
              </a:rPr>
              <a:t>Classifiers are far cheaper per row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Computational requirements and scalability</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13</a:t>
            </a:r>
          </a:p>
        </p:txBody>
      </p:sp>
      <p:graphicFrame>
        <p:nvGraphicFramePr>
          <p:cNvPr id="8" name="Table 7"/>
          <p:cNvGraphicFramePr>
            <a:graphicFrameLocks noGrp="1"/>
          </p:cNvGraphicFramePr>
          <p:nvPr/>
        </p:nvGraphicFramePr>
        <p:xfrm>
          <a:off x="457200" y="1325880"/>
          <a:ext cx="11247120" cy="3017520"/>
        </p:xfrm>
        <a:graphic>
          <a:graphicData uri="http://schemas.openxmlformats.org/drawingml/2006/table">
            <a:tbl>
              <a:tblPr firstRow="1" bandRow="1">
                <a:tableStyleId>{5C22544A-7EE6-4342-B048-85BDC9FD1C3A}</a:tableStyleId>
              </a:tblPr>
              <a:tblGrid>
                <a:gridCol w="4297680"/>
                <a:gridCol w="3108960"/>
                <a:gridCol w="3840480"/>
              </a:tblGrid>
              <a:tr h="502920">
                <a:tc>
                  <a:txBody>
                    <a:bodyPr/>
                    <a:lstStyle/>
                    <a:p>
                      <a:pPr algn="l"/>
                      <a:r>
                        <a:rPr sz="1400" b="1">
                          <a:solidFill>
                            <a:srgbClr val="FFFFFF"/>
                          </a:solidFill>
                          <a:latin typeface="Calibri"/>
                        </a:rPr>
                        <a:t>Task</a:t>
                      </a:r>
                    </a:p>
                  </a:txBody>
                  <a:tcPr anchor="ctr" marL="54864" marR="54864">
                    <a:solidFill>
                      <a:srgbClr val="001D3E"/>
                    </a:solidFill>
                  </a:tcPr>
                </a:tc>
                <a:tc>
                  <a:txBody>
                    <a:bodyPr/>
                    <a:lstStyle/>
                    <a:p>
                      <a:pPr algn="ctr"/>
                      <a:r>
                        <a:rPr sz="1400" b="1">
                          <a:solidFill>
                            <a:srgbClr val="FFFFFF"/>
                          </a:solidFill>
                          <a:latin typeface="Calibri"/>
                        </a:rPr>
                        <a:t>Hardware</a:t>
                      </a:r>
                    </a:p>
                  </a:txBody>
                  <a:tcPr anchor="ctr" marL="54864" marR="54864">
                    <a:solidFill>
                      <a:srgbClr val="001D3E"/>
                    </a:solidFill>
                  </a:tcPr>
                </a:tc>
                <a:tc>
                  <a:txBody>
                    <a:bodyPr/>
                    <a:lstStyle/>
                    <a:p>
                      <a:pPr algn="ctr"/>
                      <a:r>
                        <a:rPr sz="1400" b="1">
                          <a:solidFill>
                            <a:srgbClr val="FFFFFF"/>
                          </a:solidFill>
                          <a:latin typeface="Calibri"/>
                        </a:rPr>
                        <a:t>Measured cost</a:t>
                      </a:r>
                    </a:p>
                  </a:txBody>
                  <a:tcPr anchor="ctr" marL="54864" marR="54864">
                    <a:solidFill>
                      <a:srgbClr val="001D3E"/>
                    </a:solidFill>
                  </a:tcPr>
                </a:tc>
              </a:tr>
              <a:tr h="502920">
                <a:tc>
                  <a:txBody>
                    <a:bodyPr/>
                    <a:lstStyle/>
                    <a:p>
                      <a:pPr algn="l"/>
                      <a:r>
                        <a:rPr sz="1400" b="0">
                          <a:solidFill>
                            <a:srgbClr val="001D3E"/>
                          </a:solidFill>
                          <a:latin typeface="Calibri"/>
                        </a:rPr>
                        <a:t>QLoRA fine-tuning, 184,853 examples</a:t>
                      </a:r>
                    </a:p>
                  </a:txBody>
                  <a:tcPr anchor="ctr" marL="54864" marR="54864">
                    <a:solidFill>
                      <a:srgbClr val="EEF2FB"/>
                    </a:solidFill>
                  </a:tcPr>
                </a:tc>
                <a:tc>
                  <a:txBody>
                    <a:bodyPr/>
                    <a:lstStyle/>
                    <a:p>
                      <a:pPr algn="ctr"/>
                      <a:r>
                        <a:rPr sz="1400" b="0">
                          <a:solidFill>
                            <a:srgbClr val="001D3E"/>
                          </a:solidFill>
                          <a:latin typeface="Calibri"/>
                        </a:rPr>
                        <a:t>One lab GPU</a:t>
                      </a:r>
                    </a:p>
                  </a:txBody>
                  <a:tcPr anchor="ctr" marL="54864" marR="54864">
                    <a:solidFill>
                      <a:srgbClr val="EEF2FB"/>
                    </a:solidFill>
                  </a:tcPr>
                </a:tc>
                <a:tc>
                  <a:txBody>
                    <a:bodyPr/>
                    <a:lstStyle/>
                    <a:p>
                      <a:pPr algn="ctr"/>
                      <a:r>
                        <a:rPr sz="1400" b="0">
                          <a:solidFill>
                            <a:srgbClr val="001D3E"/>
                          </a:solidFill>
                          <a:latin typeface="Calibri"/>
                        </a:rPr>
                        <a:t>5,777 steps, 6.6 h (396.7 min)</a:t>
                      </a:r>
                    </a:p>
                  </a:txBody>
                  <a:tcPr anchor="ctr" marL="54864" marR="54864">
                    <a:solidFill>
                      <a:srgbClr val="EEF2FB"/>
                    </a:solidFill>
                  </a:tcPr>
                </a:tc>
              </a:tr>
              <a:tr h="502920">
                <a:tc>
                  <a:txBody>
                    <a:bodyPr/>
                    <a:lstStyle/>
                    <a:p>
                      <a:pPr algn="l"/>
                      <a:r>
                        <a:rPr sz="1400" b="0">
                          <a:solidFill>
                            <a:srgbClr val="001D3E"/>
                          </a:solidFill>
                          <a:latin typeface="Calibri"/>
                        </a:rPr>
                        <a:t>Scoring one condition, 46,209 rows</a:t>
                      </a:r>
                    </a:p>
                  </a:txBody>
                  <a:tcPr anchor="ctr" marL="54864" marR="54864">
                    <a:solidFill>
                      <a:srgbClr val="FFFFFF"/>
                    </a:solidFill>
                  </a:tcPr>
                </a:tc>
                <a:tc>
                  <a:txBody>
                    <a:bodyPr/>
                    <a:lstStyle/>
                    <a:p>
                      <a:pPr algn="ctr"/>
                      <a:r>
                        <a:rPr sz="1400" b="0">
                          <a:solidFill>
                            <a:srgbClr val="001D3E"/>
                          </a:solidFill>
                          <a:latin typeface="Calibri"/>
                        </a:rPr>
                        <a:t>Two Kaggle T4, fp16</a:t>
                      </a:r>
                    </a:p>
                  </a:txBody>
                  <a:tcPr anchor="ctr" marL="54864" marR="54864">
                    <a:solidFill>
                      <a:srgbClr val="FFFFFF"/>
                    </a:solidFill>
                  </a:tcPr>
                </a:tc>
                <a:tc>
                  <a:txBody>
                    <a:bodyPr/>
                    <a:lstStyle/>
                    <a:p>
                      <a:pPr algn="ctr"/>
                      <a:r>
                        <a:rPr sz="1400" b="0">
                          <a:solidFill>
                            <a:srgbClr val="001D3E"/>
                          </a:solidFill>
                          <a:latin typeface="Calibri"/>
                        </a:rPr>
                        <a:t>About 75 min; 0.19-0.21 s per row per GPU</a:t>
                      </a:r>
                    </a:p>
                  </a:txBody>
                  <a:tcPr anchor="ctr" marL="54864" marR="54864">
                    <a:solidFill>
                      <a:srgbClr val="FFFFFF"/>
                    </a:solidFill>
                  </a:tcPr>
                </a:tc>
              </a:tr>
              <a:tr h="502920">
                <a:tc>
                  <a:txBody>
                    <a:bodyPr/>
                    <a:lstStyle/>
                    <a:p>
                      <a:pPr algn="l"/>
                      <a:r>
                        <a:rPr sz="1400" b="0">
                          <a:solidFill>
                            <a:srgbClr val="001D3E"/>
                          </a:solidFill>
                          <a:latin typeface="Calibri"/>
                        </a:rPr>
                        <a:t>Local zero-shot scoring</a:t>
                      </a:r>
                    </a:p>
                  </a:txBody>
                  <a:tcPr anchor="ctr" marL="54864" marR="54864">
                    <a:solidFill>
                      <a:srgbClr val="EEF2FB"/>
                    </a:solidFill>
                  </a:tcPr>
                </a:tc>
                <a:tc>
                  <a:txBody>
                    <a:bodyPr/>
                    <a:lstStyle/>
                    <a:p>
                      <a:pPr algn="ctr"/>
                      <a:r>
                        <a:rPr sz="1400" b="0">
                          <a:solidFill>
                            <a:srgbClr val="001D3E"/>
                          </a:solidFill>
                          <a:latin typeface="Calibri"/>
                        </a:rPr>
                        <a:t>Apple M1, 16 GB, 4-bit MLX</a:t>
                      </a:r>
                    </a:p>
                  </a:txBody>
                  <a:tcPr anchor="ctr" marL="54864" marR="54864">
                    <a:solidFill>
                      <a:srgbClr val="EEF2FB"/>
                    </a:solidFill>
                  </a:tcPr>
                </a:tc>
                <a:tc>
                  <a:txBody>
                    <a:bodyPr/>
                    <a:lstStyle/>
                    <a:p>
                      <a:pPr algn="ctr"/>
                      <a:r>
                        <a:rPr sz="1400" b="0">
                          <a:solidFill>
                            <a:srgbClr val="001D3E"/>
                          </a:solidFill>
                          <a:latin typeface="Calibri"/>
                        </a:rPr>
                        <a:t>2.3 s per prompt; about 5 h per 1,000 respondents</a:t>
                      </a:r>
                    </a:p>
                  </a:txBody>
                  <a:tcPr anchor="ctr" marL="54864" marR="54864">
                    <a:solidFill>
                      <a:srgbClr val="EEF2FB"/>
                    </a:solidFill>
                  </a:tcPr>
                </a:tc>
              </a:tr>
              <a:tr h="502920">
                <a:tc>
                  <a:txBody>
                    <a:bodyPr/>
                    <a:lstStyle/>
                    <a:p>
                      <a:pPr algn="l"/>
                      <a:r>
                        <a:rPr sz="1400" b="0">
                          <a:solidFill>
                            <a:srgbClr val="001D3E"/>
                          </a:solidFill>
                          <a:latin typeface="Calibri"/>
                        </a:rPr>
                        <a:t>Matched classical baselines, 8 items</a:t>
                      </a:r>
                    </a:p>
                  </a:txBody>
                  <a:tcPr anchor="ctr" marL="54864" marR="54864">
                    <a:solidFill>
                      <a:srgbClr val="FFFFFF"/>
                    </a:solidFill>
                  </a:tcPr>
                </a:tc>
                <a:tc>
                  <a:txBody>
                    <a:bodyPr/>
                    <a:lstStyle/>
                    <a:p>
                      <a:pPr algn="ctr"/>
                      <a:r>
                        <a:rPr sz="1400" b="0">
                          <a:solidFill>
                            <a:srgbClr val="001D3E"/>
                          </a:solidFill>
                          <a:latin typeface="Calibri"/>
                        </a:rPr>
                        <a:t>Laptop CPU</a:t>
                      </a:r>
                    </a:p>
                  </a:txBody>
                  <a:tcPr anchor="ctr" marL="54864" marR="54864">
                    <a:solidFill>
                      <a:srgbClr val="FFFFFF"/>
                    </a:solidFill>
                  </a:tcPr>
                </a:tc>
                <a:tc>
                  <a:txBody>
                    <a:bodyPr/>
                    <a:lstStyle/>
                    <a:p>
                      <a:pPr algn="ctr"/>
                      <a:r>
                        <a:rPr sz="1400" b="0">
                          <a:solidFill>
                            <a:srgbClr val="001D3E"/>
                          </a:solidFill>
                          <a:latin typeface="Calibri"/>
                        </a:rPr>
                        <a:t>Under 1 minute for the whole fold</a:t>
                      </a:r>
                    </a:p>
                  </a:txBody>
                  <a:tcPr anchor="ctr" marL="54864" marR="54864">
                    <a:solidFill>
                      <a:srgbClr val="FFFFFF"/>
                    </a:solidFill>
                  </a:tcPr>
                </a:tc>
              </a:tr>
              <a:tr h="502920">
                <a:tc>
                  <a:txBody>
                    <a:bodyPr/>
                    <a:lstStyle/>
                    <a:p>
                      <a:pPr algn="l"/>
                      <a:r>
                        <a:rPr sz="1400" b="0">
                          <a:solidFill>
                            <a:srgbClr val="001D3E"/>
                          </a:solidFill>
                          <a:latin typeface="Calibri"/>
                        </a:rPr>
                        <a:t>gpt-oss-120b, 774 rows</a:t>
                      </a:r>
                    </a:p>
                  </a:txBody>
                  <a:tcPr anchor="ctr" marL="54864" marR="54864">
                    <a:solidFill>
                      <a:srgbClr val="EEF2FB"/>
                    </a:solidFill>
                  </a:tcPr>
                </a:tc>
                <a:tc>
                  <a:txBody>
                    <a:bodyPr/>
                    <a:lstStyle/>
                    <a:p>
                      <a:pPr algn="ctr"/>
                      <a:r>
                        <a:rPr sz="1400" b="0">
                          <a:solidFill>
                            <a:srgbClr val="001D3E"/>
                          </a:solidFill>
                          <a:latin typeface="Calibri"/>
                        </a:rPr>
                        <a:t>Free API tier</a:t>
                      </a:r>
                    </a:p>
                  </a:txBody>
                  <a:tcPr anchor="ctr" marL="54864" marR="54864">
                    <a:solidFill>
                      <a:srgbClr val="EEF2FB"/>
                    </a:solidFill>
                  </a:tcPr>
                </a:tc>
                <a:tc>
                  <a:txBody>
                    <a:bodyPr/>
                    <a:lstStyle/>
                    <a:p>
                      <a:pPr algn="ctr"/>
                      <a:r>
                        <a:rPr sz="1400" b="0">
                          <a:solidFill>
                            <a:srgbClr val="001D3E"/>
                          </a:solidFill>
                          <a:latin typeface="Calibri"/>
                        </a:rPr>
                        <a:t>Rate-limited; several hours</a:t>
                      </a:r>
                    </a:p>
                  </a:txBody>
                  <a:tcPr anchor="ctr" marL="54864" marR="54864">
                    <a:solidFill>
                      <a:srgbClr val="EEF2FB"/>
                    </a:solidFill>
                  </a:tcPr>
                </a:tc>
              </a:tr>
            </a:tbl>
          </a:graphicData>
        </a:graphic>
      </p:graphicFrame>
      <p:sp>
        <p:nvSpPr>
          <p:cNvPr id="9" name="Rectangle 8"/>
          <p:cNvSpPr/>
          <p:nvPr/>
        </p:nvSpPr>
        <p:spPr>
          <a:xfrm>
            <a:off x="457200" y="4572000"/>
            <a:ext cx="11247120" cy="178308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572000"/>
            <a:ext cx="1124712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590288"/>
            <a:ext cx="1106424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SCALING (LINEAR EXTRAPOLATIONS, NOT MEASUREMENTS)</a:t>
            </a:r>
          </a:p>
        </p:txBody>
      </p:sp>
      <p:sp>
        <p:nvSpPr>
          <p:cNvPr id="12" name="TextBox 11"/>
          <p:cNvSpPr txBox="1"/>
          <p:nvPr/>
        </p:nvSpPr>
        <p:spPr>
          <a:xfrm>
            <a:off x="566928" y="5029200"/>
            <a:ext cx="11027664" cy="1280160"/>
          </a:xfrm>
          <a:prstGeom prst="rect">
            <a:avLst/>
          </a:prstGeom>
          <a:noFill/>
        </p:spPr>
        <p:txBody>
          <a:bodyPr wrap="square" anchor="t" lIns="73152" rIns="73152" tIns="36576" bIns="36576">
            <a:spAutoFit/>
          </a:bodyPr>
          <a:lstStyle/>
          <a:p>
            <a:pPr algn="l">
              <a:spcAft>
                <a:spcPts val="500"/>
              </a:spcAft>
            </a:pPr>
            <a:r>
              <a:rPr sz="1500" b="0">
                <a:solidFill>
                  <a:srgbClr val="001D3E"/>
                </a:solidFill>
                <a:latin typeface="Calibri"/>
              </a:rPr>
              <a:t>•  </a:t>
            </a:r>
            <a:r>
              <a:rPr sz="1500" b="0">
                <a:solidFill>
                  <a:srgbClr val="001D3E"/>
                </a:solidFill>
                <a:latin typeface="Calibri"/>
              </a:rPr>
              <a:t>All 29,999 respondents x 73 items = 2.2 million rows: about 116 T4-hours to score (about 58 h on two)</a:t>
            </a:r>
          </a:p>
          <a:p>
            <a:pPr algn="l">
              <a:spcAft>
                <a:spcPts val="500"/>
              </a:spcAft>
            </a:pPr>
            <a:r>
              <a:rPr sz="1500" b="0">
                <a:solidFill>
                  <a:srgbClr val="001D3E"/>
                </a:solidFill>
                <a:latin typeface="Calibri"/>
              </a:rPr>
              <a:t>•  </a:t>
            </a:r>
            <a:r>
              <a:rPr sz="1500" b="0">
                <a:solidFill>
                  <a:srgbClr val="001D3E"/>
                </a:solidFill>
                <a:latin typeface="Calibri"/>
              </a:rPr>
              <a:t>Fine-tuning on all 73 items (1.75 million examples): about 63 h at the lab GPU rate, about 290 h on a T4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Track A (WVS-7) replication and engineering lessons</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14</a:t>
            </a:r>
          </a:p>
        </p:txBody>
      </p:sp>
      <p:graphicFrame>
        <p:nvGraphicFramePr>
          <p:cNvPr id="8" name="Table 7"/>
          <p:cNvGraphicFramePr>
            <a:graphicFrameLocks noGrp="1"/>
          </p:cNvGraphicFramePr>
          <p:nvPr/>
        </p:nvGraphicFramePr>
        <p:xfrm>
          <a:off x="457200" y="1325880"/>
          <a:ext cx="5852160" cy="2286000"/>
        </p:xfrm>
        <a:graphic>
          <a:graphicData uri="http://schemas.openxmlformats.org/drawingml/2006/table">
            <a:tbl>
              <a:tblPr firstRow="1" bandRow="1">
                <a:tableStyleId>{5C22544A-7EE6-4342-B048-85BDC9FD1C3A}</a:tableStyleId>
              </a:tblPr>
              <a:tblGrid>
                <a:gridCol w="3291840"/>
                <a:gridCol w="1371600"/>
                <a:gridCol w="1188720"/>
              </a:tblGrid>
              <a:tr h="457200">
                <a:tc>
                  <a:txBody>
                    <a:bodyPr/>
                    <a:lstStyle/>
                    <a:p>
                      <a:pPr algn="l"/>
                      <a:r>
                        <a:rPr sz="1400" b="1">
                          <a:solidFill>
                            <a:srgbClr val="FFFFFF"/>
                          </a:solidFill>
                          <a:latin typeface="Calibri"/>
                        </a:rPr>
                        <a:t>WVS-7 India, 15 items</a:t>
                      </a:r>
                    </a:p>
                  </a:txBody>
                  <a:tcPr anchor="ctr" marL="54864" marR="54864">
                    <a:solidFill>
                      <a:srgbClr val="001D3E"/>
                    </a:solidFill>
                  </a:tcPr>
                </a:tc>
                <a:tc>
                  <a:txBody>
                    <a:bodyPr/>
                    <a:lstStyle/>
                    <a:p>
                      <a:pPr algn="ctr"/>
                      <a:r>
                        <a:rPr sz="1400" b="1">
                          <a:solidFill>
                            <a:srgbClr val="FFFFFF"/>
                          </a:solidFill>
                          <a:latin typeface="Calibri"/>
                        </a:rPr>
                        <a:t>LLM acc.</a:t>
                      </a:r>
                    </a:p>
                  </a:txBody>
                  <a:tcPr anchor="ctr" marL="54864" marR="54864">
                    <a:solidFill>
                      <a:srgbClr val="001D3E"/>
                    </a:solidFill>
                  </a:tcPr>
                </a:tc>
                <a:tc>
                  <a:txBody>
                    <a:bodyPr/>
                    <a:lstStyle/>
                    <a:p>
                      <a:pPr algn="ctr"/>
                      <a:r>
                        <a:rPr sz="1400" b="1">
                          <a:solidFill>
                            <a:srgbClr val="FFFFFF"/>
                          </a:solidFill>
                          <a:latin typeface="Calibri"/>
                        </a:rPr>
                        <a:t>Majority</a:t>
                      </a:r>
                    </a:p>
                  </a:txBody>
                  <a:tcPr anchor="ctr" marL="54864" marR="54864">
                    <a:solidFill>
                      <a:srgbClr val="001D3E"/>
                    </a:solidFill>
                  </a:tcPr>
                </a:tc>
              </a:tr>
              <a:tr h="457200">
                <a:tc>
                  <a:txBody>
                    <a:bodyPr/>
                    <a:lstStyle/>
                    <a:p>
                      <a:pPr algn="l"/>
                      <a:r>
                        <a:rPr sz="1400" b="0">
                          <a:solidFill>
                            <a:srgbClr val="001D3E"/>
                          </a:solidFill>
                          <a:latin typeface="Calibri"/>
                        </a:rPr>
                        <a:t>Gemini 3.1 Flash Lite (30 resp.)</a:t>
                      </a:r>
                    </a:p>
                  </a:txBody>
                  <a:tcPr anchor="ctr" marL="54864" marR="54864">
                    <a:solidFill>
                      <a:srgbClr val="EEF2FB"/>
                    </a:solidFill>
                  </a:tcPr>
                </a:tc>
                <a:tc>
                  <a:txBody>
                    <a:bodyPr/>
                    <a:lstStyle/>
                    <a:p>
                      <a:pPr algn="ctr"/>
                      <a:r>
                        <a:rPr sz="1400" b="0">
                          <a:solidFill>
                            <a:srgbClr val="001D3E"/>
                          </a:solidFill>
                          <a:latin typeface="Calibri"/>
                        </a:rPr>
                        <a:t>25.7%</a:t>
                      </a:r>
                    </a:p>
                  </a:txBody>
                  <a:tcPr anchor="ctr" marL="54864" marR="54864">
                    <a:solidFill>
                      <a:srgbClr val="EEF2FB"/>
                    </a:solidFill>
                  </a:tcPr>
                </a:tc>
                <a:tc>
                  <a:txBody>
                    <a:bodyPr/>
                    <a:lstStyle/>
                    <a:p>
                      <a:pPr algn="ctr"/>
                      <a:r>
                        <a:rPr sz="1400" b="0">
                          <a:solidFill>
                            <a:srgbClr val="001D3E"/>
                          </a:solidFill>
                          <a:latin typeface="Calibri"/>
                        </a:rPr>
                        <a:t>20.9%</a:t>
                      </a:r>
                    </a:p>
                  </a:txBody>
                  <a:tcPr anchor="ctr" marL="54864" marR="54864">
                    <a:solidFill>
                      <a:srgbClr val="EEF2FB"/>
                    </a:solidFill>
                  </a:tcPr>
                </a:tc>
              </a:tr>
              <a:tr h="457200">
                <a:tc>
                  <a:txBody>
                    <a:bodyPr/>
                    <a:lstStyle/>
                    <a:p>
                      <a:pPr algn="l"/>
                      <a:r>
                        <a:rPr sz="1400" b="0">
                          <a:solidFill>
                            <a:srgbClr val="001D3E"/>
                          </a:solidFill>
                          <a:latin typeface="Calibri"/>
                        </a:rPr>
                        <a:t>gpt-oss-120b (40 resp.)</a:t>
                      </a:r>
                    </a:p>
                  </a:txBody>
                  <a:tcPr anchor="ctr" marL="54864" marR="54864">
                    <a:solidFill>
                      <a:srgbClr val="FFFFFF"/>
                    </a:solidFill>
                  </a:tcPr>
                </a:tc>
                <a:tc>
                  <a:txBody>
                    <a:bodyPr/>
                    <a:lstStyle/>
                    <a:p>
                      <a:pPr algn="ctr"/>
                      <a:r>
                        <a:rPr sz="1400" b="0">
                          <a:solidFill>
                            <a:srgbClr val="001D3E"/>
                          </a:solidFill>
                          <a:latin typeface="Calibri"/>
                        </a:rPr>
                        <a:t>23.0%</a:t>
                      </a:r>
                    </a:p>
                  </a:txBody>
                  <a:tcPr anchor="ctr" marL="54864" marR="54864">
                    <a:solidFill>
                      <a:srgbClr val="FFFFFF"/>
                    </a:solidFill>
                  </a:tcPr>
                </a:tc>
                <a:tc>
                  <a:txBody>
                    <a:bodyPr/>
                    <a:lstStyle/>
                    <a:p>
                      <a:pPr algn="ctr"/>
                      <a:r>
                        <a:rPr sz="1400" b="0">
                          <a:solidFill>
                            <a:srgbClr val="001D3E"/>
                          </a:solidFill>
                          <a:latin typeface="Calibri"/>
                        </a:rPr>
                        <a:t>22.3%</a:t>
                      </a:r>
                    </a:p>
                  </a:txBody>
                  <a:tcPr anchor="ctr" marL="54864" marR="54864">
                    <a:solidFill>
                      <a:srgbClr val="FFFFFF"/>
                    </a:solidFill>
                  </a:tcPr>
                </a:tc>
              </a:tr>
              <a:tr h="457200">
                <a:tc>
                  <a:txBody>
                    <a:bodyPr/>
                    <a:lstStyle/>
                    <a:p>
                      <a:pPr algn="l"/>
                      <a:r>
                        <a:rPr sz="1400" b="0">
                          <a:solidFill>
                            <a:srgbClr val="001D3E"/>
                          </a:solidFill>
                          <a:latin typeface="Calibri"/>
                        </a:rPr>
                        <a:t>Qwen2.5-7B (120 resp.)</a:t>
                      </a:r>
                    </a:p>
                  </a:txBody>
                  <a:tcPr anchor="ctr" marL="54864" marR="54864">
                    <a:solidFill>
                      <a:srgbClr val="EEF2FB"/>
                    </a:solidFill>
                  </a:tcPr>
                </a:tc>
                <a:tc>
                  <a:txBody>
                    <a:bodyPr/>
                    <a:lstStyle/>
                    <a:p>
                      <a:pPr algn="ctr"/>
                      <a:r>
                        <a:rPr sz="1400" b="0">
                          <a:solidFill>
                            <a:srgbClr val="001D3E"/>
                          </a:solidFill>
                          <a:latin typeface="Calibri"/>
                        </a:rPr>
                        <a:t>22.1%</a:t>
                      </a:r>
                    </a:p>
                  </a:txBody>
                  <a:tcPr anchor="ctr" marL="54864" marR="54864">
                    <a:solidFill>
                      <a:srgbClr val="EEF2FB"/>
                    </a:solidFill>
                  </a:tcPr>
                </a:tc>
                <a:tc>
                  <a:txBody>
                    <a:bodyPr/>
                    <a:lstStyle/>
                    <a:p>
                      <a:pPr algn="ctr"/>
                      <a:r>
                        <a:rPr sz="1400" b="0">
                          <a:solidFill>
                            <a:srgbClr val="001D3E"/>
                          </a:solidFill>
                          <a:latin typeface="Calibri"/>
                        </a:rPr>
                        <a:t>24.9%</a:t>
                      </a:r>
                    </a:p>
                  </a:txBody>
                  <a:tcPr anchor="ctr" marL="54864" marR="54864">
                    <a:solidFill>
                      <a:srgbClr val="EEF2FB"/>
                    </a:solidFill>
                  </a:tcPr>
                </a:tc>
              </a:tr>
              <a:tr h="457200">
                <a:tc>
                  <a:txBody>
                    <a:bodyPr/>
                    <a:lstStyle/>
                    <a:p>
                      <a:pPr algn="l"/>
                      <a:r>
                        <a:rPr sz="1400" b="0">
                          <a:solidFill>
                            <a:srgbClr val="001D3E"/>
                          </a:solidFill>
                          <a:latin typeface="Calibri"/>
                        </a:rPr>
                        <a:t>GBM (14 attributes)</a:t>
                      </a:r>
                    </a:p>
                  </a:txBody>
                  <a:tcPr anchor="ctr" marL="54864" marR="54864">
                    <a:solidFill>
                      <a:srgbClr val="FFFFFF"/>
                    </a:solidFill>
                  </a:tcPr>
                </a:tc>
                <a:tc>
                  <a:txBody>
                    <a:bodyPr/>
                    <a:lstStyle/>
                    <a:p>
                      <a:pPr algn="ctr"/>
                      <a:r>
                        <a:rPr sz="1400" b="0">
                          <a:solidFill>
                            <a:srgbClr val="001D3E"/>
                          </a:solidFill>
                          <a:latin typeface="Calibri"/>
                        </a:rPr>
                        <a:t>34-38%</a:t>
                      </a:r>
                    </a:p>
                  </a:txBody>
                  <a:tcPr anchor="ctr" marL="54864" marR="54864">
                    <a:solidFill>
                      <a:srgbClr val="FFFFFF"/>
                    </a:solidFill>
                  </a:tcPr>
                </a:tc>
                <a:tc>
                  <a:txBody>
                    <a:bodyPr/>
                    <a:lstStyle/>
                    <a:p>
                      <a:pPr algn="ctr"/>
                      <a:r>
                        <a:rPr sz="1400" b="0">
                          <a:solidFill>
                            <a:srgbClr val="001D3E"/>
                          </a:solidFill>
                          <a:latin typeface="Calibri"/>
                        </a:rPr>
                        <a:t>-</a:t>
                      </a:r>
                    </a:p>
                  </a:txBody>
                  <a:tcPr anchor="ctr" marL="54864" marR="54864">
                    <a:solidFill>
                      <a:srgbClr val="FFFFFF"/>
                    </a:solidFill>
                  </a:tcPr>
                </a:tc>
              </a:tr>
            </a:tbl>
          </a:graphicData>
        </a:graphic>
      </p:graphicFrame>
      <p:sp>
        <p:nvSpPr>
          <p:cNvPr id="9" name="Rectangle 8"/>
          <p:cNvSpPr/>
          <p:nvPr/>
        </p:nvSpPr>
        <p:spPr>
          <a:xfrm>
            <a:off x="6492240" y="1280160"/>
            <a:ext cx="5212080" cy="493776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1280160"/>
            <a:ext cx="521208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79" y="1298448"/>
            <a:ext cx="502920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LESSONS FROM BUILDING IT</a:t>
            </a:r>
          </a:p>
        </p:txBody>
      </p:sp>
      <p:sp>
        <p:nvSpPr>
          <p:cNvPr id="12" name="TextBox 11"/>
          <p:cNvSpPr txBox="1"/>
          <p:nvPr/>
        </p:nvSpPr>
        <p:spPr>
          <a:xfrm>
            <a:off x="6601968" y="1737360"/>
            <a:ext cx="4992624" cy="4434840"/>
          </a:xfrm>
          <a:prstGeom prst="rect">
            <a:avLst/>
          </a:prstGeom>
          <a:noFill/>
        </p:spPr>
        <p:txBody>
          <a:bodyPr wrap="square" anchor="t" lIns="73152" rIns="73152" tIns="36576" bIns="36576">
            <a:spAutoFit/>
          </a:bodyPr>
          <a:lstStyle/>
          <a:p>
            <a:pPr algn="l">
              <a:spcAft>
                <a:spcPts val="500"/>
              </a:spcAft>
            </a:pPr>
            <a:r>
              <a:rPr sz="1500" b="0">
                <a:solidFill>
                  <a:srgbClr val="001D3E"/>
                </a:solidFill>
                <a:latin typeface="Calibri"/>
              </a:rPr>
              <a:t>•  </a:t>
            </a:r>
            <a:r>
              <a:rPr sz="1500" b="0">
                <a:solidFill>
                  <a:srgbClr val="001D3E"/>
                </a:solidFill>
                <a:latin typeface="Calibri"/>
              </a:rPr>
              <a:t>Region labels were wrong on every code until checked against the WVS annex; fixing it moved gaps by several points</a:t>
            </a:r>
          </a:p>
          <a:p>
            <a:pPr algn="l">
              <a:spcAft>
                <a:spcPts val="500"/>
              </a:spcAft>
            </a:pPr>
            <a:r>
              <a:rPr sz="1500" b="0">
                <a:solidFill>
                  <a:srgbClr val="001D3E"/>
                </a:solidFill>
                <a:latin typeface="Calibri"/>
              </a:rPr>
              <a:t>•  </a:t>
            </a:r>
            <a:r>
              <a:rPr sz="1500" b="0">
                <a:solidFill>
                  <a:srgbClr val="001D3E"/>
                </a:solidFill>
                <a:latin typeface="Calibri"/>
              </a:rPr>
              <a:t>A cache that treated failures as final silently re-served 'no answer'</a:t>
            </a:r>
          </a:p>
          <a:p>
            <a:pPr algn="l">
              <a:spcAft>
                <a:spcPts val="500"/>
              </a:spcAft>
            </a:pPr>
            <a:r>
              <a:rPr sz="1500" b="0">
                <a:solidFill>
                  <a:srgbClr val="001D3E"/>
                </a:solidFill>
                <a:latin typeface="Calibri"/>
              </a:rPr>
              <a:t>•  </a:t>
            </a:r>
            <a:r>
              <a:rPr sz="1500" b="0">
                <a:solidFill>
                  <a:srgbClr val="001D3E"/>
                </a:solidFill>
                <a:latin typeface="Calibri"/>
              </a:rPr>
              <a:t>An apparent collapse on one item was a decoding artefact, found by re-scoring the adapter</a:t>
            </a:r>
          </a:p>
          <a:p>
            <a:pPr algn="l">
              <a:spcAft>
                <a:spcPts val="500"/>
              </a:spcAft>
            </a:pPr>
            <a:r>
              <a:rPr sz="1500" b="0">
                <a:solidFill>
                  <a:srgbClr val="001D3E"/>
                </a:solidFill>
                <a:latin typeface="Calibri"/>
              </a:rPr>
              <a:t>•  </a:t>
            </a:r>
            <a:r>
              <a:rPr sz="1500" b="0">
                <a:solidFill>
                  <a:srgbClr val="001D3E"/>
                </a:solidFill>
                <a:latin typeface="Calibri"/>
              </a:rPr>
              <a:t>Prompt wording cut refusals from 13% to 0%</a:t>
            </a:r>
          </a:p>
          <a:p>
            <a:pPr algn="l">
              <a:spcAft>
                <a:spcPts val="500"/>
              </a:spcAft>
            </a:pPr>
            <a:r>
              <a:rPr sz="1500" b="0">
                <a:solidFill>
                  <a:srgbClr val="001D3E"/>
                </a:solidFill>
                <a:latin typeface="Calibri"/>
              </a:rPr>
              <a:t>•  </a:t>
            </a:r>
            <a:r>
              <a:rPr sz="1500" b="0">
                <a:solidFill>
                  <a:srgbClr val="001D3E"/>
                </a:solidFill>
                <a:latin typeface="Calibri"/>
              </a:rPr>
              <a:t>Always report the majority baseline and identical-row comparisons</a:t>
            </a:r>
          </a:p>
        </p:txBody>
      </p:sp>
      <p:sp>
        <p:nvSpPr>
          <p:cNvPr id="13" name="TextBox 12"/>
          <p:cNvSpPr txBox="1"/>
          <p:nvPr/>
        </p:nvSpPr>
        <p:spPr>
          <a:xfrm>
            <a:off x="457200" y="3931920"/>
            <a:ext cx="5852160" cy="2286000"/>
          </a:xfrm>
          <a:prstGeom prst="rect">
            <a:avLst/>
          </a:prstGeom>
          <a:noFill/>
        </p:spPr>
        <p:txBody>
          <a:bodyPr wrap="square" anchor="t" lIns="73152" rIns="73152" tIns="36576" bIns="36576">
            <a:spAutoFit/>
          </a:bodyPr>
          <a:lstStyle/>
          <a:p>
            <a:pPr algn="l">
              <a:spcAft>
                <a:spcPts val="500"/>
              </a:spcAft>
            </a:pPr>
            <a:r>
              <a:rPr sz="1500" b="1">
                <a:solidFill>
                  <a:srgbClr val="001D3E"/>
                </a:solidFill>
                <a:latin typeface="Calibri"/>
              </a:rPr>
              <a:t>WVS findings</a:t>
            </a:r>
          </a:p>
          <a:p>
            <a:pPr algn="l">
              <a:spcAft>
                <a:spcPts val="500"/>
              </a:spcAft>
            </a:pPr>
            <a:r>
              <a:rPr sz="1500" b="0">
                <a:solidFill>
                  <a:srgbClr val="001D3E"/>
                </a:solidFill>
                <a:latin typeface="Calibri"/>
              </a:rPr>
              <a:t>LLM accuracy 22-26%, at or below the majority class on the same rows</a:t>
            </a:r>
          </a:p>
          <a:p>
            <a:pPr algn="l">
              <a:spcAft>
                <a:spcPts val="500"/>
              </a:spcAft>
            </a:pPr>
            <a:r>
              <a:rPr sz="1500" b="0">
                <a:solidFill>
                  <a:srgbClr val="001D3E"/>
                </a:solidFill>
                <a:latin typeface="Calibri"/>
              </a:rPr>
              <a:t>Group differences show no directional signal (r = -0.03)</a:t>
            </a:r>
          </a:p>
          <a:p>
            <a:pPr algn="l">
              <a:spcAft>
                <a:spcPts val="500"/>
              </a:spcAft>
            </a:pPr>
            <a:r>
              <a:rPr sz="1500" b="0">
                <a:solidFill>
                  <a:srgbClr val="001D3E"/>
                </a:solidFill>
                <a:latin typeface="Calibri"/>
              </a:rPr>
              <a:t>No subgroup gap distinguishable from chance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Limitations and future work</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15</a:t>
            </a:r>
          </a:p>
        </p:txBody>
      </p:sp>
      <p:sp>
        <p:nvSpPr>
          <p:cNvPr id="8" name="Rectangle 7"/>
          <p:cNvSpPr/>
          <p:nvPr/>
        </p:nvSpPr>
        <p:spPr>
          <a:xfrm>
            <a:off x="457200" y="1280160"/>
            <a:ext cx="5486400" cy="493776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280160"/>
            <a:ext cx="54864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298448"/>
            <a:ext cx="53035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LIMITATIONS</a:t>
            </a:r>
          </a:p>
        </p:txBody>
      </p:sp>
      <p:sp>
        <p:nvSpPr>
          <p:cNvPr id="11" name="TextBox 10"/>
          <p:cNvSpPr txBox="1"/>
          <p:nvPr/>
        </p:nvSpPr>
        <p:spPr>
          <a:xfrm>
            <a:off x="566928" y="1737360"/>
            <a:ext cx="5266944" cy="4434840"/>
          </a:xfrm>
          <a:prstGeom prst="rect">
            <a:avLst/>
          </a:prstGeom>
          <a:noFill/>
        </p:spPr>
        <p:txBody>
          <a:bodyPr wrap="square" anchor="t" lIns="73152" rIns="73152" tIns="36576" bIns="36576">
            <a:spAutoFit/>
          </a:bodyPr>
          <a:lstStyle/>
          <a:p>
            <a:pPr algn="l">
              <a:spcAft>
                <a:spcPts val="500"/>
              </a:spcAft>
            </a:pPr>
            <a:r>
              <a:rPr sz="1600" b="0">
                <a:solidFill>
                  <a:srgbClr val="001D3E"/>
                </a:solidFill>
                <a:latin typeface="Calibri"/>
              </a:rPr>
              <a:t>•  </a:t>
            </a:r>
            <a:r>
              <a:rPr sz="1600" b="0">
                <a:solidFill>
                  <a:srgbClr val="001D3E"/>
                </a:solidFill>
                <a:latin typeface="Calibri"/>
              </a:rPr>
              <a:t>One fold, one seed, one epoch</a:t>
            </a:r>
          </a:p>
          <a:p>
            <a:pPr algn="l">
              <a:spcAft>
                <a:spcPts val="500"/>
              </a:spcAft>
            </a:pPr>
            <a:r>
              <a:rPr sz="1600" b="0">
                <a:solidFill>
                  <a:srgbClr val="001D3E"/>
                </a:solidFill>
                <a:latin typeface="Calibri"/>
              </a:rPr>
              <a:t>•  </a:t>
            </a:r>
            <a:r>
              <a:rPr sz="1600" b="0">
                <a:solidFill>
                  <a:srgbClr val="001D3E"/>
                </a:solidFill>
                <a:latin typeface="Calibri"/>
              </a:rPr>
              <a:t>Transfer test: approximate MLX port, 8 items, 120 respondents</a:t>
            </a:r>
          </a:p>
          <a:p>
            <a:pPr algn="l">
              <a:spcAft>
                <a:spcPts val="500"/>
              </a:spcAft>
            </a:pPr>
            <a:r>
              <a:rPr sz="1600" b="0">
                <a:solidFill>
                  <a:srgbClr val="001D3E"/>
                </a:solidFill>
                <a:latin typeface="Calibri"/>
              </a:rPr>
              <a:t>•  </a:t>
            </a:r>
            <a:r>
              <a:rPr sz="1600" b="0">
                <a:solidFill>
                  <a:srgbClr val="001D3E"/>
                </a:solidFill>
                <a:latin typeface="Calibri"/>
              </a:rPr>
              <a:t>Zero-shot controls on 100-200 respondent subsets</a:t>
            </a:r>
          </a:p>
          <a:p>
            <a:pPr algn="l">
              <a:spcAft>
                <a:spcPts val="500"/>
              </a:spcAft>
            </a:pPr>
            <a:r>
              <a:rPr sz="1600" b="0">
                <a:solidFill>
                  <a:srgbClr val="001D3E"/>
                </a:solidFill>
                <a:latin typeface="Calibri"/>
              </a:rPr>
              <a:t>•  </a:t>
            </a:r>
            <a:r>
              <a:rPr sz="1600" b="0">
                <a:solidFill>
                  <a:srgbClr val="001D3E"/>
                </a:solidFill>
                <a:latin typeface="Calibri"/>
              </a:rPr>
              <a:t>No frontier model tested on these surveys</a:t>
            </a:r>
          </a:p>
          <a:p>
            <a:pPr algn="l">
              <a:spcAft>
                <a:spcPts val="500"/>
              </a:spcAft>
            </a:pPr>
            <a:r>
              <a:rPr sz="1600" b="0">
                <a:solidFill>
                  <a:srgbClr val="001D3E"/>
                </a:solidFill>
                <a:latin typeface="Calibri"/>
              </a:rPr>
              <a:t>•  </a:t>
            </a:r>
            <a:r>
              <a:rPr sz="1600" b="0">
                <a:solidFill>
                  <a:srgbClr val="001D3E"/>
                </a:solidFill>
                <a:latin typeface="Calibri"/>
              </a:rPr>
              <a:t>Pew survey weights not applied</a:t>
            </a:r>
          </a:p>
          <a:p>
            <a:pPr algn="l">
              <a:spcAft>
                <a:spcPts val="500"/>
              </a:spcAft>
            </a:pPr>
            <a:r>
              <a:rPr sz="1600" b="0">
                <a:solidFill>
                  <a:srgbClr val="001D3E"/>
                </a:solidFill>
                <a:latin typeface="Calibri"/>
              </a:rPr>
              <a:t>•  </a:t>
            </a:r>
            <a:r>
              <a:rPr sz="1600" b="0">
                <a:solidFill>
                  <a:srgbClr val="001D3E"/>
                </a:solidFill>
                <a:latin typeface="Calibri"/>
              </a:rPr>
              <a:t>Exact-match accuracy; scoring in fp16 on T4 vs bf16 training</a:t>
            </a:r>
          </a:p>
        </p:txBody>
      </p:sp>
      <p:sp>
        <p:nvSpPr>
          <p:cNvPr id="12" name="Rectangle 11"/>
          <p:cNvSpPr/>
          <p:nvPr/>
        </p:nvSpPr>
        <p:spPr>
          <a:xfrm>
            <a:off x="6217920" y="1280160"/>
            <a:ext cx="5486400" cy="493776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280160"/>
            <a:ext cx="548640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59" y="1298448"/>
            <a:ext cx="530352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FUTURE WORK</a:t>
            </a:r>
          </a:p>
        </p:txBody>
      </p:sp>
      <p:sp>
        <p:nvSpPr>
          <p:cNvPr id="15" name="TextBox 14"/>
          <p:cNvSpPr txBox="1"/>
          <p:nvPr/>
        </p:nvSpPr>
        <p:spPr>
          <a:xfrm>
            <a:off x="6327648" y="1737360"/>
            <a:ext cx="5266944" cy="4434840"/>
          </a:xfrm>
          <a:prstGeom prst="rect">
            <a:avLst/>
          </a:prstGeom>
          <a:noFill/>
        </p:spPr>
        <p:txBody>
          <a:bodyPr wrap="square" anchor="t" lIns="73152" rIns="73152" tIns="36576" bIns="36576">
            <a:spAutoFit/>
          </a:bodyPr>
          <a:lstStyle/>
          <a:p>
            <a:pPr algn="l">
              <a:spcAft>
                <a:spcPts val="500"/>
              </a:spcAft>
            </a:pPr>
            <a:r>
              <a:rPr sz="1600" b="0">
                <a:solidFill>
                  <a:srgbClr val="001D3E"/>
                </a:solidFill>
                <a:latin typeface="Calibri"/>
              </a:rPr>
              <a:t>•  </a:t>
            </a:r>
            <a:r>
              <a:rPr sz="1600" b="0">
                <a:solidFill>
                  <a:srgbClr val="001D3E"/>
                </a:solidFill>
                <a:latin typeface="Calibri"/>
              </a:rPr>
              <a:t>Fine-tune on many items; test transfer on dozens of unseen items</a:t>
            </a:r>
          </a:p>
          <a:p>
            <a:pPr algn="l">
              <a:spcAft>
                <a:spcPts val="500"/>
              </a:spcAft>
            </a:pPr>
            <a:r>
              <a:rPr sz="1600" b="0">
                <a:solidFill>
                  <a:srgbClr val="001D3E"/>
                </a:solidFill>
                <a:latin typeface="Calibri"/>
              </a:rPr>
              <a:t>•  </a:t>
            </a:r>
            <a:r>
              <a:rPr sz="1600" b="0">
                <a:solidFill>
                  <a:srgbClr val="001D3E"/>
                </a:solidFill>
                <a:latin typeface="Calibri"/>
              </a:rPr>
              <a:t>Repeat across folds and seeds; use the original adapter for transfer</a:t>
            </a:r>
          </a:p>
          <a:p>
            <a:pPr algn="l">
              <a:spcAft>
                <a:spcPts val="500"/>
              </a:spcAft>
            </a:pPr>
            <a:r>
              <a:rPr sz="1600" b="0">
                <a:solidFill>
                  <a:srgbClr val="001D3E"/>
                </a:solidFill>
                <a:latin typeface="Calibri"/>
              </a:rPr>
              <a:t>•  </a:t>
            </a:r>
            <a:r>
              <a:rPr sz="1600" b="0">
                <a:solidFill>
                  <a:srgbClr val="001D3E"/>
                </a:solidFill>
                <a:latin typeface="Calibri"/>
              </a:rPr>
              <a:t>Richer text-conditioned personas</a:t>
            </a:r>
          </a:p>
          <a:p>
            <a:pPr algn="l">
              <a:spcAft>
                <a:spcPts val="500"/>
              </a:spcAft>
            </a:pPr>
            <a:r>
              <a:rPr sz="1600" b="0">
                <a:solidFill>
                  <a:srgbClr val="001D3E"/>
                </a:solidFill>
                <a:latin typeface="Calibri"/>
              </a:rPr>
              <a:t>•  </a:t>
            </a:r>
            <a:r>
              <a:rPr sz="1600" b="0">
                <a:solidFill>
                  <a:srgbClr val="001D3E"/>
                </a:solidFill>
                <a:latin typeface="Calibri"/>
              </a:rPr>
              <a:t>Calibrated aggregate estimates, not argmax</a:t>
            </a:r>
          </a:p>
          <a:p>
            <a:pPr algn="l">
              <a:spcAft>
                <a:spcPts val="500"/>
              </a:spcAft>
            </a:pPr>
            <a:r>
              <a:rPr sz="1600" b="0">
                <a:solidFill>
                  <a:srgbClr val="001D3E"/>
                </a:solidFill>
                <a:latin typeface="Calibri"/>
              </a:rPr>
              <a:t>•  </a:t>
            </a:r>
            <a:r>
              <a:rPr sz="1600" b="0">
                <a:solidFill>
                  <a:srgbClr val="001D3E"/>
                </a:solidFill>
                <a:latin typeface="Calibri"/>
              </a:rPr>
              <a:t>Smaller and distilled models; energy and cost measurement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247120" cy="731520"/>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Conclusion, publication and Q&amp;A</a:t>
            </a:r>
          </a:p>
        </p:txBody>
      </p:sp>
      <p:sp>
        <p:nvSpPr>
          <p:cNvPr id="5" name="Rectangle 4"/>
          <p:cNvSpPr/>
          <p:nvPr/>
        </p:nvSpPr>
        <p:spPr>
          <a:xfrm>
            <a:off x="0" y="6510528"/>
            <a:ext cx="12191695" cy="347472"/>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28816"/>
            <a:ext cx="8229600" cy="292608"/>
          </a:xfrm>
          <a:prstGeom prst="rect">
            <a:avLst/>
          </a:prstGeom>
          <a:noFill/>
        </p:spPr>
        <p:txBody>
          <a:bodyPr wrap="square" anchor="ctr" lIns="73152" rIns="73152" tIns="36576" bIns="36576">
            <a:spAutoFit/>
          </a:bodyPr>
          <a:lstStyle/>
          <a:p>
            <a:pPr algn="l">
              <a:spcAft>
                <a:spcPts val="600"/>
              </a:spcAft>
            </a:pPr>
            <a:r>
              <a:rPr sz="1000" b="0">
                <a:solidFill>
                  <a:srgbClr val="FFFFFF"/>
                </a:solidFill>
                <a:latin typeface="Calibri"/>
              </a:rPr>
              <a:t>Group 55  |  Silicon Sampling for Indian Public Opinion  |  NMIMS MPSTME  |  Capstone 2026-27</a:t>
            </a:r>
          </a:p>
        </p:txBody>
      </p:sp>
      <p:sp>
        <p:nvSpPr>
          <p:cNvPr id="7" name="TextBox 6"/>
          <p:cNvSpPr txBox="1"/>
          <p:nvPr/>
        </p:nvSpPr>
        <p:spPr>
          <a:xfrm>
            <a:off x="10881360" y="6528816"/>
            <a:ext cx="914400" cy="292608"/>
          </a:xfrm>
          <a:prstGeom prst="rect">
            <a:avLst/>
          </a:prstGeom>
          <a:noFill/>
        </p:spPr>
        <p:txBody>
          <a:bodyPr wrap="square" anchor="ctr" lIns="73152" rIns="73152" tIns="36576" bIns="36576">
            <a:spAutoFit/>
          </a:bodyPr>
          <a:lstStyle/>
          <a:p>
            <a:pPr algn="r">
              <a:spcAft>
                <a:spcPts val="600"/>
              </a:spcAft>
            </a:pPr>
            <a:r>
              <a:rPr sz="1000" b="0">
                <a:solidFill>
                  <a:srgbClr val="FFFFFF"/>
                </a:solidFill>
                <a:latin typeface="Calibri"/>
              </a:rPr>
              <a:t>16</a:t>
            </a:r>
          </a:p>
        </p:txBody>
      </p:sp>
      <p:sp>
        <p:nvSpPr>
          <p:cNvPr id="8" name="Rectangle 7"/>
          <p:cNvSpPr/>
          <p:nvPr/>
        </p:nvSpPr>
        <p:spPr>
          <a:xfrm>
            <a:off x="457200" y="1280160"/>
            <a:ext cx="6766560" cy="493776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280160"/>
            <a:ext cx="676656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298448"/>
            <a:ext cx="658368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CONCLUSIONS</a:t>
            </a:r>
          </a:p>
        </p:txBody>
      </p:sp>
      <p:sp>
        <p:nvSpPr>
          <p:cNvPr id="11" name="TextBox 10"/>
          <p:cNvSpPr txBox="1"/>
          <p:nvPr/>
        </p:nvSpPr>
        <p:spPr>
          <a:xfrm>
            <a:off x="566928" y="1737360"/>
            <a:ext cx="6547104" cy="4434840"/>
          </a:xfrm>
          <a:prstGeom prst="rect">
            <a:avLst/>
          </a:prstGeom>
          <a:noFill/>
        </p:spPr>
        <p:txBody>
          <a:bodyPr wrap="square" anchor="t" lIns="73152" rIns="73152" tIns="36576" bIns="36576">
            <a:spAutoFit/>
          </a:bodyPr>
          <a:lstStyle/>
          <a:p>
            <a:pPr algn="l">
              <a:spcAft>
                <a:spcPts val="500"/>
              </a:spcAft>
            </a:pPr>
            <a:r>
              <a:rPr sz="1700" b="0">
                <a:solidFill>
                  <a:srgbClr val="001D3E"/>
                </a:solidFill>
                <a:latin typeface="Calibri"/>
              </a:rPr>
              <a:t>•  </a:t>
            </a:r>
            <a:r>
              <a:rPr sz="1700" b="0">
                <a:solidFill>
                  <a:srgbClr val="001D3E"/>
                </a:solidFill>
                <a:latin typeface="Calibri"/>
              </a:rPr>
              <a:t>A prompted 7B model varies strongly with the profile but uses it weakly and slightly harmfully</a:t>
            </a:r>
          </a:p>
          <a:p>
            <a:pPr algn="l">
              <a:spcAft>
                <a:spcPts val="500"/>
              </a:spcAft>
            </a:pPr>
            <a:r>
              <a:rPr sz="1700" b="0">
                <a:solidFill>
                  <a:srgbClr val="001D3E"/>
                </a:solidFill>
                <a:latin typeface="Calibri"/>
              </a:rPr>
              <a:t>•  </a:t>
            </a:r>
            <a:r>
              <a:rPr sz="1700" b="0">
                <a:solidFill>
                  <a:srgbClr val="001D3E"/>
                </a:solidFill>
                <a:latin typeface="Calibri"/>
              </a:rPr>
              <a:t>Fine-tuning recovers 79% of the gap to the best classifier: 38.0% vs 40.0% (GBM)</a:t>
            </a:r>
          </a:p>
          <a:p>
            <a:pPr algn="l">
              <a:spcAft>
                <a:spcPts val="500"/>
              </a:spcAft>
            </a:pPr>
            <a:r>
              <a:rPr sz="1700" b="0">
                <a:solidFill>
                  <a:srgbClr val="001D3E"/>
                </a:solidFill>
                <a:latin typeface="Calibri"/>
              </a:rPr>
              <a:t>•  </a:t>
            </a:r>
            <a:r>
              <a:rPr sz="1700" b="0">
                <a:solidFill>
                  <a:srgbClr val="001D3E"/>
                </a:solidFill>
                <a:latin typeface="Calibri"/>
              </a:rPr>
              <a:t>No detectable gain on unseen questions in our test</a:t>
            </a:r>
          </a:p>
          <a:p>
            <a:pPr algn="l">
              <a:spcAft>
                <a:spcPts val="500"/>
              </a:spcAft>
            </a:pPr>
            <a:r>
              <a:rPr sz="1700" b="0">
                <a:solidFill>
                  <a:srgbClr val="001D3E"/>
                </a:solidFill>
                <a:latin typeface="Calibri"/>
              </a:rPr>
              <a:t>•  </a:t>
            </a:r>
            <a:r>
              <a:rPr sz="1700" b="0">
                <a:solidFill>
                  <a:srgbClr val="001D3E"/>
                </a:solidFill>
                <a:latin typeface="Calibri"/>
              </a:rPr>
              <a:t>Matched classifiers remain the benchmark, and are far cheaper to run</a:t>
            </a:r>
          </a:p>
          <a:p>
            <a:pPr algn="l">
              <a:spcAft>
                <a:spcPts val="500"/>
              </a:spcAft>
            </a:pPr>
            <a:r>
              <a:rPr sz="1700" b="0">
                <a:solidFill>
                  <a:srgbClr val="001D3E"/>
                </a:solidFill>
                <a:latin typeface="Calibri"/>
              </a:rPr>
              <a:t>•  </a:t>
            </a:r>
            <a:r>
              <a:rPr sz="1700" b="0">
                <a:solidFill>
                  <a:srgbClr val="001D3E"/>
                </a:solidFill>
                <a:latin typeface="Calibri"/>
              </a:rPr>
              <a:t>Check direction, calibration and subgroup gaps, not only accuracy</a:t>
            </a:r>
          </a:p>
        </p:txBody>
      </p:sp>
      <p:sp>
        <p:nvSpPr>
          <p:cNvPr id="12" name="Rectangle 11"/>
          <p:cNvSpPr/>
          <p:nvPr/>
        </p:nvSpPr>
        <p:spPr>
          <a:xfrm>
            <a:off x="7406640" y="1280160"/>
            <a:ext cx="4297680" cy="274320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1280160"/>
            <a:ext cx="429768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79" y="1298448"/>
            <a:ext cx="411480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PUBLICATION</a:t>
            </a:r>
          </a:p>
        </p:txBody>
      </p:sp>
      <p:sp>
        <p:nvSpPr>
          <p:cNvPr id="15" name="TextBox 14"/>
          <p:cNvSpPr txBox="1"/>
          <p:nvPr/>
        </p:nvSpPr>
        <p:spPr>
          <a:xfrm>
            <a:off x="7516367" y="1737360"/>
            <a:ext cx="4078224" cy="2240280"/>
          </a:xfrm>
          <a:prstGeom prst="rect">
            <a:avLst/>
          </a:prstGeom>
          <a:noFill/>
        </p:spPr>
        <p:txBody>
          <a:bodyPr wrap="square" anchor="t" lIns="73152" rIns="73152" tIns="36576" bIns="36576">
            <a:spAutoFit/>
          </a:bodyPr>
          <a:lstStyle/>
          <a:p>
            <a:pPr algn="l">
              <a:spcAft>
                <a:spcPts val="500"/>
              </a:spcAft>
            </a:pPr>
            <a:r>
              <a:rPr sz="1500" b="0">
                <a:solidFill>
                  <a:srgbClr val="001D3E"/>
                </a:solidFill>
                <a:latin typeface="Calibri"/>
              </a:rPr>
              <a:t>•  </a:t>
            </a:r>
            <a:r>
              <a:rPr sz="1500" b="0">
                <a:solidFill>
                  <a:srgbClr val="001D3E"/>
                </a:solidFill>
                <a:latin typeface="Calibri"/>
              </a:rPr>
              <a:t>Hinweis 5th Int. Conf. on AI and Data Science (AIDE-2026), Paper ID 591</a:t>
            </a:r>
          </a:p>
          <a:p>
            <a:pPr algn="l">
              <a:spcAft>
                <a:spcPts val="500"/>
              </a:spcAft>
            </a:pPr>
            <a:r>
              <a:rPr sz="1500" b="0">
                <a:solidFill>
                  <a:srgbClr val="001D3E"/>
                </a:solidFill>
                <a:latin typeface="Calibri"/>
              </a:rPr>
              <a:t>•  </a:t>
            </a:r>
            <a:r>
              <a:rPr sz="1500" b="0">
                <a:solidFill>
                  <a:srgbClr val="001D3E"/>
                </a:solidFill>
                <a:latin typeface="Calibri"/>
              </a:rPr>
              <a:t>Accepted with modification; camera-ready submitted</a:t>
            </a:r>
          </a:p>
        </p:txBody>
      </p:sp>
      <p:sp>
        <p:nvSpPr>
          <p:cNvPr id="16" name="Rectangle 15"/>
          <p:cNvSpPr/>
          <p:nvPr/>
        </p:nvSpPr>
        <p:spPr>
          <a:xfrm>
            <a:off x="7406640" y="4206240"/>
            <a:ext cx="4297680" cy="2011680"/>
          </a:xfrm>
          <a:prstGeom prst="rect">
            <a:avLst/>
          </a:prstGeom>
          <a:solidFill>
            <a:srgbClr val="EEF2FB"/>
          </a:solidFill>
          <a:ln>
            <a:solidFill>
              <a:srgbClr val="B8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06640" y="4206240"/>
            <a:ext cx="4297680" cy="384048"/>
          </a:xfrm>
          <a:prstGeom prst="rect">
            <a:avLst/>
          </a:prstGeom>
          <a:solidFill>
            <a:srgbClr val="001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79" y="4224527"/>
            <a:ext cx="4114800" cy="365760"/>
          </a:xfrm>
          <a:prstGeom prst="rect">
            <a:avLst/>
          </a:prstGeom>
          <a:noFill/>
        </p:spPr>
        <p:txBody>
          <a:bodyPr wrap="square" anchor="ctr" lIns="73152" rIns="73152" tIns="36576" bIns="36576">
            <a:spAutoFit/>
          </a:bodyPr>
          <a:lstStyle/>
          <a:p>
            <a:pPr algn="l">
              <a:spcAft>
                <a:spcPts val="600"/>
              </a:spcAft>
            </a:pPr>
            <a:r>
              <a:rPr sz="1400" b="1">
                <a:solidFill>
                  <a:srgbClr val="FFFFFF"/>
                </a:solidFill>
                <a:latin typeface="Calibri"/>
              </a:rPr>
              <a:t>THANK YOU</a:t>
            </a:r>
          </a:p>
        </p:txBody>
      </p:sp>
      <p:sp>
        <p:nvSpPr>
          <p:cNvPr id="19" name="TextBox 18"/>
          <p:cNvSpPr txBox="1"/>
          <p:nvPr/>
        </p:nvSpPr>
        <p:spPr>
          <a:xfrm>
            <a:off x="7516367" y="4663440"/>
            <a:ext cx="4078224" cy="1508760"/>
          </a:xfrm>
          <a:prstGeom prst="rect">
            <a:avLst/>
          </a:prstGeom>
          <a:noFill/>
        </p:spPr>
        <p:txBody>
          <a:bodyPr wrap="square" anchor="t" lIns="73152" rIns="73152" tIns="36576" bIns="36576">
            <a:spAutoFit/>
          </a:bodyPr>
          <a:lstStyle/>
          <a:p>
            <a:pPr algn="l">
              <a:spcAft>
                <a:spcPts val="500"/>
              </a:spcAft>
            </a:pPr>
            <a:r>
              <a:rPr sz="1500" b="0">
                <a:solidFill>
                  <a:srgbClr val="001D3E"/>
                </a:solidFill>
                <a:latin typeface="Calibri"/>
              </a:rPr>
              <a:t>•  </a:t>
            </a:r>
            <a:r>
              <a:rPr sz="1500" b="0">
                <a:solidFill>
                  <a:srgbClr val="001D3E"/>
                </a:solidFill>
                <a:latin typeface="Calibri"/>
              </a:rPr>
              <a:t>Questions?</a:t>
            </a:r>
          </a:p>
          <a:p>
            <a:pPr algn="l">
              <a:spcAft>
                <a:spcPts val="500"/>
              </a:spcAft>
            </a:pPr>
            <a:r>
              <a:rPr sz="1500" b="0">
                <a:solidFill>
                  <a:srgbClr val="001D3E"/>
                </a:solidFill>
                <a:latin typeface="Calibri"/>
              </a:rPr>
              <a:t>•  </a:t>
            </a:r>
            <a:r>
              <a:rPr sz="1500" b="0">
                <a:solidFill>
                  <a:srgbClr val="001D3E"/>
                </a:solidFill>
                <a:latin typeface="Calibri"/>
              </a:rPr>
              <a:t>Code: github.com/DevilHunter695/silicon-sampling-capstone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